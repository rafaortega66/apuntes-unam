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6" r:id="rId2"/>
    <p:sldId id="403" r:id="rId3"/>
    <p:sldId id="591" r:id="rId4"/>
    <p:sldId id="592" r:id="rId5"/>
    <p:sldId id="593" r:id="rId6"/>
    <p:sldId id="594" r:id="rId7"/>
    <p:sldId id="595" r:id="rId8"/>
    <p:sldId id="597" r:id="rId9"/>
    <p:sldId id="599" r:id="rId10"/>
    <p:sldId id="598" r:id="rId11"/>
    <p:sldId id="600" r:id="rId12"/>
    <p:sldId id="601" r:id="rId13"/>
    <p:sldId id="602" r:id="rId14"/>
    <p:sldId id="603" r:id="rId15"/>
    <p:sldId id="604" r:id="rId16"/>
    <p:sldId id="605" r:id="rId17"/>
    <p:sldId id="606" r:id="rId18"/>
    <p:sldId id="607" r:id="rId19"/>
    <p:sldId id="608" r:id="rId20"/>
    <p:sldId id="609" r:id="rId21"/>
    <p:sldId id="611" r:id="rId22"/>
    <p:sldId id="612" r:id="rId23"/>
    <p:sldId id="613" r:id="rId24"/>
    <p:sldId id="614" r:id="rId25"/>
    <p:sldId id="615" r:id="rId26"/>
    <p:sldId id="616" r:id="rId27"/>
    <p:sldId id="622" r:id="rId28"/>
    <p:sldId id="610" r:id="rId29"/>
    <p:sldId id="618" r:id="rId30"/>
    <p:sldId id="619" r:id="rId31"/>
    <p:sldId id="621" r:id="rId32"/>
    <p:sldId id="620" r:id="rId33"/>
    <p:sldId id="623" r:id="rId34"/>
    <p:sldId id="624" r:id="rId35"/>
    <p:sldId id="625" r:id="rId36"/>
    <p:sldId id="626" r:id="rId37"/>
    <p:sldId id="627" r:id="rId38"/>
    <p:sldId id="629" r:id="rId39"/>
    <p:sldId id="628" r:id="rId40"/>
    <p:sldId id="630" r:id="rId41"/>
    <p:sldId id="631" r:id="rId42"/>
    <p:sldId id="632" r:id="rId43"/>
    <p:sldId id="633" r:id="rId44"/>
    <p:sldId id="634" r:id="rId45"/>
    <p:sldId id="635" r:id="rId46"/>
    <p:sldId id="637" r:id="rId47"/>
    <p:sldId id="638" r:id="rId48"/>
    <p:sldId id="636" r:id="rId49"/>
    <p:sldId id="639" r:id="rId50"/>
    <p:sldId id="640" r:id="rId51"/>
    <p:sldId id="641" r:id="rId52"/>
    <p:sldId id="644" r:id="rId53"/>
    <p:sldId id="645" r:id="rId54"/>
    <p:sldId id="646" r:id="rId55"/>
    <p:sldId id="647" r:id="rId56"/>
    <p:sldId id="648" r:id="rId57"/>
    <p:sldId id="643" r:id="rId58"/>
    <p:sldId id="366" r:id="rId5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2349"/>
    <a:srgbClr val="8C33ED"/>
    <a:srgbClr val="EA7C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546F43-B316-C1C2-8E9F-B24A724F40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a:extLst>
              <a:ext uri="{FF2B5EF4-FFF2-40B4-BE49-F238E27FC236}">
                <a16:creationId xmlns:a16="http://schemas.microsoft.com/office/drawing/2014/main" id="{4E392086-3BD4-62CC-456F-F39619FEA8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57D158-2A77-4E39-A83B-7A96980D1E09}" type="datetimeFigureOut">
              <a:rPr lang="es-MX" smtClean="0"/>
              <a:t>20/09/2026</a:t>
            </a:fld>
            <a:endParaRPr lang="es-MX" dirty="0"/>
          </a:p>
        </p:txBody>
      </p:sp>
      <p:sp>
        <p:nvSpPr>
          <p:cNvPr id="4" name="Marcador de pie de página 3">
            <a:extLst>
              <a:ext uri="{FF2B5EF4-FFF2-40B4-BE49-F238E27FC236}">
                <a16:creationId xmlns:a16="http://schemas.microsoft.com/office/drawing/2014/main" id="{FD67D69C-8B93-5490-B4E6-94B11C1BBEA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5" name="Marcador de número de diapositiva 4">
            <a:extLst>
              <a:ext uri="{FF2B5EF4-FFF2-40B4-BE49-F238E27FC236}">
                <a16:creationId xmlns:a16="http://schemas.microsoft.com/office/drawing/2014/main" id="{CD225E32-CED6-6558-16D1-235B182F13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ADF359-F885-474C-80DF-5B9582AA5DC0}" type="slidenum">
              <a:rPr lang="es-MX" smtClean="0"/>
              <a:t>‹Nº›</a:t>
            </a:fld>
            <a:endParaRPr lang="es-MX" dirty="0"/>
          </a:p>
        </p:txBody>
      </p:sp>
    </p:spTree>
    <p:extLst>
      <p:ext uri="{BB962C8B-B14F-4D97-AF65-F5344CB8AC3E}">
        <p14:creationId xmlns:p14="http://schemas.microsoft.com/office/powerpoint/2010/main" val="11060821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D5B27D-C599-47F7-8AD3-A5D0BFE78C13}" type="datetimeFigureOut">
              <a:rPr lang="es-MX" smtClean="0"/>
              <a:t>20/09/2026</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0F5C1-346A-4B82-ADBC-76F7EE2C2FB9}" type="slidenum">
              <a:rPr lang="es-MX" smtClean="0"/>
              <a:t>‹Nº›</a:t>
            </a:fld>
            <a:endParaRPr lang="es-MX" dirty="0"/>
          </a:p>
        </p:txBody>
      </p:sp>
    </p:spTree>
    <p:extLst>
      <p:ext uri="{BB962C8B-B14F-4D97-AF65-F5344CB8AC3E}">
        <p14:creationId xmlns:p14="http://schemas.microsoft.com/office/powerpoint/2010/main" val="13805758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2F0F5C1-346A-4B82-ADBC-76F7EE2C2FB9}" type="slidenum">
              <a:rPr lang="es-MX" smtClean="0"/>
              <a:t>58</a:t>
            </a:fld>
            <a:endParaRPr lang="es-MX" dirty="0"/>
          </a:p>
        </p:txBody>
      </p:sp>
    </p:spTree>
    <p:extLst>
      <p:ext uri="{BB962C8B-B14F-4D97-AF65-F5344CB8AC3E}">
        <p14:creationId xmlns:p14="http://schemas.microsoft.com/office/powerpoint/2010/main" val="1889281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7A8C4-B30A-4EC6-613E-791A2266228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E65DDC6-6A94-F00A-04B3-E8BB7CC1D2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932E0C9-9B2D-EACB-AC63-E93EC2B9CAAD}"/>
              </a:ext>
            </a:extLst>
          </p:cNvPr>
          <p:cNvSpPr>
            <a:spLocks noGrp="1"/>
          </p:cNvSpPr>
          <p:nvPr>
            <p:ph type="dt" sz="half" idx="10"/>
          </p:nvPr>
        </p:nvSpPr>
        <p:spPr/>
        <p:txBody>
          <a:bodyPr/>
          <a:lstStyle/>
          <a:p>
            <a:fld id="{45D68D6A-9083-47EE-B724-903A97C536E6}" type="datetime1">
              <a:rPr lang="es-MX" smtClean="0"/>
              <a:t>20/09/2026</a:t>
            </a:fld>
            <a:endParaRPr lang="es-MX" dirty="0"/>
          </a:p>
        </p:txBody>
      </p:sp>
      <p:sp>
        <p:nvSpPr>
          <p:cNvPr id="5" name="Marcador de pie de página 4">
            <a:extLst>
              <a:ext uri="{FF2B5EF4-FFF2-40B4-BE49-F238E27FC236}">
                <a16:creationId xmlns:a16="http://schemas.microsoft.com/office/drawing/2014/main" id="{D61D40FE-A00E-C8F5-BD52-0A028B85DF96}"/>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0BA57444-0C1F-878F-9C67-6FD6238671A9}"/>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2375279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85F07A-8D57-A3E8-4D94-5ACB0D31B1B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D126867-275D-3722-1AD3-E9A6651B242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AAD2875-085C-8CAF-BAB9-4FE69F981234}"/>
              </a:ext>
            </a:extLst>
          </p:cNvPr>
          <p:cNvSpPr>
            <a:spLocks noGrp="1"/>
          </p:cNvSpPr>
          <p:nvPr>
            <p:ph type="dt" sz="half" idx="10"/>
          </p:nvPr>
        </p:nvSpPr>
        <p:spPr/>
        <p:txBody>
          <a:bodyPr/>
          <a:lstStyle/>
          <a:p>
            <a:fld id="{C114F5E0-0C7D-4750-BCFC-450DB1A15A47}" type="datetime1">
              <a:rPr lang="es-MX" smtClean="0"/>
              <a:t>20/09/2026</a:t>
            </a:fld>
            <a:endParaRPr lang="es-MX" dirty="0"/>
          </a:p>
        </p:txBody>
      </p:sp>
      <p:sp>
        <p:nvSpPr>
          <p:cNvPr id="5" name="Marcador de pie de página 4">
            <a:extLst>
              <a:ext uri="{FF2B5EF4-FFF2-40B4-BE49-F238E27FC236}">
                <a16:creationId xmlns:a16="http://schemas.microsoft.com/office/drawing/2014/main" id="{CCA9DD49-2AEE-F11C-7247-8B5080EEAFE9}"/>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3AAE7C91-E410-2A5B-05E1-48903262A098}"/>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20988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7519C2-2D02-6225-C6FF-A64449FB651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AC46151-DD90-4BB2-BA94-081583D3CF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DB45443-EB59-C96F-EA42-E287E17251AA}"/>
              </a:ext>
            </a:extLst>
          </p:cNvPr>
          <p:cNvSpPr>
            <a:spLocks noGrp="1"/>
          </p:cNvSpPr>
          <p:nvPr>
            <p:ph type="dt" sz="half" idx="10"/>
          </p:nvPr>
        </p:nvSpPr>
        <p:spPr/>
        <p:txBody>
          <a:bodyPr/>
          <a:lstStyle/>
          <a:p>
            <a:fld id="{16F8F565-EBC3-4775-99C6-BA377B5B8ABF}" type="datetime1">
              <a:rPr lang="es-MX" smtClean="0"/>
              <a:t>20/09/2026</a:t>
            </a:fld>
            <a:endParaRPr lang="es-MX" dirty="0"/>
          </a:p>
        </p:txBody>
      </p:sp>
      <p:sp>
        <p:nvSpPr>
          <p:cNvPr id="5" name="Marcador de pie de página 4">
            <a:extLst>
              <a:ext uri="{FF2B5EF4-FFF2-40B4-BE49-F238E27FC236}">
                <a16:creationId xmlns:a16="http://schemas.microsoft.com/office/drawing/2014/main" id="{74C05430-E191-BBC2-7C51-0757A4FBBC40}"/>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2E57A879-4E72-3C2F-4B6C-28ACB0F69A0A}"/>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2000802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348A29-8C72-45BA-E5AF-871C92EAEEF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9075A9A-F67F-2B24-0F4D-34BAF261D57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587529E-AEF8-EFF2-CC98-0BFD9181C72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D1B5567-48C1-5615-B379-F147AD9A476C}"/>
              </a:ext>
            </a:extLst>
          </p:cNvPr>
          <p:cNvSpPr>
            <a:spLocks noGrp="1"/>
          </p:cNvSpPr>
          <p:nvPr>
            <p:ph type="dt" sz="half" idx="10"/>
          </p:nvPr>
        </p:nvSpPr>
        <p:spPr/>
        <p:txBody>
          <a:bodyPr/>
          <a:lstStyle/>
          <a:p>
            <a:fld id="{A96D61DF-94B5-4D20-9211-87C0BCD16F24}" type="datetime1">
              <a:rPr lang="es-MX" smtClean="0"/>
              <a:t>20/09/2026</a:t>
            </a:fld>
            <a:endParaRPr lang="es-MX" dirty="0"/>
          </a:p>
        </p:txBody>
      </p:sp>
      <p:sp>
        <p:nvSpPr>
          <p:cNvPr id="6" name="Marcador de pie de página 5">
            <a:extLst>
              <a:ext uri="{FF2B5EF4-FFF2-40B4-BE49-F238E27FC236}">
                <a16:creationId xmlns:a16="http://schemas.microsoft.com/office/drawing/2014/main" id="{BE66A08D-F9EF-ECD5-257A-47092CF4DD11}"/>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64FB07F8-24C9-3E01-C895-2F382A8795CE}"/>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205282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1E679-7FD7-58B1-D899-C9CBB578556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66FC431-0471-F735-1BCE-FDE6075A8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20B09F2-EE30-02F8-EF14-429F733C9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9AA75B22-ECCC-A947-86EF-94547CDD5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3E56CF1-9C3D-958D-F7BA-F0FE3A1ABC5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323FA32-5F1A-6063-D75F-F4A9108D0C47}"/>
              </a:ext>
            </a:extLst>
          </p:cNvPr>
          <p:cNvSpPr>
            <a:spLocks noGrp="1"/>
          </p:cNvSpPr>
          <p:nvPr>
            <p:ph type="dt" sz="half" idx="10"/>
          </p:nvPr>
        </p:nvSpPr>
        <p:spPr/>
        <p:txBody>
          <a:bodyPr/>
          <a:lstStyle/>
          <a:p>
            <a:fld id="{30A2C728-08C0-46F8-BF72-BB71CC52C8B2}" type="datetime1">
              <a:rPr lang="es-MX" smtClean="0"/>
              <a:t>20/09/2026</a:t>
            </a:fld>
            <a:endParaRPr lang="es-MX" dirty="0"/>
          </a:p>
        </p:txBody>
      </p:sp>
      <p:sp>
        <p:nvSpPr>
          <p:cNvPr id="8" name="Marcador de pie de página 7">
            <a:extLst>
              <a:ext uri="{FF2B5EF4-FFF2-40B4-BE49-F238E27FC236}">
                <a16:creationId xmlns:a16="http://schemas.microsoft.com/office/drawing/2014/main" id="{7C442807-F1D6-199F-5A7E-26DEEBF6B668}"/>
              </a:ext>
            </a:extLst>
          </p:cNvPr>
          <p:cNvSpPr>
            <a:spLocks noGrp="1"/>
          </p:cNvSpPr>
          <p:nvPr>
            <p:ph type="ftr" sz="quarter" idx="11"/>
          </p:nvPr>
        </p:nvSpPr>
        <p:spPr/>
        <p:txBody>
          <a:bodyPr/>
          <a:lstStyle/>
          <a:p>
            <a:endParaRPr lang="es-MX" dirty="0"/>
          </a:p>
        </p:txBody>
      </p:sp>
      <p:sp>
        <p:nvSpPr>
          <p:cNvPr id="9" name="Marcador de número de diapositiva 8">
            <a:extLst>
              <a:ext uri="{FF2B5EF4-FFF2-40B4-BE49-F238E27FC236}">
                <a16:creationId xmlns:a16="http://schemas.microsoft.com/office/drawing/2014/main" id="{83049FB2-C797-A4EE-5A27-28BC1429EB4D}"/>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664284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BAC30D-4B32-2286-32B3-2385DF7BD19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7BDA67B-180B-963C-FE45-B29390DF1062}"/>
              </a:ext>
            </a:extLst>
          </p:cNvPr>
          <p:cNvSpPr>
            <a:spLocks noGrp="1"/>
          </p:cNvSpPr>
          <p:nvPr>
            <p:ph type="dt" sz="half" idx="10"/>
          </p:nvPr>
        </p:nvSpPr>
        <p:spPr/>
        <p:txBody>
          <a:bodyPr/>
          <a:lstStyle/>
          <a:p>
            <a:fld id="{1F57C532-7991-4F3B-9AAE-6F73E0F72004}" type="datetime1">
              <a:rPr lang="es-MX" smtClean="0"/>
              <a:t>20/09/2026</a:t>
            </a:fld>
            <a:endParaRPr lang="es-MX" dirty="0"/>
          </a:p>
        </p:txBody>
      </p:sp>
      <p:sp>
        <p:nvSpPr>
          <p:cNvPr id="4" name="Marcador de pie de página 3">
            <a:extLst>
              <a:ext uri="{FF2B5EF4-FFF2-40B4-BE49-F238E27FC236}">
                <a16:creationId xmlns:a16="http://schemas.microsoft.com/office/drawing/2014/main" id="{304BB629-2790-2109-C4D0-BF1589E38597}"/>
              </a:ext>
            </a:extLst>
          </p:cNvPr>
          <p:cNvSpPr>
            <a:spLocks noGrp="1"/>
          </p:cNvSpPr>
          <p:nvPr>
            <p:ph type="ftr" sz="quarter" idx="11"/>
          </p:nvPr>
        </p:nvSpPr>
        <p:spPr/>
        <p:txBody>
          <a:bodyPr/>
          <a:lstStyle/>
          <a:p>
            <a:endParaRPr lang="es-MX" dirty="0"/>
          </a:p>
        </p:txBody>
      </p:sp>
      <p:sp>
        <p:nvSpPr>
          <p:cNvPr id="5" name="Marcador de número de diapositiva 4">
            <a:extLst>
              <a:ext uri="{FF2B5EF4-FFF2-40B4-BE49-F238E27FC236}">
                <a16:creationId xmlns:a16="http://schemas.microsoft.com/office/drawing/2014/main" id="{204A913A-F900-4B95-1F00-B8C2E77233BB}"/>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3832195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0DC2E39-CC88-CAE8-1A73-E94539C83A16}"/>
              </a:ext>
            </a:extLst>
          </p:cNvPr>
          <p:cNvSpPr>
            <a:spLocks noGrp="1"/>
          </p:cNvSpPr>
          <p:nvPr>
            <p:ph type="dt" sz="half" idx="10"/>
          </p:nvPr>
        </p:nvSpPr>
        <p:spPr/>
        <p:txBody>
          <a:bodyPr/>
          <a:lstStyle/>
          <a:p>
            <a:fld id="{DEC3F2AB-BA53-4804-8731-7E591C20B253}" type="datetime1">
              <a:rPr lang="es-MX" smtClean="0"/>
              <a:t>20/09/2026</a:t>
            </a:fld>
            <a:endParaRPr lang="es-MX" dirty="0"/>
          </a:p>
        </p:txBody>
      </p:sp>
      <p:sp>
        <p:nvSpPr>
          <p:cNvPr id="3" name="Marcador de pie de página 2">
            <a:extLst>
              <a:ext uri="{FF2B5EF4-FFF2-40B4-BE49-F238E27FC236}">
                <a16:creationId xmlns:a16="http://schemas.microsoft.com/office/drawing/2014/main" id="{0699E948-1E38-9C7A-9218-ACC8FAE40E34}"/>
              </a:ext>
            </a:extLst>
          </p:cNvPr>
          <p:cNvSpPr>
            <a:spLocks noGrp="1"/>
          </p:cNvSpPr>
          <p:nvPr>
            <p:ph type="ftr" sz="quarter" idx="11"/>
          </p:nvPr>
        </p:nvSpPr>
        <p:spPr/>
        <p:txBody>
          <a:bodyPr/>
          <a:lstStyle/>
          <a:p>
            <a:endParaRPr lang="es-MX" dirty="0"/>
          </a:p>
        </p:txBody>
      </p:sp>
      <p:sp>
        <p:nvSpPr>
          <p:cNvPr id="4" name="Marcador de número de diapositiva 3">
            <a:extLst>
              <a:ext uri="{FF2B5EF4-FFF2-40B4-BE49-F238E27FC236}">
                <a16:creationId xmlns:a16="http://schemas.microsoft.com/office/drawing/2014/main" id="{954C6EB2-0D5E-F513-6603-F0C7EEDD9C2F}"/>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3530936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5B5F76-EF1E-95C0-B2E4-4F68BD2FEE7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FDA4D29-0103-5870-A0C9-FA3C350E4F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8C64C71-41F5-49DD-B2A6-797FAA54D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161E5B4-2271-DCB2-1C22-B3B83BB04EAC}"/>
              </a:ext>
            </a:extLst>
          </p:cNvPr>
          <p:cNvSpPr>
            <a:spLocks noGrp="1"/>
          </p:cNvSpPr>
          <p:nvPr>
            <p:ph type="dt" sz="half" idx="10"/>
          </p:nvPr>
        </p:nvSpPr>
        <p:spPr/>
        <p:txBody>
          <a:bodyPr/>
          <a:lstStyle/>
          <a:p>
            <a:fld id="{1BEDD511-676E-4C07-954A-B0AC2FF1B9DB}" type="datetime1">
              <a:rPr lang="es-MX" smtClean="0"/>
              <a:t>20/09/2026</a:t>
            </a:fld>
            <a:endParaRPr lang="es-MX" dirty="0"/>
          </a:p>
        </p:txBody>
      </p:sp>
      <p:sp>
        <p:nvSpPr>
          <p:cNvPr id="6" name="Marcador de pie de página 5">
            <a:extLst>
              <a:ext uri="{FF2B5EF4-FFF2-40B4-BE49-F238E27FC236}">
                <a16:creationId xmlns:a16="http://schemas.microsoft.com/office/drawing/2014/main" id="{10A9E7A3-70C8-6528-8F9F-10FF21AAE641}"/>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B397A110-5FAE-E4B1-E358-CEADE00FCA0D}"/>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1947232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5F1322-D6B5-FE25-C061-10A7A53FBF8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2299A21-E469-3819-39BA-F963896EF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a:extLst>
              <a:ext uri="{FF2B5EF4-FFF2-40B4-BE49-F238E27FC236}">
                <a16:creationId xmlns:a16="http://schemas.microsoft.com/office/drawing/2014/main" id="{21282BED-9365-3BF2-00E6-86E46A4BF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02E13C9-404C-C107-6E27-B0DEC82D1B13}"/>
              </a:ext>
            </a:extLst>
          </p:cNvPr>
          <p:cNvSpPr>
            <a:spLocks noGrp="1"/>
          </p:cNvSpPr>
          <p:nvPr>
            <p:ph type="dt" sz="half" idx="10"/>
          </p:nvPr>
        </p:nvSpPr>
        <p:spPr/>
        <p:txBody>
          <a:bodyPr/>
          <a:lstStyle/>
          <a:p>
            <a:fld id="{0D8BEF0E-1342-4595-AD3A-81A87C54F0B0}" type="datetime1">
              <a:rPr lang="es-MX" smtClean="0"/>
              <a:t>20/09/2026</a:t>
            </a:fld>
            <a:endParaRPr lang="es-MX" dirty="0"/>
          </a:p>
        </p:txBody>
      </p:sp>
      <p:sp>
        <p:nvSpPr>
          <p:cNvPr id="6" name="Marcador de pie de página 5">
            <a:extLst>
              <a:ext uri="{FF2B5EF4-FFF2-40B4-BE49-F238E27FC236}">
                <a16:creationId xmlns:a16="http://schemas.microsoft.com/office/drawing/2014/main" id="{81785B91-96C9-AFB2-1F2A-3610570E4B6A}"/>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1D858988-D1E1-236C-3094-4C1249E47B79}"/>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155064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FE920-69CF-D8F9-2621-F34ABFD8428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6F4EA1E-900D-BDE5-5F16-B2E2E4FB9BC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4C817C0-AA92-022B-A33C-77E9FD116D2D}"/>
              </a:ext>
            </a:extLst>
          </p:cNvPr>
          <p:cNvSpPr>
            <a:spLocks noGrp="1"/>
          </p:cNvSpPr>
          <p:nvPr>
            <p:ph type="dt" sz="half" idx="10"/>
          </p:nvPr>
        </p:nvSpPr>
        <p:spPr/>
        <p:txBody>
          <a:bodyPr/>
          <a:lstStyle/>
          <a:p>
            <a:fld id="{2396D69A-BE17-4CB9-ADDF-E6B21C152454}" type="datetime1">
              <a:rPr lang="es-MX" smtClean="0"/>
              <a:t>20/09/2026</a:t>
            </a:fld>
            <a:endParaRPr lang="es-MX" dirty="0"/>
          </a:p>
        </p:txBody>
      </p:sp>
      <p:sp>
        <p:nvSpPr>
          <p:cNvPr id="5" name="Marcador de pie de página 4">
            <a:extLst>
              <a:ext uri="{FF2B5EF4-FFF2-40B4-BE49-F238E27FC236}">
                <a16:creationId xmlns:a16="http://schemas.microsoft.com/office/drawing/2014/main" id="{9D10F568-446A-AD43-D38C-8AA48CFB8310}"/>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AF859622-34E1-1979-80C4-C2FEEDA1A0E3}"/>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2683538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5364DD3-EAC1-3E1F-1EDF-B1F4C001F9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BBC01F0-8FB3-69A3-D1F9-006E69F4B41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0D7805B-C911-F7E3-82E7-CC73E01AE97B}"/>
              </a:ext>
            </a:extLst>
          </p:cNvPr>
          <p:cNvSpPr>
            <a:spLocks noGrp="1"/>
          </p:cNvSpPr>
          <p:nvPr>
            <p:ph type="dt" sz="half" idx="10"/>
          </p:nvPr>
        </p:nvSpPr>
        <p:spPr/>
        <p:txBody>
          <a:bodyPr/>
          <a:lstStyle/>
          <a:p>
            <a:fld id="{68A82B6E-A0AD-4024-A188-FAECFB3D1414}" type="datetime1">
              <a:rPr lang="es-MX" smtClean="0"/>
              <a:t>20/09/2026</a:t>
            </a:fld>
            <a:endParaRPr lang="es-MX" dirty="0"/>
          </a:p>
        </p:txBody>
      </p:sp>
      <p:sp>
        <p:nvSpPr>
          <p:cNvPr id="5" name="Marcador de pie de página 4">
            <a:extLst>
              <a:ext uri="{FF2B5EF4-FFF2-40B4-BE49-F238E27FC236}">
                <a16:creationId xmlns:a16="http://schemas.microsoft.com/office/drawing/2014/main" id="{5C03BAE7-B5DE-A78F-D15C-0A7E6CD1DA64}"/>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97DDD063-C884-CD0A-6D92-FAEC7AD18524}"/>
              </a:ext>
            </a:extLst>
          </p:cNvPr>
          <p:cNvSpPr>
            <a:spLocks noGrp="1"/>
          </p:cNvSpPr>
          <p:nvPr>
            <p:ph type="sldNum" sz="quarter" idx="12"/>
          </p:nvPr>
        </p:nvSpPr>
        <p:spPr/>
        <p:txBody>
          <a:bodyPr/>
          <a:lstStyle/>
          <a:p>
            <a:fld id="{01DE96D7-2428-4FB8-BC54-9541E69FDA26}" type="slidenum">
              <a:rPr lang="es-MX" smtClean="0"/>
              <a:t>‹Nº›</a:t>
            </a:fld>
            <a:endParaRPr lang="es-MX" dirty="0"/>
          </a:p>
        </p:txBody>
      </p:sp>
    </p:spTree>
    <p:extLst>
      <p:ext uri="{BB962C8B-B14F-4D97-AF65-F5344CB8AC3E}">
        <p14:creationId xmlns:p14="http://schemas.microsoft.com/office/powerpoint/2010/main" val="119826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20C014-E28E-4777-A8C4-113E8B4391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21C0FD6-64A5-6C4A-8265-4BD19AD656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EC1C4BB-07E4-2205-DAD2-88FF8BD914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B59A0C-94F3-4DD2-9435-093FF2634F94}" type="datetime1">
              <a:rPr lang="es-MX" smtClean="0"/>
              <a:t>20/09/2026</a:t>
            </a:fld>
            <a:endParaRPr lang="es-MX" dirty="0"/>
          </a:p>
        </p:txBody>
      </p:sp>
      <p:sp>
        <p:nvSpPr>
          <p:cNvPr id="5" name="Marcador de pie de página 4">
            <a:extLst>
              <a:ext uri="{FF2B5EF4-FFF2-40B4-BE49-F238E27FC236}">
                <a16:creationId xmlns:a16="http://schemas.microsoft.com/office/drawing/2014/main" id="{AC6B8695-66E6-00CA-CEDD-39F5BAE0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dirty="0"/>
          </a:p>
        </p:txBody>
      </p:sp>
      <p:sp>
        <p:nvSpPr>
          <p:cNvPr id="6" name="Marcador de número de diapositiva 5">
            <a:extLst>
              <a:ext uri="{FF2B5EF4-FFF2-40B4-BE49-F238E27FC236}">
                <a16:creationId xmlns:a16="http://schemas.microsoft.com/office/drawing/2014/main" id="{57240DD0-FDCF-FE9E-6762-E46E7C1E8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DE96D7-2428-4FB8-BC54-9541E69FDA26}" type="slidenum">
              <a:rPr lang="es-MX" smtClean="0"/>
              <a:t>‹Nº›</a:t>
            </a:fld>
            <a:endParaRPr lang="es-MX" dirty="0"/>
          </a:p>
        </p:txBody>
      </p:sp>
    </p:spTree>
    <p:extLst>
      <p:ext uri="{BB962C8B-B14F-4D97-AF65-F5344CB8AC3E}">
        <p14:creationId xmlns:p14="http://schemas.microsoft.com/office/powerpoint/2010/main" val="1033499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2" descr="Why Reinforcement Learning Matters in Business | CDOTrends">
            <a:extLst>
              <a:ext uri="{FF2B5EF4-FFF2-40B4-BE49-F238E27FC236}">
                <a16:creationId xmlns:a16="http://schemas.microsoft.com/office/drawing/2014/main" id="{070DDD52-77E0-0E8A-790C-5E56136D8A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23298"/>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1604E20-9BA9-58C3-206D-460E6353B3FD}"/>
              </a:ext>
            </a:extLst>
          </p:cNvPr>
          <p:cNvSpPr>
            <a:spLocks noGrp="1"/>
          </p:cNvSpPr>
          <p:nvPr>
            <p:ph type="ctrTitle"/>
          </p:nvPr>
        </p:nvSpPr>
        <p:spPr>
          <a:xfrm>
            <a:off x="477981" y="1122363"/>
            <a:ext cx="4023360" cy="3204134"/>
          </a:xfrm>
        </p:spPr>
        <p:txBody>
          <a:bodyPr anchor="b">
            <a:normAutofit/>
          </a:bodyPr>
          <a:lstStyle/>
          <a:p>
            <a:pPr algn="l"/>
            <a:r>
              <a:rPr lang="es-MX" sz="4400" dirty="0"/>
              <a:t>Reconocimiento de Patrones</a:t>
            </a:r>
          </a:p>
        </p:txBody>
      </p:sp>
      <p:sp>
        <p:nvSpPr>
          <p:cNvPr id="3" name="Subtítulo 2">
            <a:extLst>
              <a:ext uri="{FF2B5EF4-FFF2-40B4-BE49-F238E27FC236}">
                <a16:creationId xmlns:a16="http://schemas.microsoft.com/office/drawing/2014/main" id="{A235F7FD-445C-0D85-CE79-C318ADF2DA18}"/>
              </a:ext>
            </a:extLst>
          </p:cNvPr>
          <p:cNvSpPr>
            <a:spLocks noGrp="1"/>
          </p:cNvSpPr>
          <p:nvPr>
            <p:ph type="subTitle" idx="1"/>
          </p:nvPr>
        </p:nvSpPr>
        <p:spPr>
          <a:xfrm>
            <a:off x="477980" y="4872922"/>
            <a:ext cx="4023359" cy="1208141"/>
          </a:xfrm>
        </p:spPr>
        <p:txBody>
          <a:bodyPr>
            <a:normAutofit/>
          </a:bodyPr>
          <a:lstStyle/>
          <a:p>
            <a:pPr algn="l"/>
            <a:r>
              <a:rPr lang="es-MX" sz="2000" dirty="0"/>
              <a:t>Clase 10</a:t>
            </a:r>
          </a:p>
          <a:p>
            <a:pPr algn="l"/>
            <a:r>
              <a:rPr lang="es-MX" sz="2000" dirty="0"/>
              <a:t>Clasificación de patrones por medio de funciones de similitud</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Marcador de número de diapositiva 4">
            <a:extLst>
              <a:ext uri="{FF2B5EF4-FFF2-40B4-BE49-F238E27FC236}">
                <a16:creationId xmlns:a16="http://schemas.microsoft.com/office/drawing/2014/main" id="{BF54BBBA-5BB7-D334-294F-64B4552F2FB6}"/>
              </a:ext>
            </a:extLst>
          </p:cNvPr>
          <p:cNvSpPr>
            <a:spLocks noGrp="1"/>
          </p:cNvSpPr>
          <p:nvPr>
            <p:ph type="sldNum" sz="quarter" idx="12"/>
          </p:nvPr>
        </p:nvSpPr>
        <p:spPr/>
        <p:txBody>
          <a:bodyPr/>
          <a:lstStyle/>
          <a:p>
            <a:fld id="{01DE96D7-2428-4FB8-BC54-9541E69FDA26}" type="slidenum">
              <a:rPr lang="es-MX" smtClean="0"/>
              <a:t>1</a:t>
            </a:fld>
            <a:endParaRPr lang="es-MX" dirty="0"/>
          </a:p>
        </p:txBody>
      </p:sp>
    </p:spTree>
    <p:extLst>
      <p:ext uri="{BB962C8B-B14F-4D97-AF65-F5344CB8AC3E}">
        <p14:creationId xmlns:p14="http://schemas.microsoft.com/office/powerpoint/2010/main" val="3753551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4931B41-9B9E-91A9-460B-03167AA1D19A}"/>
              </a:ext>
            </a:extLst>
          </p:cNvPr>
          <p:cNvSpPr>
            <a:spLocks noGrp="1"/>
          </p:cNvSpPr>
          <p:nvPr>
            <p:ph type="title"/>
          </p:nvPr>
        </p:nvSpPr>
        <p:spPr>
          <a:xfrm>
            <a:off x="411480" y="987552"/>
            <a:ext cx="4485861" cy="1088136"/>
          </a:xfrm>
        </p:spPr>
        <p:txBody>
          <a:bodyPr anchor="b">
            <a:normAutofit/>
          </a:bodyPr>
          <a:lstStyle/>
          <a:p>
            <a:r>
              <a:rPr lang="es-MX" sz="3400"/>
              <a:t>Antes de empezar</a:t>
            </a:r>
          </a:p>
        </p:txBody>
      </p:sp>
      <p:sp>
        <p:nvSpPr>
          <p:cNvPr id="1033" name="Rectangle 103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5" name="Rectangle 1034">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CDB66D95-521F-36BE-9D30-EEE17527D059}"/>
              </a:ext>
            </a:extLst>
          </p:cNvPr>
          <p:cNvSpPr>
            <a:spLocks noGrp="1"/>
          </p:cNvSpPr>
          <p:nvPr>
            <p:ph idx="1"/>
          </p:nvPr>
        </p:nvSpPr>
        <p:spPr>
          <a:xfrm>
            <a:off x="411479" y="2688336"/>
            <a:ext cx="4498848" cy="3584448"/>
          </a:xfrm>
        </p:spPr>
        <p:txBody>
          <a:bodyPr anchor="t">
            <a:normAutofit/>
          </a:bodyPr>
          <a:lstStyle/>
          <a:p>
            <a:r>
              <a:rPr lang="es-MX" sz="1800"/>
              <a:t>¿Dudas de la clase anterior?</a:t>
            </a:r>
          </a:p>
        </p:txBody>
      </p:sp>
      <p:pic>
        <p:nvPicPr>
          <p:cNvPr id="1026" name="Picture 2" descr="Clases online: estas son las mejores plataformas para darlas">
            <a:extLst>
              <a:ext uri="{FF2B5EF4-FFF2-40B4-BE49-F238E27FC236}">
                <a16:creationId xmlns:a16="http://schemas.microsoft.com/office/drawing/2014/main" id="{80961ACA-FE62-612D-7526-2652AA5DA1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350" r="20879"/>
          <a:stretch>
            <a:fillRect/>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
        <p:nvSpPr>
          <p:cNvPr id="4" name="Marcador de número de diapositiva 3">
            <a:extLst>
              <a:ext uri="{FF2B5EF4-FFF2-40B4-BE49-F238E27FC236}">
                <a16:creationId xmlns:a16="http://schemas.microsoft.com/office/drawing/2014/main" id="{16050656-1421-6A95-9D7A-C0E9EAFCB643}"/>
              </a:ext>
            </a:extLst>
          </p:cNvPr>
          <p:cNvSpPr>
            <a:spLocks noGrp="1"/>
          </p:cNvSpPr>
          <p:nvPr>
            <p:ph type="sldNum" sz="quarter" idx="12"/>
          </p:nvPr>
        </p:nvSpPr>
        <p:spPr>
          <a:xfrm>
            <a:off x="9037321" y="6356350"/>
            <a:ext cx="2743200" cy="365125"/>
          </a:xfrm>
        </p:spPr>
        <p:txBody>
          <a:bodyPr>
            <a:normAutofit/>
          </a:bodyPr>
          <a:lstStyle/>
          <a:p>
            <a:pPr>
              <a:spcAft>
                <a:spcPts val="600"/>
              </a:spcAft>
            </a:pPr>
            <a:fld id="{01DE96D7-2428-4FB8-BC54-9541E69FDA26}" type="slidenum">
              <a:rPr lang="es-MX">
                <a:solidFill>
                  <a:schemeClr val="bg1"/>
                </a:solidFill>
              </a:rPr>
              <a:pPr>
                <a:spcAft>
                  <a:spcPts val="600"/>
                </a:spcAft>
              </a:pPr>
              <a:t>2</a:t>
            </a:fld>
            <a:endParaRPr lang="es-MX">
              <a:solidFill>
                <a:schemeClr val="bg1"/>
              </a:solidFill>
            </a:endParaRPr>
          </a:p>
        </p:txBody>
      </p:sp>
    </p:spTree>
    <p:extLst>
      <p:ext uri="{BB962C8B-B14F-4D97-AF65-F5344CB8AC3E}">
        <p14:creationId xmlns:p14="http://schemas.microsoft.com/office/powerpoint/2010/main" val="39539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9AC9D33-1C99-1A92-29B0-E4FFBF272531}"/>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¿Cómo saber que tan bien se construyeron los clústeres?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8C63210-ADFB-A736-2EC7-571CFB4FC4AC}"/>
                  </a:ext>
                </a:extLst>
              </p:cNvPr>
              <p:cNvSpPr>
                <a:spLocks noGrp="1"/>
              </p:cNvSpPr>
              <p:nvPr>
                <p:ph idx="1"/>
              </p:nvPr>
            </p:nvSpPr>
            <p:spPr>
              <a:xfrm>
                <a:off x="4367695" y="225999"/>
                <a:ext cx="7453518" cy="6450104"/>
              </a:xfrm>
            </p:spPr>
            <p:txBody>
              <a:bodyPr anchor="ctr">
                <a:normAutofit/>
              </a:bodyPr>
              <a:lstStyle/>
              <a:p>
                <a:r>
                  <a:rPr lang="es-MX" sz="2400" b="1" dirty="0"/>
                  <a:t>Índice de Dunn (DI)</a:t>
                </a:r>
              </a:p>
              <a:p>
                <a:pPr marL="0" indent="0">
                  <a:buNone/>
                </a:pPr>
                <a14:m>
                  <m:oMathPara xmlns:m="http://schemas.openxmlformats.org/officeDocument/2006/math">
                    <m:oMath>
                      <m:r>
                        <a:rPr lang="es-MX" sz="2400" i="1">
                          <a:latin typeface="Cambria Math" panose="02040503050406030204" pitchFamily="18" charset="0"/>
                        </a:rPr>
                        <m:t>𝐷𝐼</m:t>
                      </m:r>
                      <m:r>
                        <a:rPr lang="es-MX" sz="2400">
                          <a:latin typeface="Cambria Math" panose="02040503050406030204" pitchFamily="18" charset="0"/>
                        </a:rPr>
                        <m:t>=</m:t>
                      </m:r>
                      <m:f>
                        <m:fPr>
                          <m:ctrlPr>
                            <a:rPr lang="ar-AE" sz="2400" i="1">
                              <a:latin typeface="Cambria Math" panose="02040503050406030204" pitchFamily="18" charset="0"/>
                            </a:rPr>
                          </m:ctrlPr>
                        </m:fPr>
                        <m:num>
                          <m:limLow>
                            <m:limLowPr>
                              <m:ctrlPr>
                                <a:rPr lang="es-MX"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min</m:t>
                                  </m:r>
                                </m:fName>
                                <m:e>
                                  <m:r>
                                    <a:rPr lang="es-MX" sz="2400" b="0" i="1">
                                      <a:latin typeface="Cambria Math" panose="02040503050406030204" pitchFamily="18" charset="0"/>
                                    </a:rPr>
                                    <m:t> </m:t>
                                  </m:r>
                                </m:e>
                              </m:func>
                            </m:e>
                            <m:lim>
                              <m:r>
                                <a:rPr lang="ar-AE" sz="2400" i="1">
                                  <a:latin typeface="Cambria Math" panose="02040503050406030204" pitchFamily="18" charset="0"/>
                                </a:rPr>
                                <m:t>𝑖</m:t>
                              </m:r>
                              <m:r>
                                <a:rPr lang="ar-AE" sz="2400">
                                  <a:latin typeface="Cambria Math" panose="02040503050406030204" pitchFamily="18" charset="0"/>
                                </a:rPr>
                                <m:t>≠</m:t>
                              </m:r>
                              <m:r>
                                <a:rPr lang="ar-AE" sz="2400" i="1">
                                  <a:latin typeface="Cambria Math" panose="02040503050406030204" pitchFamily="18" charset="0"/>
                                </a:rPr>
                                <m:t>𝑗</m:t>
                              </m:r>
                            </m:lim>
                          </m:limLow>
                          <m:r>
                            <m:rPr>
                              <m:nor/>
                            </m:rPr>
                            <a:rPr lang="ar-AE" sz="2400" i="1"/>
                            <m:t> </m:t>
                          </m:r>
                          <m:r>
                            <a:rPr lang="ar-AE" sz="2400" i="1">
                              <a:latin typeface="Cambria Math" panose="02040503050406030204" pitchFamily="18" charset="0"/>
                            </a:rPr>
                            <m:t>𝑑</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𝑗</m:t>
                                  </m:r>
                                </m:sub>
                              </m:sSub>
                            </m:e>
                          </m:d>
                        </m:num>
                        <m:den>
                          <m:limLow>
                            <m:limLowPr>
                              <m:ctrlPr>
                                <a:rPr lang="es-MX"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max</m:t>
                                  </m:r>
                                </m:fName>
                                <m:e>
                                  <m:r>
                                    <a:rPr lang="es-MX" sz="2400" b="0" i="1">
                                      <a:latin typeface="Cambria Math" panose="02040503050406030204" pitchFamily="18" charset="0"/>
                                    </a:rPr>
                                    <m:t> </m:t>
                                  </m:r>
                                </m:e>
                              </m:func>
                            </m:e>
                            <m:lim>
                              <m:r>
                                <a:rPr lang="ar-AE" sz="2400" i="1">
                                  <a:latin typeface="Cambria Math" panose="02040503050406030204" pitchFamily="18" charset="0"/>
                                </a:rPr>
                                <m:t>𝑘</m:t>
                              </m:r>
                            </m:lim>
                          </m:limLow>
                          <m:r>
                            <m:rPr>
                              <m:nor/>
                            </m:rPr>
                            <a:rPr lang="ar-AE" sz="2400" i="1"/>
                            <m:t> </m:t>
                          </m:r>
                          <m:r>
                            <m:rPr>
                              <m:sty m:val="p"/>
                            </m:rPr>
                            <a:rPr lang="el-GR" sz="2400">
                              <a:latin typeface="Cambria Math" panose="02040503050406030204" pitchFamily="18" charset="0"/>
                            </a:rPr>
                            <m:t>Δ</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𝑘</m:t>
                                  </m:r>
                                </m:sub>
                              </m:sSub>
                            </m:e>
                          </m:d>
                        </m:den>
                      </m:f>
                    </m:oMath>
                  </m:oMathPara>
                </a14:m>
                <a:endParaRPr lang="es-MX" sz="2400" b="0" dirty="0"/>
              </a:p>
              <a:p>
                <a:pPr marL="0" indent="0">
                  <a:buNone/>
                </a:pPr>
                <a:endParaRPr lang="ar-AE" sz="2400" b="0" dirty="0"/>
              </a:p>
              <a:p>
                <a:pPr marL="0" indent="0">
                  <a:buNone/>
                </a:pPr>
                <a:r>
                  <a:rPr lang="es-MX" sz="2400" dirty="0"/>
                  <a:t>Numerador — separación entre clústeres: La más común es la distancia mínima entre cualquier par de puntos de clústeres distintos:</a:t>
                </a:r>
              </a:p>
              <a:p>
                <a:pPr marL="0" indent="0">
                  <a:buNone/>
                </a:pPr>
                <a14:m>
                  <m:oMathPara xmlns:m="http://schemas.openxmlformats.org/officeDocument/2006/math">
                    <m:oMath>
                      <m:r>
                        <a:rPr lang="es-MX" sz="2400" i="1">
                          <a:latin typeface="Cambria Math" panose="02040503050406030204" pitchFamily="18" charset="0"/>
                        </a:rPr>
                        <m:t>𝑑</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𝑗</m:t>
                              </m:r>
                            </m:sub>
                          </m:sSub>
                        </m:e>
                      </m:d>
                      <m:r>
                        <a:rPr lang="ar-AE" sz="2400">
                          <a:latin typeface="Cambria Math" panose="02040503050406030204" pitchFamily="18" charset="0"/>
                        </a:rPr>
                        <m:t>=</m:t>
                      </m:r>
                      <m:limLow>
                        <m:limLowPr>
                          <m:ctrlPr>
                            <a:rPr lang="es-MX"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min</m:t>
                              </m:r>
                            </m:fName>
                            <m:e>
                              <m:r>
                                <a:rPr lang="es-MX" sz="2400" b="0" i="1" smtClean="0">
                                  <a:latin typeface="Cambria Math" panose="02040503050406030204" pitchFamily="18" charset="0"/>
                                </a:rPr>
                                <m:t> </m:t>
                              </m:r>
                            </m:e>
                          </m:func>
                        </m:e>
                        <m:lim>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r>
                            <a:rPr lang="ar-AE" sz="2400">
                              <a:latin typeface="Cambria Math" panose="02040503050406030204" pitchFamily="18" charset="0"/>
                            </a:rPr>
                            <m:t>,</m:t>
                          </m:r>
                          <m:r>
                            <m:rPr>
                              <m:nor/>
                            </m:rPr>
                            <a:rPr lang="ar-AE" sz="2400" i="1"/>
                            <m:t> </m:t>
                          </m:r>
                          <m:r>
                            <a:rPr lang="ar-AE" sz="2400" i="1">
                              <a:latin typeface="Cambria Math" panose="02040503050406030204" pitchFamily="18" charset="0"/>
                            </a:rPr>
                            <m:t>𝑦</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𝑗</m:t>
                              </m:r>
                            </m:sub>
                          </m:sSub>
                        </m:lim>
                      </m:limLow>
                      <m:r>
                        <a:rPr lang="ar-AE" sz="2400">
                          <a:latin typeface="Cambria Math" panose="02040503050406030204" pitchFamily="18" charset="0"/>
                        </a:rPr>
                        <m:t>∥</m:t>
                      </m:r>
                      <m:r>
                        <a:rPr lang="ar-AE" sz="2400" i="1">
                          <a:latin typeface="Cambria Math" panose="02040503050406030204" pitchFamily="18" charset="0"/>
                        </a:rPr>
                        <m:t>𝑥</m:t>
                      </m:r>
                      <m:r>
                        <a:rPr lang="ar-AE" sz="2400">
                          <a:latin typeface="Cambria Math" panose="02040503050406030204" pitchFamily="18" charset="0"/>
                        </a:rPr>
                        <m:t>−</m:t>
                      </m:r>
                      <m:r>
                        <a:rPr lang="ar-AE" sz="2400" i="1">
                          <a:latin typeface="Cambria Math" panose="02040503050406030204" pitchFamily="18" charset="0"/>
                        </a:rPr>
                        <m:t>𝑦</m:t>
                      </m:r>
                      <m:r>
                        <a:rPr lang="ar-AE" sz="2400">
                          <a:latin typeface="Cambria Math" panose="02040503050406030204" pitchFamily="18" charset="0"/>
                        </a:rPr>
                        <m:t>∥</m:t>
                      </m:r>
                    </m:oMath>
                  </m:oMathPara>
                </a14:m>
                <a:endParaRPr lang="es-MX" sz="2400" b="0" dirty="0"/>
              </a:p>
              <a:p>
                <a:pPr marL="0" indent="0">
                  <a:buNone/>
                </a:pPr>
                <a:endParaRPr lang="ar-AE" sz="2400" b="0" dirty="0"/>
              </a:p>
              <a:p>
                <a:pPr marL="0" indent="0">
                  <a:buNone/>
                </a:pPr>
                <a:r>
                  <a:rPr lang="es-MX" sz="2400" dirty="0"/>
                  <a:t>Denominador — diámetro del clúster: </a:t>
                </a:r>
                <a:r>
                  <a:rPr lang="el-GR" sz="2400" dirty="0"/>
                  <a:t>Δ(</a:t>
                </a:r>
                <a:r>
                  <a:rPr lang="es-MX" sz="2400" dirty="0"/>
                  <a:t>Sₖ) es la distancia máxima entre dos puntos del mismo clúster:</a:t>
                </a:r>
              </a:p>
              <a:p>
                <a:pPr marL="0" indent="0">
                  <a:buNone/>
                </a:pPr>
                <a14:m>
                  <m:oMathPara xmlns:m="http://schemas.openxmlformats.org/officeDocument/2006/math">
                    <m:oMath>
                      <m:r>
                        <m:rPr>
                          <m:sty m:val="p"/>
                        </m:rPr>
                        <a:rPr lang="el-GR" sz="2400">
                          <a:latin typeface="Cambria Math" panose="02040503050406030204" pitchFamily="18" charset="0"/>
                        </a:rPr>
                        <m:t>Δ</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𝑘</m:t>
                              </m:r>
                            </m:sub>
                          </m:sSub>
                        </m:e>
                      </m:d>
                      <m:r>
                        <a:rPr lang="ar-AE" sz="2400">
                          <a:latin typeface="Cambria Math" panose="02040503050406030204" pitchFamily="18" charset="0"/>
                        </a:rPr>
                        <m:t>=</m:t>
                      </m:r>
                      <m:limLow>
                        <m:limLowPr>
                          <m:ctrlPr>
                            <a:rPr lang="es-MX"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max</m:t>
                              </m:r>
                            </m:fName>
                            <m:e>
                              <m:r>
                                <a:rPr lang="es-MX" sz="2400" b="0" i="1" smtClean="0">
                                  <a:latin typeface="Cambria Math" panose="02040503050406030204" pitchFamily="18" charset="0"/>
                                </a:rPr>
                                <m:t> </m:t>
                              </m:r>
                            </m:e>
                          </m:func>
                        </m:e>
                        <m:lim>
                          <m:r>
                            <a:rPr lang="ar-AE" sz="2400" i="1">
                              <a:latin typeface="Cambria Math" panose="02040503050406030204" pitchFamily="18" charset="0"/>
                            </a:rPr>
                            <m:t>𝑥</m:t>
                          </m:r>
                          <m:r>
                            <a:rPr lang="ar-AE" sz="2400">
                              <a:latin typeface="Cambria Math" panose="02040503050406030204" pitchFamily="18" charset="0"/>
                            </a:rPr>
                            <m:t>,</m:t>
                          </m:r>
                          <m:r>
                            <a:rPr lang="ar-AE" sz="2400" i="1">
                              <a:latin typeface="Cambria Math" panose="02040503050406030204" pitchFamily="18" charset="0"/>
                            </a:rPr>
                            <m:t>𝑦</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𝑘</m:t>
                              </m:r>
                            </m:sub>
                          </m:sSub>
                        </m:lim>
                      </m:limLow>
                      <m:r>
                        <a:rPr lang="ar-AE" sz="2400">
                          <a:latin typeface="Cambria Math" panose="02040503050406030204" pitchFamily="18" charset="0"/>
                        </a:rPr>
                        <m:t>∥</m:t>
                      </m:r>
                      <m:r>
                        <a:rPr lang="ar-AE" sz="2400" i="1">
                          <a:latin typeface="Cambria Math" panose="02040503050406030204" pitchFamily="18" charset="0"/>
                        </a:rPr>
                        <m:t>𝑥</m:t>
                      </m:r>
                      <m:r>
                        <a:rPr lang="ar-AE" sz="2400">
                          <a:latin typeface="Cambria Math" panose="02040503050406030204" pitchFamily="18" charset="0"/>
                        </a:rPr>
                        <m:t>−</m:t>
                      </m:r>
                      <m:r>
                        <a:rPr lang="ar-AE" sz="2400" i="1">
                          <a:latin typeface="Cambria Math" panose="02040503050406030204" pitchFamily="18" charset="0"/>
                        </a:rPr>
                        <m:t>𝑦</m:t>
                      </m:r>
                      <m:r>
                        <a:rPr lang="ar-AE" sz="2400">
                          <a:latin typeface="Cambria Math" panose="02040503050406030204" pitchFamily="18" charset="0"/>
                        </a:rPr>
                        <m:t>∥</m:t>
                      </m:r>
                    </m:oMath>
                  </m:oMathPara>
                </a14:m>
                <a:endParaRPr lang="es-MX" sz="2400" dirty="0"/>
              </a:p>
              <a:p>
                <a:pPr marL="0" indent="0">
                  <a:buNone/>
                </a:pPr>
                <a:r>
                  <a:rPr lang="es-MX" sz="2400" b="1" dirty="0">
                    <a:solidFill>
                      <a:srgbClr val="FF0000"/>
                    </a:solidFill>
                  </a:rPr>
                  <a:t>Mayor DI → mejor </a:t>
                </a:r>
                <a:r>
                  <a:rPr lang="es-MX" sz="2400" b="1" dirty="0" err="1">
                    <a:solidFill>
                      <a:srgbClr val="FF0000"/>
                    </a:solidFill>
                  </a:rPr>
                  <a:t>clustering</a:t>
                </a:r>
                <a:r>
                  <a:rPr lang="es-MX" sz="2400" b="1" dirty="0">
                    <a:solidFill>
                      <a:srgbClr val="FF0000"/>
                    </a:solidFill>
                  </a:rPr>
                  <a:t>.</a:t>
                </a:r>
                <a:endParaRPr lang="ar-AE" sz="2400" b="1" dirty="0">
                  <a:solidFill>
                    <a:srgbClr val="FF0000"/>
                  </a:solidFill>
                </a:endParaRPr>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28C63210-ADFB-A736-2EC7-571CFB4FC4AC}"/>
                  </a:ext>
                </a:extLst>
              </p:cNvPr>
              <p:cNvSpPr>
                <a:spLocks noGrp="1" noRot="1" noChangeAspect="1" noMove="1" noResize="1" noEditPoints="1" noAdjustHandles="1" noChangeArrowheads="1" noChangeShapeType="1" noTextEdit="1"/>
              </p:cNvSpPr>
              <p:nvPr>
                <p:ph idx="1"/>
              </p:nvPr>
            </p:nvSpPr>
            <p:spPr>
              <a:xfrm>
                <a:off x="4367695" y="225999"/>
                <a:ext cx="7453518" cy="6450104"/>
              </a:xfrm>
              <a:blipFill>
                <a:blip r:embed="rId2"/>
                <a:stretch>
                  <a:fillRect l="-1226"/>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6184148D-613D-E40A-C0CF-9BE80A8308B4}"/>
              </a:ext>
            </a:extLst>
          </p:cNvPr>
          <p:cNvSpPr>
            <a:spLocks noGrp="1"/>
          </p:cNvSpPr>
          <p:nvPr>
            <p:ph type="sldNum" sz="quarter" idx="12"/>
          </p:nvPr>
        </p:nvSpPr>
        <p:spPr>
          <a:xfrm>
            <a:off x="11704320" y="6455664"/>
            <a:ext cx="448056" cy="365125"/>
          </a:xfrm>
        </p:spPr>
        <p:txBody>
          <a:bodyPr>
            <a:normAutofit/>
          </a:bodyPr>
          <a:lstStyle/>
          <a:p>
            <a:pPr>
              <a:spcAft>
                <a:spcPts val="600"/>
              </a:spcAft>
            </a:pPr>
            <a:fld id="{01DE96D7-2428-4FB8-BC54-9541E69FDA26}" type="slidenum">
              <a:rPr lang="es-MX" sz="1100">
                <a:solidFill>
                  <a:schemeClr val="tx1">
                    <a:lumMod val="50000"/>
                    <a:lumOff val="50000"/>
                  </a:schemeClr>
                </a:solidFill>
              </a:rPr>
              <a:pPr>
                <a:spcAft>
                  <a:spcPts val="600"/>
                </a:spcAft>
              </a:pPr>
              <a:t>3</a:t>
            </a:fld>
            <a:endParaRPr lang="es-MX" sz="1100">
              <a:solidFill>
                <a:schemeClr val="tx1">
                  <a:lumMod val="50000"/>
                  <a:lumOff val="50000"/>
                </a:schemeClr>
              </a:solidFill>
            </a:endParaRPr>
          </a:p>
        </p:txBody>
      </p:sp>
    </p:spTree>
    <p:extLst>
      <p:ext uri="{BB962C8B-B14F-4D97-AF65-F5344CB8AC3E}">
        <p14:creationId xmlns:p14="http://schemas.microsoft.com/office/powerpoint/2010/main" val="2426099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68B75-AAC4-DBB0-59BB-189C58518876}"/>
              </a:ext>
            </a:extLst>
          </p:cNvPr>
          <p:cNvSpPr>
            <a:spLocks noGrp="1"/>
          </p:cNvSpPr>
          <p:nvPr>
            <p:ph type="title"/>
          </p:nvPr>
        </p:nvSpPr>
        <p:spPr>
          <a:xfrm>
            <a:off x="838200" y="365125"/>
            <a:ext cx="1639529" cy="618101"/>
          </a:xfrm>
        </p:spPr>
        <p:txBody>
          <a:bodyPr>
            <a:normAutofit/>
          </a:bodyPr>
          <a:lstStyle/>
          <a:p>
            <a:r>
              <a:rPr lang="es-MX" sz="2800" dirty="0"/>
              <a:t>Ejemplo</a:t>
            </a:r>
          </a:p>
        </p:txBody>
      </p:sp>
      <p:sp>
        <p:nvSpPr>
          <p:cNvPr id="3" name="Marcador de contenido 2">
            <a:extLst>
              <a:ext uri="{FF2B5EF4-FFF2-40B4-BE49-F238E27FC236}">
                <a16:creationId xmlns:a16="http://schemas.microsoft.com/office/drawing/2014/main" id="{47577611-035E-9A3C-3A3C-1A7303BD3E29}"/>
              </a:ext>
            </a:extLst>
          </p:cNvPr>
          <p:cNvSpPr>
            <a:spLocks noGrp="1"/>
          </p:cNvSpPr>
          <p:nvPr>
            <p:ph idx="1"/>
          </p:nvPr>
        </p:nvSpPr>
        <p:spPr>
          <a:xfrm>
            <a:off x="838200" y="1253331"/>
            <a:ext cx="5415116" cy="4351338"/>
          </a:xfrm>
        </p:spPr>
        <p:txBody>
          <a:bodyPr/>
          <a:lstStyle/>
          <a:p>
            <a:r>
              <a:rPr lang="es-MX" sz="2400" dirty="0"/>
              <a:t>Supón 3 clústeres en 1D:</a:t>
            </a:r>
          </a:p>
          <a:p>
            <a:pPr marL="0" indent="0">
              <a:buNone/>
            </a:pPr>
            <a:r>
              <a:rPr lang="es-MX" sz="2400" dirty="0"/>
              <a:t>S₁ = {1, 2, 3}</a:t>
            </a:r>
          </a:p>
          <a:p>
            <a:pPr marL="0" indent="0">
              <a:buNone/>
            </a:pPr>
            <a:r>
              <a:rPr lang="es-MX" sz="2400" dirty="0"/>
              <a:t>S₂ = {7, 8}</a:t>
            </a:r>
          </a:p>
          <a:p>
            <a:pPr marL="0" indent="0">
              <a:buNone/>
            </a:pPr>
            <a:r>
              <a:rPr lang="es-MX" sz="2400" dirty="0"/>
              <a:t>S₃ = {15, 16, 17}</a:t>
            </a:r>
          </a:p>
          <a:p>
            <a:pPr marL="0" indent="0">
              <a:buNone/>
            </a:pPr>
            <a:r>
              <a:rPr lang="es-MX" sz="2400" dirty="0"/>
              <a:t>Separaciones mínimas entre clústeres: </a:t>
            </a:r>
          </a:p>
          <a:p>
            <a:pPr marL="0" indent="0">
              <a:buNone/>
            </a:pPr>
            <a:r>
              <a:rPr lang="es-MX" sz="2400" dirty="0"/>
              <a:t>d(S₁,S₂) = |7−3| = 4</a:t>
            </a:r>
          </a:p>
          <a:p>
            <a:pPr marL="0" indent="0">
              <a:buNone/>
            </a:pPr>
            <a:r>
              <a:rPr lang="es-MX" sz="2400" dirty="0"/>
              <a:t>d(S₁,S₃) = |15−3| = 12</a:t>
            </a:r>
          </a:p>
          <a:p>
            <a:pPr marL="0" indent="0">
              <a:buNone/>
            </a:pPr>
            <a:r>
              <a:rPr lang="es-MX" sz="2400" dirty="0"/>
              <a:t>d(S₂,S₃) = |15−8| = 7</a:t>
            </a:r>
          </a:p>
          <a:p>
            <a:pPr marL="0" indent="0">
              <a:buNone/>
            </a:pPr>
            <a:r>
              <a:rPr lang="es-MX" sz="2400" dirty="0"/>
              <a:t>El mínimo es </a:t>
            </a:r>
            <a:r>
              <a:rPr lang="es-MX" sz="2400" b="1" dirty="0"/>
              <a:t>4</a:t>
            </a:r>
            <a:r>
              <a:rPr lang="es-MX" sz="2400" dirty="0"/>
              <a:t>.</a:t>
            </a:r>
          </a:p>
          <a:p>
            <a:pPr marL="0" indent="0">
              <a:buNone/>
            </a:pPr>
            <a:endParaRPr lang="es-MX" dirty="0"/>
          </a:p>
        </p:txBody>
      </p:sp>
      <p:sp>
        <p:nvSpPr>
          <p:cNvPr id="4" name="Marcador de número de diapositiva 3">
            <a:extLst>
              <a:ext uri="{FF2B5EF4-FFF2-40B4-BE49-F238E27FC236}">
                <a16:creationId xmlns:a16="http://schemas.microsoft.com/office/drawing/2014/main" id="{5B60780B-66BB-7481-B801-64D472304023}"/>
              </a:ext>
            </a:extLst>
          </p:cNvPr>
          <p:cNvSpPr>
            <a:spLocks noGrp="1"/>
          </p:cNvSpPr>
          <p:nvPr>
            <p:ph type="sldNum" sz="quarter" idx="12"/>
          </p:nvPr>
        </p:nvSpPr>
        <p:spPr/>
        <p:txBody>
          <a:bodyPr/>
          <a:lstStyle/>
          <a:p>
            <a:fld id="{01DE96D7-2428-4FB8-BC54-9541E69FDA26}" type="slidenum">
              <a:rPr lang="es-MX" smtClean="0"/>
              <a:t>4</a:t>
            </a:fld>
            <a:endParaRPr lang="es-MX"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82813F0-84F0-A18C-4DD7-ABDB80A55FFA}"/>
                  </a:ext>
                </a:extLst>
              </p:cNvPr>
              <p:cNvSpPr txBox="1"/>
              <p:nvPr/>
            </p:nvSpPr>
            <p:spPr>
              <a:xfrm>
                <a:off x="6673645" y="1091380"/>
                <a:ext cx="4680155" cy="4106445"/>
              </a:xfrm>
              <a:prstGeom prst="rect">
                <a:avLst/>
              </a:prstGeom>
              <a:noFill/>
            </p:spPr>
            <p:txBody>
              <a:bodyPr wrap="square" rtlCol="0">
                <a:spAutoFit/>
              </a:bodyPr>
              <a:lstStyle/>
              <a:p>
                <a:r>
                  <a:rPr lang="es-MX" sz="2400" dirty="0"/>
                  <a:t>Diámetros: </a:t>
                </a:r>
              </a:p>
              <a:p>
                <a:r>
                  <a:rPr lang="el-GR" sz="2400" dirty="0"/>
                  <a:t>Δ(</a:t>
                </a:r>
                <a:r>
                  <a:rPr lang="es-MX" sz="2400" dirty="0"/>
                  <a:t>S₁) = |3−1| = 2 </a:t>
                </a:r>
              </a:p>
              <a:p>
                <a:r>
                  <a:rPr lang="el-GR" sz="2400" dirty="0"/>
                  <a:t>Δ(</a:t>
                </a:r>
                <a:r>
                  <a:rPr lang="es-MX" sz="2400" dirty="0"/>
                  <a:t>S₂) = |8−7| = 1 </a:t>
                </a:r>
              </a:p>
              <a:p>
                <a:r>
                  <a:rPr lang="el-GR" sz="2400" dirty="0"/>
                  <a:t>Δ(</a:t>
                </a:r>
                <a:r>
                  <a:rPr lang="es-MX" sz="2400" dirty="0"/>
                  <a:t>S₃) = |17−15| = 2</a:t>
                </a:r>
              </a:p>
              <a:p>
                <a:r>
                  <a:rPr lang="es-MX" sz="2400" dirty="0"/>
                  <a:t>El máximo es </a:t>
                </a:r>
                <a:r>
                  <a:rPr lang="es-MX" sz="2400" b="1" dirty="0"/>
                  <a:t>2</a:t>
                </a:r>
                <a:r>
                  <a:rPr lang="es-MX" sz="2400" dirty="0"/>
                  <a:t>.</a:t>
                </a:r>
              </a:p>
              <a:p>
                <a:endParaRPr lang="es-MX" sz="2400" dirty="0"/>
              </a:p>
              <a:p>
                <a:pPr/>
                <a14:m>
                  <m:oMathPara xmlns:m="http://schemas.openxmlformats.org/officeDocument/2006/math">
                    <m:oMath>
                      <m:r>
                        <a:rPr lang="es-MX" sz="2400" i="1">
                          <a:latin typeface="Cambria Math" panose="02040503050406030204" pitchFamily="18" charset="0"/>
                        </a:rPr>
                        <m:t>𝐷𝐼</m:t>
                      </m:r>
                      <m:r>
                        <a:rPr lang="es-MX"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4</m:t>
                          </m:r>
                        </m:num>
                        <m:den>
                          <m:r>
                            <a:rPr lang="ar-AE" sz="2400">
                              <a:latin typeface="Cambria Math" panose="02040503050406030204" pitchFamily="18" charset="0"/>
                            </a:rPr>
                            <m:t>2</m:t>
                          </m:r>
                        </m:den>
                      </m:f>
                      <m:r>
                        <a:rPr lang="ar-AE" sz="2400">
                          <a:latin typeface="Cambria Math" panose="02040503050406030204" pitchFamily="18" charset="0"/>
                        </a:rPr>
                        <m:t>=2.0</m:t>
                      </m:r>
                    </m:oMath>
                  </m:oMathPara>
                </a14:m>
                <a:endParaRPr lang="es-MX" sz="2400" dirty="0"/>
              </a:p>
              <a:p>
                <a:endParaRPr lang="es-MX" sz="2400" dirty="0"/>
              </a:p>
              <a:p>
                <a:endParaRPr lang="es-MX" sz="2400" dirty="0"/>
              </a:p>
              <a:p>
                <a:r>
                  <a:rPr lang="en-US" sz="2400" b="1" dirty="0">
                    <a:latin typeface="Calibri" pitchFamily="34" charset="0"/>
                    <a:ea typeface="Calibri" pitchFamily="34" charset="-122"/>
                    <a:cs typeface="Calibri" pitchFamily="34" charset="-120"/>
                  </a:rPr>
                  <a:t>Rango: (0, +∞)</a:t>
                </a:r>
                <a:endParaRPr lang="ar-AE" sz="2400" b="1" dirty="0"/>
              </a:p>
            </p:txBody>
          </p:sp>
        </mc:Choice>
        <mc:Fallback xmlns="">
          <p:sp>
            <p:nvSpPr>
              <p:cNvPr id="5" name="CuadroTexto 4">
                <a:extLst>
                  <a:ext uri="{FF2B5EF4-FFF2-40B4-BE49-F238E27FC236}">
                    <a16:creationId xmlns:a16="http://schemas.microsoft.com/office/drawing/2014/main" id="{C82813F0-84F0-A18C-4DD7-ABDB80A55FFA}"/>
                  </a:ext>
                </a:extLst>
              </p:cNvPr>
              <p:cNvSpPr txBox="1">
                <a:spLocks noRot="1" noChangeAspect="1" noMove="1" noResize="1" noEditPoints="1" noAdjustHandles="1" noChangeArrowheads="1" noChangeShapeType="1" noTextEdit="1"/>
              </p:cNvSpPr>
              <p:nvPr/>
            </p:nvSpPr>
            <p:spPr>
              <a:xfrm>
                <a:off x="6673645" y="1091380"/>
                <a:ext cx="4680155" cy="4106445"/>
              </a:xfrm>
              <a:prstGeom prst="rect">
                <a:avLst/>
              </a:prstGeom>
              <a:blipFill>
                <a:blip r:embed="rId2"/>
                <a:stretch>
                  <a:fillRect l="-2083" t="-1187" b="-2374"/>
                </a:stretch>
              </a:blipFill>
            </p:spPr>
            <p:txBody>
              <a:bodyPr/>
              <a:lstStyle/>
              <a:p>
                <a:r>
                  <a:rPr lang="es-MX">
                    <a:noFill/>
                  </a:rPr>
                  <a:t> </a:t>
                </a:r>
              </a:p>
            </p:txBody>
          </p:sp>
        </mc:Fallback>
      </mc:AlternateContent>
      <p:sp>
        <p:nvSpPr>
          <p:cNvPr id="6" name="Rectángulo 5">
            <a:extLst>
              <a:ext uri="{FF2B5EF4-FFF2-40B4-BE49-F238E27FC236}">
                <a16:creationId xmlns:a16="http://schemas.microsoft.com/office/drawing/2014/main" id="{5DD075CE-B043-D06F-0A3A-C0958AE40638}"/>
              </a:ext>
            </a:extLst>
          </p:cNvPr>
          <p:cNvSpPr/>
          <p:nvPr/>
        </p:nvSpPr>
        <p:spPr>
          <a:xfrm>
            <a:off x="6597445" y="4630994"/>
            <a:ext cx="2222090" cy="6489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598027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B0CB528-EB23-9DAF-9A4E-07752D01E7C4}"/>
                  </a:ext>
                </a:extLst>
              </p:cNvPr>
              <p:cNvSpPr>
                <a:spLocks noGrp="1"/>
              </p:cNvSpPr>
              <p:nvPr>
                <p:ph idx="1"/>
              </p:nvPr>
            </p:nvSpPr>
            <p:spPr>
              <a:xfrm>
                <a:off x="4522839" y="226142"/>
                <a:ext cx="7462684" cy="6430297"/>
              </a:xfrm>
            </p:spPr>
            <p:txBody>
              <a:bodyPr anchor="ctr">
                <a:normAutofit/>
              </a:bodyPr>
              <a:lstStyle/>
              <a:p>
                <a:r>
                  <a:rPr lang="es-MX" sz="2400" b="1" dirty="0"/>
                  <a:t>Índice Davies-</a:t>
                </a:r>
                <a:r>
                  <a:rPr lang="es-MX" sz="2400" b="1" dirty="0" err="1"/>
                  <a:t>Bouldin</a:t>
                </a:r>
                <a:r>
                  <a:rPr lang="es-MX" sz="2400" b="1" dirty="0"/>
                  <a:t> (DBI)</a:t>
                </a:r>
              </a:p>
              <a:p>
                <a:pPr marL="0" indent="0">
                  <a:buNone/>
                </a:pPr>
                <a14:m>
                  <m:oMathPara xmlns:m="http://schemas.openxmlformats.org/officeDocument/2006/math">
                    <m:oMath>
                      <m:r>
                        <a:rPr lang="es-MX" sz="2400" i="1">
                          <a:latin typeface="Cambria Math" panose="02040503050406030204" pitchFamily="18" charset="0"/>
                        </a:rPr>
                        <m:t>𝐷𝐵𝐼</m:t>
                      </m:r>
                      <m:r>
                        <a:rPr lang="es-MX"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1</m:t>
                          </m:r>
                        </m:num>
                        <m:den>
                          <m:r>
                            <a:rPr lang="ar-AE" sz="2400" i="1">
                              <a:latin typeface="Cambria Math" panose="02040503050406030204" pitchFamily="18" charset="0"/>
                            </a:rPr>
                            <m:t>𝑘</m:t>
                          </m:r>
                        </m:den>
                      </m:f>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=1</m:t>
                          </m:r>
                        </m:sub>
                        <m:sup>
                          <m:r>
                            <a:rPr lang="ar-AE" sz="2400" i="1">
                              <a:latin typeface="Cambria Math" panose="02040503050406030204" pitchFamily="18" charset="0"/>
                            </a:rPr>
                            <m:t>𝑘</m:t>
                          </m:r>
                        </m:sup>
                        <m:e>
                          <m:limLow>
                            <m:limLowPr>
                              <m:ctrlPr>
                                <a:rPr lang="es-MX"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max</m:t>
                                  </m:r>
                                </m:fName>
                                <m:e>
                                  <m:r>
                                    <a:rPr lang="es-MX" sz="2400" b="0" i="1">
                                      <a:latin typeface="Cambria Math" panose="02040503050406030204" pitchFamily="18" charset="0"/>
                                    </a:rPr>
                                    <m:t> </m:t>
                                  </m:r>
                                </m:e>
                              </m:func>
                            </m:e>
                            <m:lim>
                              <m:r>
                                <a:rPr lang="ar-AE" sz="2400" i="1">
                                  <a:latin typeface="Cambria Math" panose="02040503050406030204" pitchFamily="18" charset="0"/>
                                </a:rPr>
                                <m:t>𝑖</m:t>
                              </m:r>
                              <m:r>
                                <a:rPr lang="ar-AE" sz="2400">
                                  <a:latin typeface="Cambria Math" panose="02040503050406030204" pitchFamily="18" charset="0"/>
                                </a:rPr>
                                <m:t>≠</m:t>
                              </m:r>
                              <m:r>
                                <a:rPr lang="ar-AE" sz="2400" i="1">
                                  <a:latin typeface="Cambria Math" panose="02040503050406030204" pitchFamily="18" charset="0"/>
                                </a:rPr>
                                <m:t>𝑗</m:t>
                              </m:r>
                            </m:lim>
                          </m:limLow>
                        </m:e>
                      </m:nary>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i="1">
                              <a:latin typeface="Cambria Math" panose="02040503050406030204" pitchFamily="18" charset="0"/>
                            </a:rPr>
                            <m:t>𝑖𝑗</m:t>
                          </m:r>
                        </m:sub>
                      </m:sSub>
                    </m:oMath>
                  </m:oMathPara>
                </a14:m>
                <a:endParaRPr lang="ar-AE" sz="2400" dirty="0"/>
              </a:p>
              <a:p>
                <a:pPr marL="0" indent="0">
                  <a:buNone/>
                </a:pPr>
                <a:r>
                  <a:rPr lang="es-MX" sz="2400" dirty="0"/>
                  <a:t>donde:</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i="1">
                              <a:latin typeface="Cambria Math" panose="02040503050406030204" pitchFamily="18" charset="0"/>
                            </a:rPr>
                            <m:t>𝑖𝑗</m:t>
                          </m:r>
                        </m:sub>
                      </m:sSub>
                      <m:r>
                        <a:rPr lang="ar-AE" sz="2400">
                          <a:latin typeface="Cambria Math" panose="02040503050406030204" pitchFamily="18" charset="0"/>
                        </a:rPr>
                        <m:t>=</m:t>
                      </m:r>
                      <m:f>
                        <m:fPr>
                          <m:ctrlPr>
                            <a:rPr lang="ar-AE" sz="2400" i="1">
                              <a:latin typeface="Cambria Math" panose="02040503050406030204" pitchFamily="18" charset="0"/>
                            </a:rPr>
                          </m:ctrlPr>
                        </m:fPr>
                        <m:num>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𝑖</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𝑗</m:t>
                              </m:r>
                            </m:sub>
                          </m:sSub>
                        </m:num>
                        <m:den>
                          <m:r>
                            <a:rPr lang="ar-AE" sz="2400" i="1">
                              <a:latin typeface="Cambria Math" panose="02040503050406030204" pitchFamily="18" charset="0"/>
                            </a:rPr>
                            <m:t>𝑑</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𝜇</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𝜇</m:t>
                                  </m:r>
                                </m:e>
                                <m:sub>
                                  <m:r>
                                    <a:rPr lang="ar-AE" sz="2400" i="1">
                                      <a:latin typeface="Cambria Math" panose="02040503050406030204" pitchFamily="18" charset="0"/>
                                    </a:rPr>
                                    <m:t>𝑗</m:t>
                                  </m:r>
                                </m:sub>
                              </m:sSub>
                            </m:e>
                          </m:d>
                        </m:den>
                      </m:f>
                    </m:oMath>
                  </m:oMathPara>
                </a14:m>
                <a:endParaRPr lang="ar-AE" sz="2400" dirty="0"/>
              </a:p>
              <a:p>
                <a:pPr marL="0" indent="0">
                  <a:buNone/>
                </a:pPr>
                <a:r>
                  <a:rPr lang="es-MX" sz="2400" dirty="0"/>
                  <a:t>Aquí </a:t>
                </a:r>
                <a:r>
                  <a:rPr lang="es-MX" sz="2400" b="1" dirty="0"/>
                  <a:t>sⱼ</a:t>
                </a:r>
                <a:r>
                  <a:rPr lang="es-MX" sz="2400" dirty="0"/>
                  <a:t> es la dispersión media del clúster j (distancia media de sus puntos al centroide):</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𝑠</m:t>
                          </m:r>
                        </m:e>
                        <m:sub>
                          <m:r>
                            <a:rPr lang="ar-AE" sz="2400" i="1">
                              <a:latin typeface="Cambria Math" panose="02040503050406030204" pitchFamily="18" charset="0"/>
                            </a:rPr>
                            <m:t>𝑗</m:t>
                          </m:r>
                        </m:sub>
                      </m:sSub>
                      <m:r>
                        <a:rPr lang="ar-AE"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1</m:t>
                          </m:r>
                        </m:num>
                        <m:den>
                          <m:sSub>
                            <m:sSubPr>
                              <m:ctrlPr>
                                <a:rPr lang="ar-AE" sz="2400" i="1">
                                  <a:latin typeface="Cambria Math" panose="02040503050406030204" pitchFamily="18" charset="0"/>
                                </a:rPr>
                              </m:ctrlPr>
                            </m:sSubPr>
                            <m:e>
                              <m:r>
                                <a:rPr lang="ar-AE" sz="2400" i="1">
                                  <a:latin typeface="Cambria Math" panose="02040503050406030204" pitchFamily="18" charset="0"/>
                                </a:rPr>
                                <m:t>𝑛</m:t>
                              </m:r>
                            </m:e>
                            <m:sub>
                              <m:r>
                                <a:rPr lang="ar-AE" sz="2400" i="1">
                                  <a:latin typeface="Cambria Math" panose="02040503050406030204" pitchFamily="18" charset="0"/>
                                </a:rPr>
                                <m:t>𝑗</m:t>
                              </m:r>
                            </m:sub>
                          </m:sSub>
                        </m:den>
                      </m:f>
                      <m:nary>
                        <m:naryPr>
                          <m:chr m:val="∑"/>
                          <m:grow m:val="on"/>
                          <m:supHide m:val="on"/>
                          <m:ctrlPr>
                            <a:rPr lang="ar-AE" sz="2400" i="1">
                              <a:latin typeface="Cambria Math" panose="02040503050406030204" pitchFamily="18" charset="0"/>
                            </a:rPr>
                          </m:ctrlPr>
                        </m:naryPr>
                        <m:sub>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𝑗</m:t>
                              </m:r>
                            </m:sub>
                          </m:sSub>
                        </m:sub>
                        <m:sup/>
                        <m:e>
                          <m:r>
                            <a:rPr lang="ar-AE" sz="2400">
                              <a:latin typeface="Cambria Math" panose="02040503050406030204" pitchFamily="18" charset="0"/>
                            </a:rPr>
                            <m:t>∥</m:t>
                          </m:r>
                        </m:e>
                      </m:nary>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𝜇</m:t>
                          </m:r>
                        </m:e>
                        <m:sub>
                          <m:r>
                            <a:rPr lang="ar-AE" sz="2400" i="1">
                              <a:latin typeface="Cambria Math" panose="02040503050406030204" pitchFamily="18" charset="0"/>
                            </a:rPr>
                            <m:t>𝑗</m:t>
                          </m:r>
                        </m:sub>
                      </m:sSub>
                      <m:r>
                        <a:rPr lang="ar-AE" sz="2400">
                          <a:latin typeface="Cambria Math" panose="02040503050406030204" pitchFamily="18" charset="0"/>
                        </a:rPr>
                        <m:t>∥</m:t>
                      </m:r>
                    </m:oMath>
                  </m:oMathPara>
                </a14:m>
                <a:endParaRPr lang="ar-AE" sz="2400" dirty="0"/>
              </a:p>
              <a:p>
                <a:pPr marL="0" indent="0">
                  <a:buNone/>
                </a:pPr>
                <a:r>
                  <a:rPr lang="es-MX" sz="2400" dirty="0"/>
                  <a:t>Y d(μᵢ, μⱼ) es la distancia Euclidiana entre centroides. </a:t>
                </a:r>
              </a:p>
              <a:p>
                <a:pPr marL="0" indent="0">
                  <a:buNone/>
                </a:pPr>
                <a:r>
                  <a:rPr lang="en-US" sz="2400" b="1" dirty="0">
                    <a:latin typeface="Calibri" pitchFamily="34" charset="0"/>
                    <a:ea typeface="Calibri" pitchFamily="34" charset="-122"/>
                    <a:cs typeface="Calibri" pitchFamily="34" charset="-120"/>
                  </a:rPr>
                  <a:t>Rango: (0, +∞)</a:t>
                </a:r>
              </a:p>
              <a:p>
                <a:pPr marL="0" indent="0">
                  <a:buNone/>
                </a:pPr>
                <a:r>
                  <a:rPr lang="es-MX" sz="2400" b="1" dirty="0">
                    <a:solidFill>
                      <a:srgbClr val="FF0000"/>
                    </a:solidFill>
                  </a:rPr>
                  <a:t>Menor DBI → mejor </a:t>
                </a:r>
                <a:r>
                  <a:rPr lang="es-MX" sz="2400" b="1" dirty="0" err="1">
                    <a:solidFill>
                      <a:srgbClr val="FF0000"/>
                    </a:solidFill>
                  </a:rPr>
                  <a:t>clustering</a:t>
                </a:r>
                <a:r>
                  <a:rPr lang="es-MX" sz="2400" b="1" dirty="0">
                    <a:solidFill>
                      <a:srgbClr val="FF0000"/>
                    </a:solidFill>
                  </a:rPr>
                  <a:t>.</a:t>
                </a:r>
                <a:endParaRPr lang="ar-AE" sz="2400" b="1" dirty="0">
                  <a:solidFill>
                    <a:srgbClr val="FF0000"/>
                  </a:solidFill>
                </a:endParaRPr>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9B0CB528-EB23-9DAF-9A4E-07752D01E7C4}"/>
                  </a:ext>
                </a:extLst>
              </p:cNvPr>
              <p:cNvSpPr>
                <a:spLocks noGrp="1" noRot="1" noChangeAspect="1" noMove="1" noResize="1" noEditPoints="1" noAdjustHandles="1" noChangeArrowheads="1" noChangeShapeType="1" noTextEdit="1"/>
              </p:cNvSpPr>
              <p:nvPr>
                <p:ph idx="1"/>
              </p:nvPr>
            </p:nvSpPr>
            <p:spPr>
              <a:xfrm>
                <a:off x="4522839" y="226142"/>
                <a:ext cx="7462684" cy="6430297"/>
              </a:xfrm>
              <a:blipFill>
                <a:blip r:embed="rId2"/>
                <a:stretch>
                  <a:fillRect l="-1307"/>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990D5142-5023-B5ED-1257-2C92E67B9EFE}"/>
              </a:ext>
            </a:extLst>
          </p:cNvPr>
          <p:cNvSpPr>
            <a:spLocks noGrp="1"/>
          </p:cNvSpPr>
          <p:nvPr>
            <p:ph type="sldNum" sz="quarter" idx="12"/>
          </p:nvPr>
        </p:nvSpPr>
        <p:spPr>
          <a:xfrm>
            <a:off x="11704320" y="6455664"/>
            <a:ext cx="448056" cy="365125"/>
          </a:xfrm>
        </p:spPr>
        <p:txBody>
          <a:bodyPr>
            <a:normAutofit/>
          </a:bodyPr>
          <a:lstStyle/>
          <a:p>
            <a:pPr>
              <a:spcAft>
                <a:spcPts val="600"/>
              </a:spcAft>
            </a:pPr>
            <a:fld id="{01DE96D7-2428-4FB8-BC54-9541E69FDA26}" type="slidenum">
              <a:rPr lang="es-MX" sz="1100">
                <a:solidFill>
                  <a:schemeClr val="tx1">
                    <a:lumMod val="50000"/>
                    <a:lumOff val="50000"/>
                  </a:schemeClr>
                </a:solidFill>
              </a:rPr>
              <a:pPr>
                <a:spcAft>
                  <a:spcPts val="600"/>
                </a:spcAft>
              </a:pPr>
              <a:t>5</a:t>
            </a:fld>
            <a:endParaRPr lang="es-MX" sz="1100">
              <a:solidFill>
                <a:schemeClr val="tx1">
                  <a:lumMod val="50000"/>
                  <a:lumOff val="50000"/>
                </a:schemeClr>
              </a:solidFill>
            </a:endParaRPr>
          </a:p>
        </p:txBody>
      </p:sp>
    </p:spTree>
    <p:extLst>
      <p:ext uri="{BB962C8B-B14F-4D97-AF65-F5344CB8AC3E}">
        <p14:creationId xmlns:p14="http://schemas.microsoft.com/office/powerpoint/2010/main" val="1778042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D6FFD7-2036-DE53-15D9-F51E107450AB}"/>
              </a:ext>
            </a:extLst>
          </p:cNvPr>
          <p:cNvSpPr>
            <a:spLocks noGrp="1"/>
          </p:cNvSpPr>
          <p:nvPr>
            <p:ph type="title"/>
          </p:nvPr>
        </p:nvSpPr>
        <p:spPr>
          <a:xfrm>
            <a:off x="838200" y="365125"/>
            <a:ext cx="1698523" cy="559107"/>
          </a:xfrm>
        </p:spPr>
        <p:txBody>
          <a:bodyPr/>
          <a:lstStyle/>
          <a:p>
            <a:r>
              <a:rPr lang="es-MX" sz="2800" dirty="0"/>
              <a:t>Ejemplo</a:t>
            </a:r>
            <a:endParaRPr lang="es-MX" dirty="0"/>
          </a:p>
        </p:txBody>
      </p:sp>
      <p:sp>
        <p:nvSpPr>
          <p:cNvPr id="3" name="Marcador de contenido 2">
            <a:extLst>
              <a:ext uri="{FF2B5EF4-FFF2-40B4-BE49-F238E27FC236}">
                <a16:creationId xmlns:a16="http://schemas.microsoft.com/office/drawing/2014/main" id="{4B9C3162-FAC7-C8D7-7E8B-14C6999738E6}"/>
              </a:ext>
            </a:extLst>
          </p:cNvPr>
          <p:cNvSpPr>
            <a:spLocks noGrp="1"/>
          </p:cNvSpPr>
          <p:nvPr>
            <p:ph idx="1"/>
          </p:nvPr>
        </p:nvSpPr>
        <p:spPr>
          <a:xfrm>
            <a:off x="838200" y="1023016"/>
            <a:ext cx="7361903" cy="5515896"/>
          </a:xfrm>
        </p:spPr>
        <p:txBody>
          <a:bodyPr/>
          <a:lstStyle/>
          <a:p>
            <a:pPr marL="0" indent="0">
              <a:buNone/>
            </a:pPr>
            <a:r>
              <a:rPr lang="es-MX" sz="2400" dirty="0"/>
              <a:t>Suponiendo los clústeres en 1D:</a:t>
            </a:r>
          </a:p>
          <a:p>
            <a:pPr marL="0" indent="0">
              <a:buNone/>
            </a:pPr>
            <a:r>
              <a:rPr lang="es-MX" sz="2400" dirty="0"/>
              <a:t>S₁ = {1, 2, 3}, </a:t>
            </a:r>
            <a:r>
              <a:rPr lang="el-GR" sz="2400" dirty="0"/>
              <a:t>μ₁ = 2</a:t>
            </a:r>
          </a:p>
          <a:p>
            <a:pPr marL="0" indent="0">
              <a:buNone/>
            </a:pPr>
            <a:r>
              <a:rPr lang="es-MX" sz="2400" dirty="0"/>
              <a:t>S₂ = {7, 8}, </a:t>
            </a:r>
            <a:r>
              <a:rPr lang="el-GR" sz="2400" dirty="0"/>
              <a:t>μ₂ = 7.5</a:t>
            </a:r>
          </a:p>
          <a:p>
            <a:pPr marL="0" indent="0">
              <a:buNone/>
            </a:pPr>
            <a:r>
              <a:rPr lang="es-MX" sz="2400" dirty="0"/>
              <a:t>S₃ = {15, 16, 17}, </a:t>
            </a:r>
            <a:r>
              <a:rPr lang="el-GR" sz="2400" dirty="0"/>
              <a:t>μ₃ = 16</a:t>
            </a:r>
          </a:p>
          <a:p>
            <a:pPr marL="0" indent="0">
              <a:buNone/>
            </a:pPr>
            <a:r>
              <a:rPr lang="es-MX" sz="2400" b="1" dirty="0"/>
              <a:t>Paso 1 — dispersiones sⱼ:</a:t>
            </a:r>
            <a:endParaRPr lang="es-MX" sz="2400" dirty="0"/>
          </a:p>
          <a:p>
            <a:pPr marL="0" indent="0">
              <a:buNone/>
            </a:pPr>
            <a:r>
              <a:rPr lang="es-MX" sz="2400" dirty="0"/>
              <a:t>s₁ = (|1−2| + |2−2| + |3−2|) / 3 = (1+0+1)/3 ≈ </a:t>
            </a:r>
            <a:r>
              <a:rPr lang="es-MX" sz="2400" b="1" dirty="0"/>
              <a:t>0.67</a:t>
            </a:r>
            <a:endParaRPr lang="es-MX" sz="2400" dirty="0"/>
          </a:p>
          <a:p>
            <a:pPr marL="0" indent="0">
              <a:buNone/>
            </a:pPr>
            <a:r>
              <a:rPr lang="es-MX" sz="2400" dirty="0"/>
              <a:t>s₂ = (|7−7.5| + |8−7.5|) / 2 = (0.5+0.5)/2 = </a:t>
            </a:r>
            <a:r>
              <a:rPr lang="es-MX" sz="2400" b="1" dirty="0"/>
              <a:t>0.50</a:t>
            </a:r>
            <a:endParaRPr lang="es-MX" sz="2400" dirty="0"/>
          </a:p>
          <a:p>
            <a:pPr marL="0" indent="0">
              <a:buNone/>
            </a:pPr>
            <a:r>
              <a:rPr lang="es-MX" sz="2400" dirty="0"/>
              <a:t>s₃ = (|15−16| + |16−16| + |17−16|) / 3 = (1+0+1)/3 ≈ </a:t>
            </a:r>
            <a:r>
              <a:rPr lang="es-MX" sz="2400" b="1" dirty="0"/>
              <a:t>0.67</a:t>
            </a:r>
            <a:endParaRPr lang="es-MX" sz="2400" dirty="0"/>
          </a:p>
          <a:p>
            <a:pPr marL="0" indent="0">
              <a:buNone/>
            </a:pPr>
            <a:r>
              <a:rPr lang="es-MX" sz="2400" b="1" dirty="0"/>
              <a:t>Paso 2 — distancias entre centroides:</a:t>
            </a:r>
            <a:endParaRPr lang="es-MX" sz="2400" dirty="0"/>
          </a:p>
          <a:p>
            <a:pPr marL="0" indent="0">
              <a:buNone/>
            </a:pPr>
            <a:r>
              <a:rPr lang="es-MX" sz="2400" dirty="0"/>
              <a:t>d(</a:t>
            </a:r>
            <a:r>
              <a:rPr lang="el-GR" sz="2400" dirty="0"/>
              <a:t>μ₁,μ₂) = |2−7.5| = 5.5, </a:t>
            </a:r>
            <a:endParaRPr lang="es-MX" sz="2400" dirty="0"/>
          </a:p>
          <a:p>
            <a:pPr marL="0" indent="0">
              <a:buNone/>
            </a:pPr>
            <a:r>
              <a:rPr lang="es-MX" sz="2400" dirty="0"/>
              <a:t>d(</a:t>
            </a:r>
            <a:r>
              <a:rPr lang="el-GR" sz="2400" dirty="0"/>
              <a:t>μ₁,μ₃) = |2−16| = 14, </a:t>
            </a:r>
            <a:endParaRPr lang="es-MX" sz="2400" dirty="0"/>
          </a:p>
          <a:p>
            <a:pPr marL="0" indent="0">
              <a:buNone/>
            </a:pPr>
            <a:r>
              <a:rPr lang="es-MX" sz="2400" dirty="0"/>
              <a:t>d(</a:t>
            </a:r>
            <a:r>
              <a:rPr lang="el-GR" sz="2400" dirty="0"/>
              <a:t>μ₂,μ₃) = |7.5−16| = 8.5</a:t>
            </a:r>
          </a:p>
          <a:p>
            <a:pPr marL="0" indent="0">
              <a:buNone/>
            </a:pPr>
            <a:endParaRPr lang="es-MX" dirty="0"/>
          </a:p>
        </p:txBody>
      </p:sp>
      <p:sp>
        <p:nvSpPr>
          <p:cNvPr id="4" name="Marcador de número de diapositiva 3">
            <a:extLst>
              <a:ext uri="{FF2B5EF4-FFF2-40B4-BE49-F238E27FC236}">
                <a16:creationId xmlns:a16="http://schemas.microsoft.com/office/drawing/2014/main" id="{D6449D4A-892A-CB8B-860E-7330312C3452}"/>
              </a:ext>
            </a:extLst>
          </p:cNvPr>
          <p:cNvSpPr>
            <a:spLocks noGrp="1"/>
          </p:cNvSpPr>
          <p:nvPr>
            <p:ph type="sldNum" sz="quarter" idx="12"/>
          </p:nvPr>
        </p:nvSpPr>
        <p:spPr/>
        <p:txBody>
          <a:bodyPr/>
          <a:lstStyle/>
          <a:p>
            <a:fld id="{01DE96D7-2428-4FB8-BC54-9541E69FDA26}" type="slidenum">
              <a:rPr lang="es-MX" smtClean="0"/>
              <a:t>6</a:t>
            </a:fld>
            <a:endParaRPr lang="es-MX" dirty="0"/>
          </a:p>
        </p:txBody>
      </p:sp>
    </p:spTree>
    <p:extLst>
      <p:ext uri="{BB962C8B-B14F-4D97-AF65-F5344CB8AC3E}">
        <p14:creationId xmlns:p14="http://schemas.microsoft.com/office/powerpoint/2010/main" val="1447061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8BF7482-BE1C-6ADA-CB37-4CABF0AB4EF9}"/>
                  </a:ext>
                </a:extLst>
              </p:cNvPr>
              <p:cNvSpPr>
                <a:spLocks noGrp="1"/>
              </p:cNvSpPr>
              <p:nvPr>
                <p:ph idx="1"/>
              </p:nvPr>
            </p:nvSpPr>
            <p:spPr>
              <a:xfrm>
                <a:off x="838200" y="658761"/>
                <a:ext cx="10515600" cy="5518202"/>
              </a:xfrm>
            </p:spPr>
            <p:txBody>
              <a:bodyPr/>
              <a:lstStyle/>
              <a:p>
                <a:pPr marL="0" indent="0">
                  <a:buNone/>
                </a:pPr>
                <a:r>
                  <a:rPr lang="es-MX" sz="2400" b="1" dirty="0"/>
                  <a:t>Paso 3 — ratios Rᵢⱼ:</a:t>
                </a:r>
                <a:endParaRPr lang="es-MX" sz="2400" dirty="0"/>
              </a:p>
              <a:p>
                <a:pPr marL="0" indent="0">
                  <a:buNone/>
                </a:pPr>
                <a:r>
                  <a:rPr lang="es-MX" sz="2400" dirty="0"/>
                  <a:t>R₁₂ = R₂₁ = (0.67+0.50)/5.5 = </a:t>
                </a:r>
                <a:r>
                  <a:rPr lang="es-MX" sz="2400" b="1" dirty="0"/>
                  <a:t>0.213</a:t>
                </a:r>
                <a:r>
                  <a:rPr lang="es-MX" sz="2400" dirty="0"/>
                  <a:t>, </a:t>
                </a:r>
              </a:p>
              <a:p>
                <a:pPr marL="0" indent="0">
                  <a:buNone/>
                </a:pPr>
                <a:r>
                  <a:rPr lang="es-MX" sz="2400" dirty="0"/>
                  <a:t>R₁₃ = R₃₁ = (0.67+0.67)/14 = </a:t>
                </a:r>
                <a:r>
                  <a:rPr lang="es-MX" sz="2400" b="1" dirty="0"/>
                  <a:t>0.096 </a:t>
                </a:r>
                <a:endParaRPr lang="es-MX" sz="2400" dirty="0"/>
              </a:p>
              <a:p>
                <a:pPr marL="0" indent="0">
                  <a:buNone/>
                </a:pPr>
                <a:r>
                  <a:rPr lang="es-MX" sz="2400" dirty="0"/>
                  <a:t>R₂₃ = R₃₂ = (0.50+0.67)/8.5 = </a:t>
                </a:r>
                <a:r>
                  <a:rPr lang="es-MX" sz="2400" b="1" dirty="0"/>
                  <a:t>0.138</a:t>
                </a:r>
                <a:endParaRPr lang="es-MX" sz="2400" dirty="0"/>
              </a:p>
              <a:p>
                <a:pPr marL="0" indent="0">
                  <a:buNone/>
                </a:pPr>
                <a:r>
                  <a:rPr lang="es-MX" sz="2400" b="1" dirty="0"/>
                  <a:t>Paso 4 — máximo por clúster:</a:t>
                </a:r>
                <a:endParaRPr lang="es-MX" sz="2400" dirty="0"/>
              </a:p>
              <a:p>
                <a:pPr marL="0" indent="0">
                  <a:buNone/>
                </a:pPr>
                <a:r>
                  <a:rPr lang="es-MX" sz="2400" dirty="0"/>
                  <a:t>Clúster 1: </a:t>
                </a:r>
                <a:r>
                  <a:rPr lang="es-MX" sz="2400" dirty="0" err="1"/>
                  <a:t>max</a:t>
                </a:r>
                <a:r>
                  <a:rPr lang="es-MX" sz="2400" dirty="0"/>
                  <a:t>(R₁₂, R₁₃) = 0.213</a:t>
                </a:r>
              </a:p>
              <a:p>
                <a:pPr marL="0" indent="0">
                  <a:buNone/>
                </a:pPr>
                <a:r>
                  <a:rPr lang="es-MX" sz="2400" dirty="0"/>
                  <a:t>Clúster 2: </a:t>
                </a:r>
                <a:r>
                  <a:rPr lang="es-MX" sz="2400" dirty="0" err="1"/>
                  <a:t>max</a:t>
                </a:r>
                <a:r>
                  <a:rPr lang="es-MX" sz="2400" dirty="0"/>
                  <a:t>(R₂₁, R₂₃) = 0.213</a:t>
                </a:r>
              </a:p>
              <a:p>
                <a:pPr marL="0" indent="0">
                  <a:buNone/>
                </a:pPr>
                <a:r>
                  <a:rPr lang="es-MX" sz="2400" dirty="0"/>
                  <a:t>Clúster 3: </a:t>
                </a:r>
                <a:r>
                  <a:rPr lang="es-MX" sz="2400" dirty="0" err="1"/>
                  <a:t>max</a:t>
                </a:r>
                <a:r>
                  <a:rPr lang="es-MX" sz="2400" dirty="0"/>
                  <a:t>(R₃₁, R₃₂) = 0.138</a:t>
                </a:r>
              </a:p>
              <a:p>
                <a:pPr marL="0" indent="0">
                  <a:buNone/>
                </a:pPr>
                <a:r>
                  <a:rPr lang="es-MX" sz="2400" b="1" dirty="0"/>
                  <a:t>Paso 5 — DBI final:</a:t>
                </a:r>
                <a:endParaRPr lang="es-MX" sz="2400" dirty="0"/>
              </a:p>
              <a:p>
                <a:pPr marL="0" indent="0">
                  <a:buNone/>
                </a:pPr>
                <a14:m>
                  <m:oMathPara xmlns:m="http://schemas.openxmlformats.org/officeDocument/2006/math">
                    <m:oMath>
                      <m:r>
                        <a:rPr lang="es-MX" sz="2400" i="1">
                          <a:latin typeface="Cambria Math" panose="02040503050406030204" pitchFamily="18" charset="0"/>
                        </a:rPr>
                        <m:t>𝐷𝐵𝐼</m:t>
                      </m:r>
                      <m:r>
                        <a:rPr lang="es-MX"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0.213+0.213+0.138</m:t>
                          </m:r>
                        </m:num>
                        <m:den>
                          <m:r>
                            <a:rPr lang="ar-AE" sz="2400">
                              <a:latin typeface="Cambria Math" panose="02040503050406030204" pitchFamily="18" charset="0"/>
                            </a:rPr>
                            <m:t>3</m:t>
                          </m:r>
                        </m:den>
                      </m:f>
                      <m:r>
                        <a:rPr lang="ar-AE" sz="2400">
                          <a:latin typeface="Cambria Math" panose="02040503050406030204" pitchFamily="18" charset="0"/>
                        </a:rPr>
                        <m:t>≈0.188</m:t>
                      </m:r>
                    </m:oMath>
                  </m:oMathPara>
                </a14:m>
                <a:endParaRPr lang="ar-AE" sz="240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58BF7482-BE1C-6ADA-CB37-4CABF0AB4EF9}"/>
                  </a:ext>
                </a:extLst>
              </p:cNvPr>
              <p:cNvSpPr>
                <a:spLocks noGrp="1" noRot="1" noChangeAspect="1" noMove="1" noResize="1" noEditPoints="1" noAdjustHandles="1" noChangeArrowheads="1" noChangeShapeType="1" noTextEdit="1"/>
              </p:cNvSpPr>
              <p:nvPr>
                <p:ph idx="1"/>
              </p:nvPr>
            </p:nvSpPr>
            <p:spPr>
              <a:xfrm>
                <a:off x="838200" y="658761"/>
                <a:ext cx="10515600" cy="5518202"/>
              </a:xfrm>
              <a:blipFill>
                <a:blip r:embed="rId2"/>
                <a:stretch>
                  <a:fillRect l="-928" t="-1657"/>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6437D3BE-5812-6513-E4DE-0DE77AC882F8}"/>
              </a:ext>
            </a:extLst>
          </p:cNvPr>
          <p:cNvSpPr>
            <a:spLocks noGrp="1"/>
          </p:cNvSpPr>
          <p:nvPr>
            <p:ph type="sldNum" sz="quarter" idx="12"/>
          </p:nvPr>
        </p:nvSpPr>
        <p:spPr/>
        <p:txBody>
          <a:bodyPr/>
          <a:lstStyle/>
          <a:p>
            <a:fld id="{01DE96D7-2428-4FB8-BC54-9541E69FDA26}" type="slidenum">
              <a:rPr lang="es-MX" smtClean="0"/>
              <a:t>7</a:t>
            </a:fld>
            <a:endParaRPr lang="es-MX" dirty="0"/>
          </a:p>
        </p:txBody>
      </p:sp>
    </p:spTree>
    <p:extLst>
      <p:ext uri="{BB962C8B-B14F-4D97-AF65-F5344CB8AC3E}">
        <p14:creationId xmlns:p14="http://schemas.microsoft.com/office/powerpoint/2010/main" val="243865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D1B17E-2ED8-B4A2-F724-5A437F3E9D19}"/>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61EA988-0A2D-E8A3-33C1-6B7C3BF68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43D7F39-C8A0-CB28-D907-35A8313C2A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AEFD454-B904-93C2-E07D-1ECDECC94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8A16AC6-F40A-5516-B545-AF88D101F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ítulo 1">
            <a:extLst>
              <a:ext uri="{FF2B5EF4-FFF2-40B4-BE49-F238E27FC236}">
                <a16:creationId xmlns:a16="http://schemas.microsoft.com/office/drawing/2014/main" id="{55DB283D-DEE4-3223-1AC0-6C6D209765BB}"/>
              </a:ext>
            </a:extLst>
          </p:cNvPr>
          <p:cNvSpPr>
            <a:spLocks noGrp="1"/>
          </p:cNvSpPr>
          <p:nvPr>
            <p:ph type="title"/>
          </p:nvPr>
        </p:nvSpPr>
        <p:spPr>
          <a:xfrm>
            <a:off x="1371597" y="348865"/>
            <a:ext cx="10044023" cy="877729"/>
          </a:xfrm>
        </p:spPr>
        <p:txBody>
          <a:bodyPr anchor="ctr">
            <a:normAutofit/>
          </a:bodyPr>
          <a:lstStyle/>
          <a:p>
            <a:r>
              <a:rPr lang="es-MX" sz="4000" dirty="0">
                <a:solidFill>
                  <a:schemeClr val="bg1"/>
                </a:solidFill>
              </a:rPr>
              <a:t>Coeficiente </a:t>
            </a:r>
            <a:r>
              <a:rPr lang="es-MX" sz="4000" dirty="0" err="1">
                <a:solidFill>
                  <a:schemeClr val="bg1"/>
                </a:solidFill>
              </a:rPr>
              <a:t>Silhouette</a:t>
            </a:r>
            <a:endParaRPr lang="es-MX" sz="4000" dirty="0">
              <a:solidFill>
                <a:schemeClr val="bg1"/>
              </a:solidFill>
            </a:endParaRPr>
          </a:p>
        </p:txBody>
      </p:sp>
      <p:sp>
        <p:nvSpPr>
          <p:cNvPr id="4" name="Marcador de número de diapositiva 3">
            <a:extLst>
              <a:ext uri="{FF2B5EF4-FFF2-40B4-BE49-F238E27FC236}">
                <a16:creationId xmlns:a16="http://schemas.microsoft.com/office/drawing/2014/main" id="{8CAC911D-C625-5142-C359-C44E64DE1626}"/>
              </a:ext>
            </a:extLst>
          </p:cNvPr>
          <p:cNvSpPr>
            <a:spLocks noGrp="1"/>
          </p:cNvSpPr>
          <p:nvPr>
            <p:ph type="sldNum" sz="quarter" idx="12"/>
          </p:nvPr>
        </p:nvSpPr>
        <p:spPr>
          <a:xfrm>
            <a:off x="11704320" y="6455664"/>
            <a:ext cx="448056" cy="365125"/>
          </a:xfrm>
        </p:spPr>
        <p:txBody>
          <a:bodyPr>
            <a:normAutofit/>
          </a:bodyPr>
          <a:lstStyle/>
          <a:p>
            <a:pPr>
              <a:spcAft>
                <a:spcPts val="600"/>
              </a:spcAft>
            </a:pPr>
            <a:fld id="{01DE96D7-2428-4FB8-BC54-9541E69FDA26}" type="slidenum">
              <a:rPr lang="es-MX" sz="1100">
                <a:solidFill>
                  <a:schemeClr val="tx1">
                    <a:lumMod val="50000"/>
                    <a:lumOff val="50000"/>
                  </a:schemeClr>
                </a:solidFill>
              </a:rPr>
              <a:pPr>
                <a:spcAft>
                  <a:spcPts val="600"/>
                </a:spcAft>
              </a:pPr>
              <a:t>8</a:t>
            </a:fld>
            <a:endParaRPr lang="es-MX" sz="110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7C8561-1994-03A0-AE0C-982074BFFD2D}"/>
                  </a:ext>
                </a:extLst>
              </p:cNvPr>
              <p:cNvSpPr>
                <a:spLocks noGrp="1"/>
              </p:cNvSpPr>
              <p:nvPr>
                <p:ph idx="1"/>
              </p:nvPr>
            </p:nvSpPr>
            <p:spPr>
              <a:xfrm>
                <a:off x="275303" y="1825625"/>
                <a:ext cx="11720052" cy="4351338"/>
              </a:xfrm>
            </p:spPr>
            <p:txBody>
              <a:bodyPr>
                <a:normAutofit fontScale="77500" lnSpcReduction="20000"/>
              </a:bodyPr>
              <a:lstStyle/>
              <a:p>
                <a:pPr marL="0" indent="0">
                  <a:buNone/>
                </a:pPr>
                <a:r>
                  <a:rPr lang="es-MX" dirty="0"/>
                  <a:t>Evalúa cada punto individualmente.</a:t>
                </a:r>
              </a:p>
              <a:p>
                <a:pPr marL="0" indent="0">
                  <a:buNone/>
                </a:pPr>
                <a:r>
                  <a:rPr lang="es-MX" dirty="0"/>
                  <a:t>Para cada punto xᵢ:</a:t>
                </a:r>
              </a:p>
              <a:p>
                <a:pPr marL="0" indent="0">
                  <a:buNone/>
                </a:pPr>
                <a14:m>
                  <m:oMathPara xmlns:m="http://schemas.openxmlformats.org/officeDocument/2006/math">
                    <m:oMath>
                      <m:r>
                        <a:rPr lang="es-MX" i="1">
                          <a:latin typeface="Cambria Math" panose="02040503050406030204" pitchFamily="18" charset="0"/>
                        </a:rPr>
                        <m:t>𝑎</m:t>
                      </m:r>
                      <m:d>
                        <m:dPr>
                          <m:ctrlPr>
                            <a:rPr lang="ar-AE" i="1">
                              <a:latin typeface="Cambria Math" panose="02040503050406030204" pitchFamily="18" charset="0"/>
                            </a:rPr>
                          </m:ctrlPr>
                        </m:dPr>
                        <m:e>
                          <m:r>
                            <a:rPr lang="ar-AE" i="1">
                              <a:latin typeface="Cambria Math" panose="02040503050406030204" pitchFamily="18" charset="0"/>
                            </a:rPr>
                            <m:t>𝑖</m:t>
                          </m:r>
                        </m:e>
                      </m:d>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𝑗</m:t>
                              </m:r>
                              <m:d>
                                <m:dPr>
                                  <m:ctrlPr>
                                    <a:rPr lang="ar-AE" i="1">
                                      <a:latin typeface="Cambria Math" panose="02040503050406030204" pitchFamily="18" charset="0"/>
                                    </a:rPr>
                                  </m:ctrlPr>
                                </m:dPr>
                                <m:e>
                                  <m:r>
                                    <a:rPr lang="ar-AE" i="1">
                                      <a:latin typeface="Cambria Math" panose="02040503050406030204" pitchFamily="18" charset="0"/>
                                    </a:rPr>
                                    <m:t>𝑖</m:t>
                                  </m:r>
                                </m:e>
                              </m:d>
                            </m:sub>
                          </m:sSub>
                          <m:r>
                            <a:rPr lang="ar-AE">
                              <a:latin typeface="Cambria Math" panose="02040503050406030204" pitchFamily="18" charset="0"/>
                            </a:rPr>
                            <m:t>∣−1</m:t>
                          </m:r>
                        </m:den>
                      </m:f>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𝑗</m:t>
                              </m:r>
                              <m:d>
                                <m:dPr>
                                  <m:ctrlPr>
                                    <a:rPr lang="ar-AE" i="1">
                                      <a:latin typeface="Cambria Math" panose="02040503050406030204" pitchFamily="18" charset="0"/>
                                    </a:rPr>
                                  </m:ctrlPr>
                                </m:dPr>
                                <m:e>
                                  <m:r>
                                    <a:rPr lang="ar-AE" i="1">
                                      <a:latin typeface="Cambria Math" panose="02040503050406030204" pitchFamily="18" charset="0"/>
                                    </a:rPr>
                                    <m:t>𝑖</m:t>
                                  </m:r>
                                </m:e>
                              </m:d>
                            </m:sub>
                          </m:sSub>
                          <m:r>
                            <a:rPr lang="ar-AE">
                              <a:latin typeface="Cambria Math" panose="02040503050406030204" pitchFamily="18" charset="0"/>
                            </a:rPr>
                            <m:t>,</m:t>
                          </m:r>
                          <m:r>
                            <m:rPr>
                              <m:nor/>
                            </m:rPr>
                            <a:rPr lang="ar-AE" i="1"/>
                            <m:t> </m:t>
                          </m:r>
                          <m:r>
                            <a:rPr lang="ar-AE" i="1">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sub>
                        <m:sup/>
                        <m:e>
                          <m:r>
                            <a:rPr lang="ar-AE">
                              <a:latin typeface="Cambria Math" panose="02040503050406030204" pitchFamily="18" charset="0"/>
                            </a:rPr>
                            <m:t>∥</m:t>
                          </m:r>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oMath>
                  </m:oMathPara>
                </a14:m>
                <a:endParaRPr lang="ar-AE" dirty="0"/>
              </a:p>
              <a:p>
                <a:pPr marL="0" indent="0">
                  <a:buNone/>
                </a:pPr>
                <a:r>
                  <a:rPr lang="es-MX" dirty="0"/>
                  <a:t>a(i) es la distancia media de xᵢ a todos los demás puntos de su propio clúster. Mide </a:t>
                </a:r>
                <a:r>
                  <a:rPr lang="es-MX" b="1" dirty="0"/>
                  <a:t>cohesión</a:t>
                </a:r>
                <a:r>
                  <a:rPr lang="es-MX" dirty="0"/>
                  <a:t>: cuanto menor, mejor integrado está el punto.</a:t>
                </a:r>
              </a:p>
              <a:p>
                <a:pPr marL="0" indent="0">
                  <a:buNone/>
                </a:pPr>
                <a14:m>
                  <m:oMathPara xmlns:m="http://schemas.openxmlformats.org/officeDocument/2006/math">
                    <m:oMath>
                      <m:r>
                        <a:rPr lang="es-MX" i="1">
                          <a:latin typeface="Cambria Math" panose="02040503050406030204" pitchFamily="18" charset="0"/>
                        </a:rPr>
                        <m:t>𝑏</m:t>
                      </m:r>
                      <m:d>
                        <m:dPr>
                          <m:ctrlPr>
                            <a:rPr lang="ar-AE" i="1">
                              <a:latin typeface="Cambria Math" panose="02040503050406030204" pitchFamily="18" charset="0"/>
                            </a:rPr>
                          </m:ctrlPr>
                        </m:dPr>
                        <m:e>
                          <m:r>
                            <a:rPr lang="ar-AE" i="1">
                              <a:latin typeface="Cambria Math" panose="02040503050406030204" pitchFamily="18" charset="0"/>
                            </a:rPr>
                            <m:t>𝑖</m:t>
                          </m:r>
                        </m:e>
                      </m:d>
                      <m:r>
                        <a:rPr lang="ar-AE">
                          <a:latin typeface="Cambria Math" panose="02040503050406030204" pitchFamily="18" charset="0"/>
                        </a:rPr>
                        <m:t>=</m:t>
                      </m:r>
                      <m:limLow>
                        <m:limLowPr>
                          <m:ctrlPr>
                            <a:rPr lang="es-MX" i="1">
                              <a:latin typeface="Cambria Math" panose="02040503050406030204" pitchFamily="18" charset="0"/>
                            </a:rPr>
                          </m:ctrlPr>
                        </m:limLowPr>
                        <m:e>
                          <m:func>
                            <m:funcPr>
                              <m:ctrlPr>
                                <a:rPr lang="es-MX">
                                  <a:latin typeface="Cambria Math" panose="02040503050406030204" pitchFamily="18" charset="0"/>
                                </a:rPr>
                              </m:ctrlPr>
                            </m:funcPr>
                            <m:fName>
                              <m:r>
                                <m:rPr>
                                  <m:sty m:val="p"/>
                                </m:rPr>
                                <a:rPr lang="es-MX">
                                  <a:latin typeface="Cambria Math" panose="02040503050406030204" pitchFamily="18" charset="0"/>
                                </a:rPr>
                                <m:t>min</m:t>
                              </m:r>
                            </m:fName>
                            <m:e>
                              <m:r>
                                <a:rPr lang="es-MX" i="1">
                                  <a:latin typeface="Cambria Math" panose="02040503050406030204" pitchFamily="18" charset="0"/>
                                </a:rPr>
                                <m:t> </m:t>
                              </m:r>
                            </m:e>
                          </m:func>
                        </m:e>
                        <m:lim>
                          <m:r>
                            <a:rPr lang="ar-AE" i="1">
                              <a:latin typeface="Cambria Math" panose="02040503050406030204" pitchFamily="18" charset="0"/>
                            </a:rPr>
                            <m:t>𝑗</m:t>
                          </m:r>
                          <m:r>
                            <a:rPr lang="ar-AE">
                              <a:latin typeface="Cambria Math" panose="02040503050406030204" pitchFamily="18" charset="0"/>
                            </a:rPr>
                            <m:t>≠</m:t>
                          </m:r>
                          <m:r>
                            <a:rPr lang="ar-AE" i="1">
                              <a:latin typeface="Cambria Math" panose="02040503050406030204" pitchFamily="18" charset="0"/>
                            </a:rPr>
                            <m:t>𝑗</m:t>
                          </m:r>
                          <m:d>
                            <m:dPr>
                              <m:ctrlPr>
                                <a:rPr lang="ar-AE" i="1">
                                  <a:latin typeface="Cambria Math" panose="02040503050406030204" pitchFamily="18" charset="0"/>
                                </a:rPr>
                              </m:ctrlPr>
                            </m:dPr>
                            <m:e>
                              <m:r>
                                <a:rPr lang="ar-AE" i="1">
                                  <a:latin typeface="Cambria Math" panose="02040503050406030204" pitchFamily="18" charset="0"/>
                                </a:rPr>
                                <m:t>𝑖</m:t>
                              </m:r>
                            </m:e>
                          </m:d>
                        </m:lim>
                      </m:limLow>
                      <m:f>
                        <m:fPr>
                          <m:ctrlPr>
                            <a:rPr lang="ar-AE">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𝑗</m:t>
                              </m:r>
                            </m:sub>
                          </m:sSub>
                          <m:r>
                            <a:rPr lang="ar-AE">
                              <a:latin typeface="Cambria Math" panose="02040503050406030204" pitchFamily="18" charset="0"/>
                            </a:rPr>
                            <m:t>∣</m:t>
                          </m:r>
                        </m:den>
                      </m:f>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𝑗</m:t>
                              </m:r>
                            </m:sub>
                          </m:sSub>
                        </m:sub>
                        <m:sup/>
                        <m:e>
                          <m:r>
                            <a:rPr lang="ar-AE">
                              <a:latin typeface="Cambria Math" panose="02040503050406030204" pitchFamily="18" charset="0"/>
                            </a:rPr>
                            <m:t>∥</m:t>
                          </m:r>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oMath>
                  </m:oMathPara>
                </a14:m>
                <a:endParaRPr lang="ar-AE" dirty="0"/>
              </a:p>
              <a:p>
                <a:pPr marL="0" indent="0">
                  <a:buNone/>
                </a:pPr>
                <a:r>
                  <a:rPr lang="es-MX" dirty="0"/>
                  <a:t>b(i) es la distancia media de xᵢ a todos los puntos del clúster vecino más cercano. Mide </a:t>
                </a:r>
                <a:r>
                  <a:rPr lang="es-MX" b="1" dirty="0"/>
                  <a:t>separación</a:t>
                </a:r>
                <a:r>
                  <a:rPr lang="es-MX" dirty="0"/>
                  <a:t>.</a:t>
                </a:r>
              </a:p>
              <a:p>
                <a:pPr marL="0" indent="0">
                  <a:buNone/>
                </a:pPr>
                <a14:m>
                  <m:oMathPara xmlns:m="http://schemas.openxmlformats.org/officeDocument/2006/math">
                    <m:oMath>
                      <m:r>
                        <a:rPr lang="es-MX" i="1">
                          <a:latin typeface="Cambria Math" panose="02040503050406030204" pitchFamily="18" charset="0"/>
                        </a:rPr>
                        <m:t>𝑠</m:t>
                      </m:r>
                      <m:d>
                        <m:dPr>
                          <m:ctrlPr>
                            <a:rPr lang="ar-AE" i="1">
                              <a:latin typeface="Cambria Math" panose="02040503050406030204" pitchFamily="18" charset="0"/>
                            </a:rPr>
                          </m:ctrlPr>
                        </m:dPr>
                        <m:e>
                          <m:r>
                            <a:rPr lang="ar-AE" i="1">
                              <a:latin typeface="Cambria Math" panose="02040503050406030204" pitchFamily="18" charset="0"/>
                            </a:rPr>
                            <m:t>𝑖</m:t>
                          </m:r>
                        </m:e>
                      </m:d>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𝑏</m:t>
                          </m:r>
                          <m:d>
                            <m:dPr>
                              <m:ctrlPr>
                                <a:rPr lang="ar-AE" i="1">
                                  <a:latin typeface="Cambria Math" panose="02040503050406030204" pitchFamily="18" charset="0"/>
                                </a:rPr>
                              </m:ctrlPr>
                            </m:dPr>
                            <m:e>
                              <m:r>
                                <a:rPr lang="ar-AE" i="1">
                                  <a:latin typeface="Cambria Math" panose="02040503050406030204" pitchFamily="18" charset="0"/>
                                </a:rPr>
                                <m:t>𝑖</m:t>
                              </m:r>
                            </m:e>
                          </m:d>
                          <m:r>
                            <a:rPr lang="ar-AE">
                              <a:latin typeface="Cambria Math" panose="02040503050406030204" pitchFamily="18" charset="0"/>
                            </a:rPr>
                            <m:t>−</m:t>
                          </m:r>
                          <m:r>
                            <a:rPr lang="ar-AE" i="1">
                              <a:latin typeface="Cambria Math" panose="02040503050406030204" pitchFamily="18" charset="0"/>
                            </a:rPr>
                            <m:t>𝑎</m:t>
                          </m:r>
                          <m:d>
                            <m:dPr>
                              <m:ctrlPr>
                                <a:rPr lang="ar-AE" i="1">
                                  <a:latin typeface="Cambria Math" panose="02040503050406030204" pitchFamily="18" charset="0"/>
                                </a:rPr>
                              </m:ctrlPr>
                            </m:dPr>
                            <m:e>
                              <m:r>
                                <a:rPr lang="ar-AE" i="1">
                                  <a:latin typeface="Cambria Math" panose="02040503050406030204" pitchFamily="18" charset="0"/>
                                </a:rPr>
                                <m:t>𝑖</m:t>
                              </m:r>
                            </m:e>
                          </m:d>
                        </m:num>
                        <m:den>
                          <m:r>
                            <m:rPr>
                              <m:sty m:val="p"/>
                            </m:rPr>
                            <a:rPr lang="es-MX">
                              <a:latin typeface="Cambria Math" panose="02040503050406030204" pitchFamily="18" charset="0"/>
                            </a:rPr>
                            <m:t>max</m:t>
                          </m:r>
                          <m:r>
                            <a:rPr lang="es-MX">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1">
                                  <a:latin typeface="Cambria Math" panose="02040503050406030204" pitchFamily="18" charset="0"/>
                                </a:rPr>
                                <m:t>𝑎</m:t>
                              </m:r>
                            </m:e>
                            <m:e>
                              <m:d>
                                <m:dPr>
                                  <m:ctrlPr>
                                    <a:rPr lang="ar-AE" i="1">
                                      <a:latin typeface="Cambria Math" panose="02040503050406030204" pitchFamily="18" charset="0"/>
                                    </a:rPr>
                                  </m:ctrlPr>
                                </m:dPr>
                                <m:e>
                                  <m:r>
                                    <a:rPr lang="ar-AE" i="1">
                                      <a:latin typeface="Cambria Math" panose="02040503050406030204" pitchFamily="18" charset="0"/>
                                    </a:rPr>
                                    <m:t>𝑖</m:t>
                                  </m:r>
                                </m:e>
                              </m:d>
                              <m:r>
                                <m:rPr>
                                  <m:nor/>
                                </m:rPr>
                                <a:rPr lang="ar-AE" i="1"/>
                                <m:t> </m:t>
                              </m:r>
                              <m:r>
                                <a:rPr lang="ar-AE" i="1">
                                  <a:latin typeface="Cambria Math" panose="02040503050406030204" pitchFamily="18" charset="0"/>
                                </a:rPr>
                                <m:t>𝑏</m:t>
                              </m:r>
                              <m:d>
                                <m:dPr>
                                  <m:ctrlPr>
                                    <a:rPr lang="ar-AE" i="1">
                                      <a:latin typeface="Cambria Math" panose="02040503050406030204" pitchFamily="18" charset="0"/>
                                    </a:rPr>
                                  </m:ctrlPr>
                                </m:dPr>
                                <m:e>
                                  <m:r>
                                    <a:rPr lang="ar-AE" i="1">
                                      <a:latin typeface="Cambria Math" panose="02040503050406030204" pitchFamily="18" charset="0"/>
                                    </a:rPr>
                                    <m:t>𝑖</m:t>
                                  </m:r>
                                </m:e>
                              </m:d>
                            </m:e>
                          </m:d>
                        </m:den>
                      </m:f>
                      <m:r>
                        <a:rPr lang="es-MX">
                          <a:latin typeface="Cambria Math" panose="02040503050406030204" pitchFamily="18" charset="0"/>
                        </a:rPr>
                        <m:t> , </m:t>
                      </m:r>
                      <m:r>
                        <a:rPr lang="es-MX" i="1">
                          <a:latin typeface="Cambria Math" panose="02040503050406030204" pitchFamily="18" charset="0"/>
                        </a:rPr>
                        <m:t> </m:t>
                      </m:r>
                      <m:acc>
                        <m:accPr>
                          <m:chr m:val="̅"/>
                          <m:ctrlPr>
                            <a:rPr lang="es-MX" i="1">
                              <a:latin typeface="Cambria Math" panose="02040503050406030204" pitchFamily="18" charset="0"/>
                            </a:rPr>
                          </m:ctrlPr>
                        </m:accPr>
                        <m:e>
                          <m:r>
                            <m:rPr>
                              <m:sty m:val="p"/>
                            </m:rPr>
                            <a:rPr lang="es-MX" i="1">
                              <a:latin typeface="Cambria Math" panose="02040503050406030204" pitchFamily="18" charset="0"/>
                            </a:rPr>
                            <m:t>s</m:t>
                          </m:r>
                        </m:e>
                      </m:acc>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𝑛</m:t>
                          </m:r>
                        </m:den>
                      </m:f>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=1</m:t>
                          </m:r>
                        </m:sub>
                        <m:sup>
                          <m:r>
                            <a:rPr lang="ar-AE" i="1">
                              <a:latin typeface="Cambria Math" panose="02040503050406030204" pitchFamily="18" charset="0"/>
                            </a:rPr>
                            <m:t>𝑛</m:t>
                          </m:r>
                        </m:sup>
                        <m:e>
                          <m:r>
                            <a:rPr lang="ar-AE" i="1">
                              <a:latin typeface="Cambria Math" panose="02040503050406030204" pitchFamily="18" charset="0"/>
                            </a:rPr>
                            <m:t>𝑠</m:t>
                          </m:r>
                        </m:e>
                      </m:nary>
                      <m:d>
                        <m:dPr>
                          <m:ctrlPr>
                            <a:rPr lang="ar-AE" i="1">
                              <a:latin typeface="Cambria Math" panose="02040503050406030204" pitchFamily="18" charset="0"/>
                            </a:rPr>
                          </m:ctrlPr>
                        </m:dPr>
                        <m:e>
                          <m:r>
                            <a:rPr lang="ar-AE" i="1">
                              <a:latin typeface="Cambria Math" panose="02040503050406030204" pitchFamily="18" charset="0"/>
                            </a:rPr>
                            <m:t>𝑖</m:t>
                          </m:r>
                        </m:e>
                      </m:d>
                    </m:oMath>
                  </m:oMathPara>
                </a14:m>
                <a:endParaRPr lang="es-MX" dirty="0"/>
              </a:p>
            </p:txBody>
          </p:sp>
        </mc:Choice>
        <mc:Fallback xmlns="">
          <p:sp>
            <p:nvSpPr>
              <p:cNvPr id="3" name="Marcador de contenido 2">
                <a:extLst>
                  <a:ext uri="{FF2B5EF4-FFF2-40B4-BE49-F238E27FC236}">
                    <a16:creationId xmlns:a16="http://schemas.microsoft.com/office/drawing/2014/main" id="{EE7C8561-1994-03A0-AE0C-982074BFFD2D}"/>
                  </a:ext>
                </a:extLst>
              </p:cNvPr>
              <p:cNvSpPr>
                <a:spLocks noGrp="1" noRot="1" noChangeAspect="1" noMove="1" noResize="1" noEditPoints="1" noAdjustHandles="1" noChangeArrowheads="1" noChangeShapeType="1" noTextEdit="1"/>
              </p:cNvSpPr>
              <p:nvPr>
                <p:ph idx="1"/>
              </p:nvPr>
            </p:nvSpPr>
            <p:spPr>
              <a:xfrm>
                <a:off x="275303" y="1825625"/>
                <a:ext cx="11720052" cy="4351338"/>
              </a:xfrm>
              <a:blipFill>
                <a:blip r:embed="rId2"/>
                <a:stretch>
                  <a:fillRect l="-676" t="-2661"/>
                </a:stretch>
              </a:blipFill>
            </p:spPr>
            <p:txBody>
              <a:bodyPr/>
              <a:lstStyle/>
              <a:p>
                <a:r>
                  <a:rPr lang="es-MX">
                    <a:noFill/>
                  </a:rPr>
                  <a:t> </a:t>
                </a:r>
              </a:p>
            </p:txBody>
          </p:sp>
        </mc:Fallback>
      </mc:AlternateContent>
    </p:spTree>
    <p:extLst>
      <p:ext uri="{BB962C8B-B14F-4D97-AF65-F5344CB8AC3E}">
        <p14:creationId xmlns:p14="http://schemas.microsoft.com/office/powerpoint/2010/main" val="842240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BB3D6-DF86-7CA4-77C0-ABFFC18EB5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43126F-FEB1-9B9D-5FD6-510C2750B689}"/>
              </a:ext>
            </a:extLst>
          </p:cNvPr>
          <p:cNvSpPr>
            <a:spLocks noGrp="1"/>
          </p:cNvSpPr>
          <p:nvPr>
            <p:ph type="title"/>
          </p:nvPr>
        </p:nvSpPr>
        <p:spPr>
          <a:xfrm>
            <a:off x="838200" y="365125"/>
            <a:ext cx="1698523" cy="559107"/>
          </a:xfrm>
        </p:spPr>
        <p:txBody>
          <a:bodyPr/>
          <a:lstStyle/>
          <a:p>
            <a:r>
              <a:rPr lang="es-MX" sz="2800" dirty="0"/>
              <a:t>Ejemplo</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3B01B2-4C9A-1B93-D620-8CAF0E25AE80}"/>
                  </a:ext>
                </a:extLst>
              </p:cNvPr>
              <p:cNvSpPr>
                <a:spLocks noGrp="1"/>
              </p:cNvSpPr>
              <p:nvPr>
                <p:ph idx="1"/>
              </p:nvPr>
            </p:nvSpPr>
            <p:spPr>
              <a:xfrm>
                <a:off x="838200" y="1023016"/>
                <a:ext cx="7361903" cy="5515896"/>
              </a:xfrm>
            </p:spPr>
            <p:txBody>
              <a:bodyPr/>
              <a:lstStyle/>
              <a:p>
                <a:pPr marL="0" indent="0">
                  <a:buNone/>
                </a:pPr>
                <a:r>
                  <a:rPr lang="es-MX" sz="2400" dirty="0"/>
                  <a:t>S₁ = {1, 2, 3}, S₂ = {7, 8}, S₃ = {15, 16, 17}</a:t>
                </a:r>
              </a:p>
              <a:p>
                <a:pPr marL="0" indent="0">
                  <a:buNone/>
                </a:pPr>
                <a:r>
                  <a:rPr lang="es-MX" sz="2400" dirty="0"/>
                  <a:t>Calculemos s para el punto </a:t>
                </a:r>
                <a:r>
                  <a:rPr lang="es-MX" sz="2400" b="1" dirty="0"/>
                  <a:t>x = 2</a:t>
                </a:r>
                <a:r>
                  <a:rPr lang="es-MX" sz="2400" dirty="0"/>
                  <a:t> (en S₁):</a:t>
                </a:r>
              </a:p>
              <a:p>
                <a:pPr marL="0" indent="0">
                  <a:buNone/>
                </a:pPr>
                <a:r>
                  <a:rPr lang="es-MX" sz="2400" b="1" dirty="0"/>
                  <a:t>a(2):</a:t>
                </a:r>
                <a:r>
                  <a:rPr lang="es-MX" sz="2400" dirty="0"/>
                  <a:t> distancia media a los otros puntos </a:t>
                </a:r>
              </a:p>
              <a:p>
                <a:pPr marL="0" indent="0">
                  <a:buNone/>
                </a:pPr>
                <a:r>
                  <a:rPr lang="es-MX" sz="2400" dirty="0"/>
                  <a:t>S₁ = (|2−1| + |2−3|)/2 = (1+1)/2 = </a:t>
                </a:r>
                <a:r>
                  <a:rPr lang="es-MX" sz="2400" b="1" dirty="0"/>
                  <a:t>1.0</a:t>
                </a:r>
                <a:endParaRPr lang="es-MX" sz="2400" dirty="0"/>
              </a:p>
              <a:p>
                <a:pPr marL="0" indent="0">
                  <a:buNone/>
                </a:pPr>
                <a:r>
                  <a:rPr lang="es-MX" sz="2400" b="1" dirty="0"/>
                  <a:t>b(2):</a:t>
                </a:r>
                <a:r>
                  <a:rPr lang="es-MX" sz="2400" dirty="0"/>
                  <a:t> distancia media a :</a:t>
                </a:r>
              </a:p>
              <a:p>
                <a:pPr marL="0" indent="0">
                  <a:buNone/>
                </a:pPr>
                <a:r>
                  <a:rPr lang="es-MX" sz="2400" dirty="0"/>
                  <a:t>S₂ = (|2−7| + |2−8|)/2 = (5+6)/2 = 5.5</a:t>
                </a:r>
              </a:p>
              <a:p>
                <a:pPr marL="0" indent="0">
                  <a:buNone/>
                </a:pPr>
                <a:r>
                  <a:rPr lang="es-MX" sz="2400" dirty="0"/>
                  <a:t>S₃ = (|2−15|+|2−16|+|2−17|)/3 = (13+14+15)/3 = 14. </a:t>
                </a:r>
              </a:p>
              <a:p>
                <a:pPr marL="0" indent="0">
                  <a:buNone/>
                </a:pPr>
                <a:r>
                  <a:rPr lang="es-MX" sz="2400" dirty="0"/>
                  <a:t>El mínimo es </a:t>
                </a:r>
                <a:r>
                  <a:rPr lang="es-MX" sz="2400" b="1" dirty="0"/>
                  <a:t>5.5</a:t>
                </a:r>
                <a:r>
                  <a:rPr lang="es-MX" sz="2400" dirty="0"/>
                  <a:t>.</a:t>
                </a:r>
              </a:p>
              <a:p>
                <a:pPr marL="0" indent="0">
                  <a:buNone/>
                </a:pPr>
                <a:endParaRPr lang="es-MX" sz="2400" dirty="0"/>
              </a:p>
              <a:p>
                <a:pPr marL="0" indent="0">
                  <a:buNone/>
                </a:pPr>
                <a14:m>
                  <m:oMathPara xmlns:m="http://schemas.openxmlformats.org/officeDocument/2006/math">
                    <m:oMath>
                      <m:r>
                        <a:rPr lang="es-MX" sz="2400" i="1">
                          <a:latin typeface="Cambria Math" panose="02040503050406030204" pitchFamily="18" charset="0"/>
                        </a:rPr>
                        <m:t>𝑠</m:t>
                      </m:r>
                      <m:d>
                        <m:dPr>
                          <m:ctrlPr>
                            <a:rPr lang="ar-AE" sz="2400">
                              <a:latin typeface="Cambria Math" panose="02040503050406030204" pitchFamily="18" charset="0"/>
                            </a:rPr>
                          </m:ctrlPr>
                        </m:dPr>
                        <m:e>
                          <m:r>
                            <a:rPr lang="ar-AE" sz="2400">
                              <a:latin typeface="Cambria Math" panose="02040503050406030204" pitchFamily="18" charset="0"/>
                            </a:rPr>
                            <m:t>2</m:t>
                          </m:r>
                        </m:e>
                      </m:d>
                      <m:r>
                        <a:rPr lang="ar-AE"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5.5−1.0</m:t>
                          </m:r>
                        </m:num>
                        <m:den>
                          <m:r>
                            <m:rPr>
                              <m:sty m:val="p"/>
                            </m:rPr>
                            <a:rPr lang="es-MX" sz="2400">
                              <a:latin typeface="Cambria Math" panose="02040503050406030204" pitchFamily="18" charset="0"/>
                            </a:rPr>
                            <m:t>max</m:t>
                          </m:r>
                          <m:r>
                            <a:rPr lang="es-MX" sz="2400">
                              <a:latin typeface="Cambria Math" panose="02040503050406030204" pitchFamily="18" charset="0"/>
                            </a:rPr>
                            <m:t>⁡</m:t>
                          </m:r>
                          <m:d>
                            <m:dPr>
                              <m:begChr m:val="{"/>
                              <m:endChr m:val="}"/>
                              <m:sepChr m:val=","/>
                              <m:ctrlPr>
                                <a:rPr lang="ar-AE" sz="2400">
                                  <a:latin typeface="Cambria Math" panose="02040503050406030204" pitchFamily="18" charset="0"/>
                                </a:rPr>
                              </m:ctrlPr>
                            </m:dPr>
                            <m:e>
                              <m:r>
                                <a:rPr lang="ar-AE" sz="2400">
                                  <a:latin typeface="Cambria Math" panose="02040503050406030204" pitchFamily="18" charset="0"/>
                                </a:rPr>
                                <m:t>1.0</m:t>
                              </m:r>
                            </m:e>
                            <m:e>
                              <m:r>
                                <m:rPr>
                                  <m:nor/>
                                </m:rPr>
                                <a:rPr lang="ar-AE" sz="2400" i="1"/>
                                <m:t> </m:t>
                              </m:r>
                              <m:r>
                                <a:rPr lang="ar-AE" sz="2400">
                                  <a:latin typeface="Cambria Math" panose="02040503050406030204" pitchFamily="18" charset="0"/>
                                </a:rPr>
                                <m:t>5.5</m:t>
                              </m:r>
                            </m:e>
                          </m:d>
                        </m:den>
                      </m:f>
                      <m:r>
                        <a:rPr lang="ar-AE" sz="2400">
                          <a:latin typeface="Cambria Math" panose="02040503050406030204" pitchFamily="18" charset="0"/>
                        </a:rPr>
                        <m:t>=</m:t>
                      </m:r>
                      <m:f>
                        <m:fPr>
                          <m:ctrlPr>
                            <a:rPr lang="ar-AE" sz="2400">
                              <a:latin typeface="Cambria Math" panose="02040503050406030204" pitchFamily="18" charset="0"/>
                            </a:rPr>
                          </m:ctrlPr>
                        </m:fPr>
                        <m:num>
                          <m:r>
                            <a:rPr lang="ar-AE" sz="2400">
                              <a:latin typeface="Cambria Math" panose="02040503050406030204" pitchFamily="18" charset="0"/>
                            </a:rPr>
                            <m:t>4.5</m:t>
                          </m:r>
                        </m:num>
                        <m:den>
                          <m:r>
                            <a:rPr lang="ar-AE" sz="2400">
                              <a:latin typeface="Cambria Math" panose="02040503050406030204" pitchFamily="18" charset="0"/>
                            </a:rPr>
                            <m:t>5.5</m:t>
                          </m:r>
                        </m:den>
                      </m:f>
                      <m:r>
                        <a:rPr lang="ar-AE" sz="2400">
                          <a:latin typeface="Cambria Math" panose="02040503050406030204" pitchFamily="18" charset="0"/>
                        </a:rPr>
                        <m:t>≈0.818</m:t>
                      </m:r>
                    </m:oMath>
                  </m:oMathPara>
                </a14:m>
                <a:endParaRPr lang="ar-AE" sz="2400" b="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513B01B2-4C9A-1B93-D620-8CAF0E25AE80}"/>
                  </a:ext>
                </a:extLst>
              </p:cNvPr>
              <p:cNvSpPr>
                <a:spLocks noGrp="1" noRot="1" noChangeAspect="1" noMove="1" noResize="1" noEditPoints="1" noAdjustHandles="1" noChangeArrowheads="1" noChangeShapeType="1" noTextEdit="1"/>
              </p:cNvSpPr>
              <p:nvPr>
                <p:ph idx="1"/>
              </p:nvPr>
            </p:nvSpPr>
            <p:spPr>
              <a:xfrm>
                <a:off x="838200" y="1023016"/>
                <a:ext cx="7361903" cy="5515896"/>
              </a:xfrm>
              <a:blipFill>
                <a:blip r:embed="rId2"/>
                <a:stretch>
                  <a:fillRect l="-1326" t="-1436"/>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CD5C52C0-C336-E901-7530-303C28C20B45}"/>
              </a:ext>
            </a:extLst>
          </p:cNvPr>
          <p:cNvSpPr>
            <a:spLocks noGrp="1"/>
          </p:cNvSpPr>
          <p:nvPr>
            <p:ph type="sldNum" sz="quarter" idx="12"/>
          </p:nvPr>
        </p:nvSpPr>
        <p:spPr/>
        <p:txBody>
          <a:bodyPr/>
          <a:lstStyle/>
          <a:p>
            <a:fld id="{01DE96D7-2428-4FB8-BC54-9541E69FDA26}" type="slidenum">
              <a:rPr lang="es-MX" smtClean="0"/>
              <a:t>9</a:t>
            </a:fld>
            <a:endParaRPr lang="es-MX" dirty="0"/>
          </a:p>
        </p:txBody>
      </p:sp>
      <p:sp>
        <p:nvSpPr>
          <p:cNvPr id="5" name="Shape 11">
            <a:extLst>
              <a:ext uri="{FF2B5EF4-FFF2-40B4-BE49-F238E27FC236}">
                <a16:creationId xmlns:a16="http://schemas.microsoft.com/office/drawing/2014/main" id="{690199C3-C95A-B4E8-8A2C-34BEC7397017}"/>
              </a:ext>
            </a:extLst>
          </p:cNvPr>
          <p:cNvSpPr/>
          <p:nvPr/>
        </p:nvSpPr>
        <p:spPr>
          <a:xfrm>
            <a:off x="8012799" y="1323028"/>
            <a:ext cx="3200400" cy="1828800"/>
          </a:xfrm>
          <a:prstGeom prst="rect">
            <a:avLst/>
          </a:prstGeom>
          <a:solidFill>
            <a:srgbClr val="163345"/>
          </a:solidFill>
          <a:ln w="10160">
            <a:solidFill>
              <a:srgbClr val="00A896"/>
            </a:solidFill>
            <a:prstDash val="solid"/>
          </a:ln>
          <a:effectLst>
            <a:outerShdw blurRad="88900" dist="38100" dir="8100000" algn="bl" rotWithShape="0">
              <a:srgbClr val="000000">
                <a:alpha val="22000"/>
              </a:srgbClr>
            </a:outerShdw>
          </a:effectLst>
        </p:spPr>
        <p:txBody>
          <a:bodyPr/>
          <a:lstStyle/>
          <a:p>
            <a:endParaRPr lang="es-MX"/>
          </a:p>
        </p:txBody>
      </p:sp>
      <p:sp>
        <p:nvSpPr>
          <p:cNvPr id="6" name="Shape 12">
            <a:extLst>
              <a:ext uri="{FF2B5EF4-FFF2-40B4-BE49-F238E27FC236}">
                <a16:creationId xmlns:a16="http://schemas.microsoft.com/office/drawing/2014/main" id="{C8004B21-C20A-916B-655B-F5DF2310A88A}"/>
              </a:ext>
            </a:extLst>
          </p:cNvPr>
          <p:cNvSpPr/>
          <p:nvPr/>
        </p:nvSpPr>
        <p:spPr>
          <a:xfrm>
            <a:off x="8012799" y="1323028"/>
            <a:ext cx="3200400" cy="365760"/>
          </a:xfrm>
          <a:prstGeom prst="rect">
            <a:avLst/>
          </a:prstGeom>
          <a:solidFill>
            <a:srgbClr val="00A896"/>
          </a:solidFill>
          <a:ln w="12700">
            <a:solidFill>
              <a:srgbClr val="00A896"/>
            </a:solidFill>
            <a:prstDash val="solid"/>
          </a:ln>
        </p:spPr>
        <p:txBody>
          <a:bodyPr/>
          <a:lstStyle/>
          <a:p>
            <a:endParaRPr lang="es-MX"/>
          </a:p>
        </p:txBody>
      </p:sp>
      <p:sp>
        <p:nvSpPr>
          <p:cNvPr id="7" name="Text 13">
            <a:extLst>
              <a:ext uri="{FF2B5EF4-FFF2-40B4-BE49-F238E27FC236}">
                <a16:creationId xmlns:a16="http://schemas.microsoft.com/office/drawing/2014/main" id="{BD2D25DE-5301-88C0-8F51-888294F1A14A}"/>
              </a:ext>
            </a:extLst>
          </p:cNvPr>
          <p:cNvSpPr/>
          <p:nvPr/>
        </p:nvSpPr>
        <p:spPr>
          <a:xfrm>
            <a:off x="8104239" y="1323028"/>
            <a:ext cx="3017520" cy="365760"/>
          </a:xfrm>
          <a:prstGeom prst="rect">
            <a:avLst/>
          </a:prstGeom>
          <a:noFill/>
          <a:ln/>
        </p:spPr>
        <p:txBody>
          <a:bodyPr wrap="square" rtlCol="0" anchor="ctr"/>
          <a:lstStyle/>
          <a:p>
            <a:pPr marL="0" indent="0">
              <a:buNone/>
            </a:pPr>
            <a:r>
              <a:rPr lang="en-US" sz="1400" b="1" dirty="0">
                <a:solidFill>
                  <a:srgbClr val="0B1D26"/>
                </a:solidFill>
                <a:latin typeface="Trebuchet MS" pitchFamily="34" charset="0"/>
                <a:ea typeface="Trebuchet MS" pitchFamily="34" charset="-122"/>
                <a:cs typeface="Trebuchet MS" pitchFamily="34" charset="-120"/>
              </a:rPr>
              <a:t>Interpretación de s̄</a:t>
            </a:r>
            <a:endParaRPr lang="en-US" sz="1400" dirty="0"/>
          </a:p>
        </p:txBody>
      </p:sp>
      <p:sp>
        <p:nvSpPr>
          <p:cNvPr id="8" name="Shape 14">
            <a:extLst>
              <a:ext uri="{FF2B5EF4-FFF2-40B4-BE49-F238E27FC236}">
                <a16:creationId xmlns:a16="http://schemas.microsoft.com/office/drawing/2014/main" id="{9163E8CC-90B7-E054-DE83-3A4853F4C077}"/>
              </a:ext>
            </a:extLst>
          </p:cNvPr>
          <p:cNvSpPr/>
          <p:nvPr/>
        </p:nvSpPr>
        <p:spPr>
          <a:xfrm>
            <a:off x="8058519" y="1725364"/>
            <a:ext cx="3063240" cy="310896"/>
          </a:xfrm>
          <a:prstGeom prst="rect">
            <a:avLst/>
          </a:prstGeom>
          <a:solidFill>
            <a:srgbClr val="142E3A"/>
          </a:solidFill>
          <a:ln w="12700">
            <a:solidFill>
              <a:srgbClr val="233A44"/>
            </a:solidFill>
            <a:prstDash val="solid"/>
          </a:ln>
        </p:spPr>
        <p:txBody>
          <a:bodyPr/>
          <a:lstStyle/>
          <a:p>
            <a:endParaRPr lang="es-MX"/>
          </a:p>
        </p:txBody>
      </p:sp>
      <p:sp>
        <p:nvSpPr>
          <p:cNvPr id="9" name="Text 15">
            <a:extLst>
              <a:ext uri="{FF2B5EF4-FFF2-40B4-BE49-F238E27FC236}">
                <a16:creationId xmlns:a16="http://schemas.microsoft.com/office/drawing/2014/main" id="{AA3B4914-5089-8396-BEC0-1D8CB04E07B6}"/>
              </a:ext>
            </a:extLst>
          </p:cNvPr>
          <p:cNvSpPr/>
          <p:nvPr/>
        </p:nvSpPr>
        <p:spPr>
          <a:xfrm>
            <a:off x="8104239" y="1725364"/>
            <a:ext cx="1554480" cy="310896"/>
          </a:xfrm>
          <a:prstGeom prst="rect">
            <a:avLst/>
          </a:prstGeom>
          <a:noFill/>
          <a:ln/>
        </p:spPr>
        <p:txBody>
          <a:bodyPr wrap="square" rtlCol="0" anchor="ctr"/>
          <a:lstStyle/>
          <a:p>
            <a:pPr marL="0" indent="0">
              <a:buNone/>
            </a:pPr>
            <a:r>
              <a:rPr lang="en-US" sz="1100" dirty="0">
                <a:solidFill>
                  <a:srgbClr val="DCF0EE"/>
                </a:solidFill>
                <a:latin typeface="Courier New" pitchFamily="34" charset="0"/>
                <a:ea typeface="Courier New" pitchFamily="34" charset="-122"/>
                <a:cs typeface="Courier New" pitchFamily="34" charset="-120"/>
              </a:rPr>
              <a:t>0.71 – 1.00</a:t>
            </a:r>
            <a:endParaRPr lang="en-US" sz="1100" dirty="0"/>
          </a:p>
        </p:txBody>
      </p:sp>
      <p:sp>
        <p:nvSpPr>
          <p:cNvPr id="10" name="Text 16">
            <a:extLst>
              <a:ext uri="{FF2B5EF4-FFF2-40B4-BE49-F238E27FC236}">
                <a16:creationId xmlns:a16="http://schemas.microsoft.com/office/drawing/2014/main" id="{61171600-DC18-D771-C4C7-9D85EF0D1563}"/>
              </a:ext>
            </a:extLst>
          </p:cNvPr>
          <p:cNvSpPr/>
          <p:nvPr/>
        </p:nvSpPr>
        <p:spPr>
          <a:xfrm>
            <a:off x="9658719" y="1725364"/>
            <a:ext cx="1371600" cy="310896"/>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Excelente</a:t>
            </a:r>
            <a:endParaRPr lang="en-US" sz="1100" dirty="0"/>
          </a:p>
        </p:txBody>
      </p:sp>
      <p:sp>
        <p:nvSpPr>
          <p:cNvPr id="11" name="Shape 17">
            <a:extLst>
              <a:ext uri="{FF2B5EF4-FFF2-40B4-BE49-F238E27FC236}">
                <a16:creationId xmlns:a16="http://schemas.microsoft.com/office/drawing/2014/main" id="{B66E3F25-EA74-86ED-60A9-33969CFA82C2}"/>
              </a:ext>
            </a:extLst>
          </p:cNvPr>
          <p:cNvSpPr/>
          <p:nvPr/>
        </p:nvSpPr>
        <p:spPr>
          <a:xfrm>
            <a:off x="8058519" y="2063692"/>
            <a:ext cx="3063240" cy="310896"/>
          </a:xfrm>
          <a:prstGeom prst="rect">
            <a:avLst/>
          </a:prstGeom>
          <a:solidFill>
            <a:srgbClr val="1A3A4A"/>
          </a:solidFill>
          <a:ln w="12700">
            <a:solidFill>
              <a:srgbClr val="233A44"/>
            </a:solidFill>
            <a:prstDash val="solid"/>
          </a:ln>
        </p:spPr>
        <p:txBody>
          <a:bodyPr/>
          <a:lstStyle/>
          <a:p>
            <a:endParaRPr lang="es-MX"/>
          </a:p>
        </p:txBody>
      </p:sp>
      <p:sp>
        <p:nvSpPr>
          <p:cNvPr id="12" name="Text 18">
            <a:extLst>
              <a:ext uri="{FF2B5EF4-FFF2-40B4-BE49-F238E27FC236}">
                <a16:creationId xmlns:a16="http://schemas.microsoft.com/office/drawing/2014/main" id="{40107629-902F-FA41-5FBF-6C5DA70246BE}"/>
              </a:ext>
            </a:extLst>
          </p:cNvPr>
          <p:cNvSpPr/>
          <p:nvPr/>
        </p:nvSpPr>
        <p:spPr>
          <a:xfrm>
            <a:off x="8104239" y="2063692"/>
            <a:ext cx="1554480" cy="310896"/>
          </a:xfrm>
          <a:prstGeom prst="rect">
            <a:avLst/>
          </a:prstGeom>
          <a:noFill/>
          <a:ln/>
        </p:spPr>
        <p:txBody>
          <a:bodyPr wrap="square" rtlCol="0" anchor="ctr"/>
          <a:lstStyle/>
          <a:p>
            <a:pPr marL="0" indent="0">
              <a:buNone/>
            </a:pPr>
            <a:r>
              <a:rPr lang="en-US" sz="1100" dirty="0">
                <a:solidFill>
                  <a:srgbClr val="DCF0EE"/>
                </a:solidFill>
                <a:latin typeface="Courier New" pitchFamily="34" charset="0"/>
                <a:ea typeface="Courier New" pitchFamily="34" charset="-122"/>
                <a:cs typeface="Courier New" pitchFamily="34" charset="-120"/>
              </a:rPr>
              <a:t>0.51 – 0.70</a:t>
            </a:r>
            <a:endParaRPr lang="en-US" sz="1100" dirty="0"/>
          </a:p>
        </p:txBody>
      </p:sp>
      <p:sp>
        <p:nvSpPr>
          <p:cNvPr id="13" name="Text 19">
            <a:extLst>
              <a:ext uri="{FF2B5EF4-FFF2-40B4-BE49-F238E27FC236}">
                <a16:creationId xmlns:a16="http://schemas.microsoft.com/office/drawing/2014/main" id="{BE5A94B0-440A-9732-033E-7834D7C69E9C}"/>
              </a:ext>
            </a:extLst>
          </p:cNvPr>
          <p:cNvSpPr/>
          <p:nvPr/>
        </p:nvSpPr>
        <p:spPr>
          <a:xfrm>
            <a:off x="9658719" y="2063692"/>
            <a:ext cx="1371600" cy="310896"/>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Razonable</a:t>
            </a:r>
            <a:endParaRPr lang="en-US" sz="1100" dirty="0"/>
          </a:p>
        </p:txBody>
      </p:sp>
      <p:sp>
        <p:nvSpPr>
          <p:cNvPr id="14" name="Shape 20">
            <a:extLst>
              <a:ext uri="{FF2B5EF4-FFF2-40B4-BE49-F238E27FC236}">
                <a16:creationId xmlns:a16="http://schemas.microsoft.com/office/drawing/2014/main" id="{7C8DB4E1-656E-E6F1-5DFF-3F9F147B5091}"/>
              </a:ext>
            </a:extLst>
          </p:cNvPr>
          <p:cNvSpPr/>
          <p:nvPr/>
        </p:nvSpPr>
        <p:spPr>
          <a:xfrm>
            <a:off x="8058519" y="2402020"/>
            <a:ext cx="3063240" cy="310896"/>
          </a:xfrm>
          <a:prstGeom prst="rect">
            <a:avLst/>
          </a:prstGeom>
          <a:solidFill>
            <a:srgbClr val="142E3A"/>
          </a:solidFill>
          <a:ln w="12700">
            <a:solidFill>
              <a:srgbClr val="233A44"/>
            </a:solidFill>
            <a:prstDash val="solid"/>
          </a:ln>
        </p:spPr>
        <p:txBody>
          <a:bodyPr/>
          <a:lstStyle/>
          <a:p>
            <a:endParaRPr lang="es-MX"/>
          </a:p>
        </p:txBody>
      </p:sp>
      <p:sp>
        <p:nvSpPr>
          <p:cNvPr id="15" name="Text 21">
            <a:extLst>
              <a:ext uri="{FF2B5EF4-FFF2-40B4-BE49-F238E27FC236}">
                <a16:creationId xmlns:a16="http://schemas.microsoft.com/office/drawing/2014/main" id="{0FE0DCC6-0BA6-D3D6-7C73-3121E426B26A}"/>
              </a:ext>
            </a:extLst>
          </p:cNvPr>
          <p:cNvSpPr/>
          <p:nvPr/>
        </p:nvSpPr>
        <p:spPr>
          <a:xfrm>
            <a:off x="8104239" y="2402020"/>
            <a:ext cx="1554480" cy="310896"/>
          </a:xfrm>
          <a:prstGeom prst="rect">
            <a:avLst/>
          </a:prstGeom>
          <a:noFill/>
          <a:ln/>
        </p:spPr>
        <p:txBody>
          <a:bodyPr wrap="square" rtlCol="0" anchor="ctr"/>
          <a:lstStyle/>
          <a:p>
            <a:pPr marL="0" indent="0">
              <a:buNone/>
            </a:pPr>
            <a:r>
              <a:rPr lang="en-US" sz="1100" dirty="0">
                <a:solidFill>
                  <a:srgbClr val="DCF0EE"/>
                </a:solidFill>
                <a:latin typeface="Courier New" pitchFamily="34" charset="0"/>
                <a:ea typeface="Courier New" pitchFamily="34" charset="-122"/>
                <a:cs typeface="Courier New" pitchFamily="34" charset="-120"/>
              </a:rPr>
              <a:t>0.26 – 0.50</a:t>
            </a:r>
            <a:endParaRPr lang="en-US" sz="1100" dirty="0"/>
          </a:p>
        </p:txBody>
      </p:sp>
      <p:sp>
        <p:nvSpPr>
          <p:cNvPr id="16" name="Text 22">
            <a:extLst>
              <a:ext uri="{FF2B5EF4-FFF2-40B4-BE49-F238E27FC236}">
                <a16:creationId xmlns:a16="http://schemas.microsoft.com/office/drawing/2014/main" id="{B62F6627-F00B-31BF-35DA-A6ED262F4314}"/>
              </a:ext>
            </a:extLst>
          </p:cNvPr>
          <p:cNvSpPr/>
          <p:nvPr/>
        </p:nvSpPr>
        <p:spPr>
          <a:xfrm>
            <a:off x="9658719" y="2402020"/>
            <a:ext cx="1371600" cy="310896"/>
          </a:xfrm>
          <a:prstGeom prst="rect">
            <a:avLst/>
          </a:prstGeom>
          <a:noFill/>
          <a:ln/>
        </p:spPr>
        <p:txBody>
          <a:bodyPr wrap="square" rtlCol="0" anchor="ctr"/>
          <a:lstStyle/>
          <a:p>
            <a:pPr marL="0" indent="0">
              <a:buNone/>
            </a:pPr>
            <a:r>
              <a:rPr lang="en-US" sz="1100" b="1" dirty="0">
                <a:solidFill>
                  <a:srgbClr val="F4C430"/>
                </a:solidFill>
                <a:latin typeface="Calibri" pitchFamily="34" charset="0"/>
                <a:ea typeface="Calibri" pitchFamily="34" charset="-122"/>
                <a:cs typeface="Calibri" pitchFamily="34" charset="-120"/>
              </a:rPr>
              <a:t>Débil</a:t>
            </a:r>
            <a:endParaRPr lang="en-US" sz="1100" dirty="0"/>
          </a:p>
        </p:txBody>
      </p:sp>
      <p:sp>
        <p:nvSpPr>
          <p:cNvPr id="17" name="Shape 23">
            <a:extLst>
              <a:ext uri="{FF2B5EF4-FFF2-40B4-BE49-F238E27FC236}">
                <a16:creationId xmlns:a16="http://schemas.microsoft.com/office/drawing/2014/main" id="{AB17B54F-B348-DDCF-A35B-631A953A6FFC}"/>
              </a:ext>
            </a:extLst>
          </p:cNvPr>
          <p:cNvSpPr/>
          <p:nvPr/>
        </p:nvSpPr>
        <p:spPr>
          <a:xfrm>
            <a:off x="8058519" y="2740348"/>
            <a:ext cx="3063240" cy="310896"/>
          </a:xfrm>
          <a:prstGeom prst="rect">
            <a:avLst/>
          </a:prstGeom>
          <a:solidFill>
            <a:srgbClr val="1A3A4A"/>
          </a:solidFill>
          <a:ln w="12700">
            <a:solidFill>
              <a:srgbClr val="233A44"/>
            </a:solidFill>
            <a:prstDash val="solid"/>
          </a:ln>
        </p:spPr>
        <p:txBody>
          <a:bodyPr/>
          <a:lstStyle/>
          <a:p>
            <a:endParaRPr lang="es-MX"/>
          </a:p>
        </p:txBody>
      </p:sp>
      <p:sp>
        <p:nvSpPr>
          <p:cNvPr id="18" name="Text 24">
            <a:extLst>
              <a:ext uri="{FF2B5EF4-FFF2-40B4-BE49-F238E27FC236}">
                <a16:creationId xmlns:a16="http://schemas.microsoft.com/office/drawing/2014/main" id="{FCB465DC-32F8-2E4D-C468-A9C8152AA1C0}"/>
              </a:ext>
            </a:extLst>
          </p:cNvPr>
          <p:cNvSpPr/>
          <p:nvPr/>
        </p:nvSpPr>
        <p:spPr>
          <a:xfrm>
            <a:off x="8104239" y="2740348"/>
            <a:ext cx="1554480" cy="310896"/>
          </a:xfrm>
          <a:prstGeom prst="rect">
            <a:avLst/>
          </a:prstGeom>
          <a:noFill/>
          <a:ln/>
        </p:spPr>
        <p:txBody>
          <a:bodyPr wrap="square" rtlCol="0" anchor="ctr"/>
          <a:lstStyle/>
          <a:p>
            <a:pPr marL="0" indent="0">
              <a:buNone/>
            </a:pPr>
            <a:r>
              <a:rPr lang="en-US" sz="1100" dirty="0">
                <a:solidFill>
                  <a:srgbClr val="DCF0EE"/>
                </a:solidFill>
                <a:latin typeface="Courier New" pitchFamily="34" charset="0"/>
                <a:ea typeface="Courier New" pitchFamily="34" charset="-122"/>
                <a:cs typeface="Courier New" pitchFamily="34" charset="-120"/>
              </a:rPr>
              <a:t>&lt; 0.25</a:t>
            </a:r>
            <a:endParaRPr lang="en-US" sz="1100" dirty="0"/>
          </a:p>
        </p:txBody>
      </p:sp>
      <p:sp>
        <p:nvSpPr>
          <p:cNvPr id="19" name="Text 25">
            <a:extLst>
              <a:ext uri="{FF2B5EF4-FFF2-40B4-BE49-F238E27FC236}">
                <a16:creationId xmlns:a16="http://schemas.microsoft.com/office/drawing/2014/main" id="{BAD4D7A5-641B-C6D9-0F1E-2D6DB5884C90}"/>
              </a:ext>
            </a:extLst>
          </p:cNvPr>
          <p:cNvSpPr/>
          <p:nvPr/>
        </p:nvSpPr>
        <p:spPr>
          <a:xfrm>
            <a:off x="9658719" y="2740348"/>
            <a:ext cx="1371600" cy="310896"/>
          </a:xfrm>
          <a:prstGeom prst="rect">
            <a:avLst/>
          </a:prstGeom>
          <a:noFill/>
          <a:ln/>
        </p:spPr>
        <p:txBody>
          <a:bodyPr wrap="square" rtlCol="0" anchor="ctr"/>
          <a:lstStyle/>
          <a:p>
            <a:pPr marL="0" indent="0">
              <a:buNone/>
            </a:pPr>
            <a:r>
              <a:rPr lang="en-US" sz="1100" b="1" dirty="0">
                <a:solidFill>
                  <a:srgbClr val="E05C5C"/>
                </a:solidFill>
                <a:latin typeface="Calibri" pitchFamily="34" charset="0"/>
                <a:ea typeface="Calibri" pitchFamily="34" charset="-122"/>
                <a:cs typeface="Calibri" pitchFamily="34" charset="-120"/>
              </a:rPr>
              <a:t>No hay estructura</a:t>
            </a:r>
            <a:endParaRPr lang="en-US" sz="1100" dirty="0"/>
          </a:p>
        </p:txBody>
      </p:sp>
    </p:spTree>
    <p:extLst>
      <p:ext uri="{BB962C8B-B14F-4D97-AF65-F5344CB8AC3E}">
        <p14:creationId xmlns:p14="http://schemas.microsoft.com/office/powerpoint/2010/main" val="283310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E512EA4-4E68-93A4-E18F-C08D96D2A18F}"/>
                  </a:ext>
                </a:extLst>
              </p:cNvPr>
              <p:cNvSpPr>
                <a:spLocks noGrp="1"/>
              </p:cNvSpPr>
              <p:nvPr>
                <p:ph idx="1"/>
              </p:nvPr>
            </p:nvSpPr>
            <p:spPr>
              <a:xfrm>
                <a:off x="838200" y="1356852"/>
                <a:ext cx="10515600" cy="4820111"/>
              </a:xfrm>
            </p:spPr>
            <p:txBody>
              <a:bodyPr/>
              <a:lstStyle/>
              <a:p>
                <a:pPr marL="0" indent="0">
                  <a:buNone/>
                </a:pPr>
                <a:r>
                  <a:rPr lang="es-MX" dirty="0"/>
                  <a:t>Ahora el punto </a:t>
                </a:r>
                <a:r>
                  <a:rPr lang="es-MX" b="1" dirty="0"/>
                  <a:t>x = 7</a:t>
                </a:r>
                <a:r>
                  <a:rPr lang="es-MX" dirty="0"/>
                  <a:t> (en S₂):</a:t>
                </a:r>
              </a:p>
              <a:p>
                <a:pPr marL="0" indent="0">
                  <a:buNone/>
                </a:pPr>
                <a:r>
                  <a:rPr lang="es-MX" b="1" dirty="0"/>
                  <a:t>a(7):</a:t>
                </a:r>
                <a:r>
                  <a:rPr lang="es-MX" dirty="0"/>
                  <a:t> distancia media a los otros puntos de S₂ = |7−8|/1 = </a:t>
                </a:r>
                <a:r>
                  <a:rPr lang="es-MX" b="1" dirty="0"/>
                  <a:t>1.0</a:t>
                </a:r>
                <a:endParaRPr lang="es-MX" dirty="0"/>
              </a:p>
              <a:p>
                <a:pPr marL="0" indent="0">
                  <a:buNone/>
                </a:pPr>
                <a:r>
                  <a:rPr lang="es-MX" b="1" dirty="0"/>
                  <a:t>b(7):</a:t>
                </a:r>
                <a:r>
                  <a:rPr lang="es-MX" dirty="0"/>
                  <a:t> distancia media a </a:t>
                </a:r>
              </a:p>
              <a:p>
                <a:pPr marL="0" indent="0">
                  <a:buNone/>
                </a:pPr>
                <a:r>
                  <a:rPr lang="es-MX" dirty="0"/>
                  <a:t>S₁ = (|7−1|+|7−2|+|7−3|)/3 = (6+5+4)/3 = 5.0; </a:t>
                </a:r>
              </a:p>
              <a:p>
                <a:pPr marL="0" indent="0">
                  <a:buNone/>
                </a:pPr>
                <a:r>
                  <a:rPr lang="es-MX" dirty="0"/>
                  <a:t>S₃ = (|7−15|+|7−16|+|7−17|)/3 = (8+9+10)/3 = 9.0</a:t>
                </a:r>
              </a:p>
              <a:p>
                <a:pPr marL="0" indent="0">
                  <a:buNone/>
                </a:pPr>
                <a:r>
                  <a:rPr lang="es-MX" dirty="0"/>
                  <a:t>El mínimo es </a:t>
                </a:r>
                <a:r>
                  <a:rPr lang="es-MX" b="1" dirty="0"/>
                  <a:t>5.0</a:t>
                </a:r>
                <a:r>
                  <a:rPr lang="es-MX" dirty="0"/>
                  <a:t>.</a:t>
                </a:r>
              </a:p>
              <a:p>
                <a:pPr marL="0" indent="0">
                  <a:buNone/>
                </a:pPr>
                <a14:m>
                  <m:oMathPara xmlns:m="http://schemas.openxmlformats.org/officeDocument/2006/math">
                    <m:oMath>
                      <m:r>
                        <a:rPr lang="es-MX" i="1">
                          <a:latin typeface="Cambria Math" panose="02040503050406030204" pitchFamily="18" charset="0"/>
                        </a:rPr>
                        <m:t>𝑠</m:t>
                      </m:r>
                      <m:d>
                        <m:dPr>
                          <m:ctrlPr>
                            <a:rPr lang="ar-AE">
                              <a:latin typeface="Cambria Math" panose="02040503050406030204" pitchFamily="18" charset="0"/>
                            </a:rPr>
                          </m:ctrlPr>
                        </m:dPr>
                        <m:e>
                          <m:r>
                            <a:rPr lang="ar-AE">
                              <a:latin typeface="Cambria Math" panose="02040503050406030204" pitchFamily="18" charset="0"/>
                            </a:rPr>
                            <m:t>7</m:t>
                          </m:r>
                        </m:e>
                      </m:d>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5.0−1.0</m:t>
                          </m:r>
                        </m:num>
                        <m:den>
                          <m:r>
                            <m:rPr>
                              <m:sty m:val="p"/>
                            </m:rPr>
                            <a:rPr lang="es-MX">
                              <a:latin typeface="Cambria Math" panose="02040503050406030204" pitchFamily="18" charset="0"/>
                            </a:rPr>
                            <m:t>max</m:t>
                          </m:r>
                          <m:r>
                            <a:rPr lang="es-MX">
                              <a:latin typeface="Cambria Math" panose="02040503050406030204" pitchFamily="18" charset="0"/>
                            </a:rPr>
                            <m:t>⁡</m:t>
                          </m:r>
                          <m:d>
                            <m:dPr>
                              <m:begChr m:val="{"/>
                              <m:endChr m:val="}"/>
                              <m:sepChr m:val=","/>
                              <m:ctrlPr>
                                <a:rPr lang="ar-AE">
                                  <a:latin typeface="Cambria Math" panose="02040503050406030204" pitchFamily="18" charset="0"/>
                                </a:rPr>
                              </m:ctrlPr>
                            </m:dPr>
                            <m:e>
                              <m:r>
                                <a:rPr lang="ar-AE">
                                  <a:latin typeface="Cambria Math" panose="02040503050406030204" pitchFamily="18" charset="0"/>
                                </a:rPr>
                                <m:t>1.0</m:t>
                              </m:r>
                            </m:e>
                            <m:e>
                              <m:r>
                                <m:rPr>
                                  <m:nor/>
                                </m:rPr>
                                <a:rPr lang="ar-AE" i="1"/>
                                <m:t> </m:t>
                              </m:r>
                              <m:r>
                                <a:rPr lang="ar-AE">
                                  <a:latin typeface="Cambria Math" panose="02040503050406030204" pitchFamily="18" charset="0"/>
                                </a:rPr>
                                <m:t>5.0</m:t>
                              </m:r>
                            </m:e>
                          </m:d>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4.0</m:t>
                          </m:r>
                        </m:num>
                        <m:den>
                          <m:r>
                            <a:rPr lang="ar-AE">
                              <a:latin typeface="Cambria Math" panose="02040503050406030204" pitchFamily="18" charset="0"/>
                            </a:rPr>
                            <m:t>5.0</m:t>
                          </m:r>
                        </m:den>
                      </m:f>
                      <m:r>
                        <a:rPr lang="ar-AE">
                          <a:latin typeface="Cambria Math" panose="02040503050406030204" pitchFamily="18" charset="0"/>
                        </a:rPr>
                        <m:t>=0.800</m:t>
                      </m:r>
                    </m:oMath>
                  </m:oMathPara>
                </a14:m>
                <a:endParaRPr lang="ar-AE" b="0" dirty="0"/>
              </a:p>
              <a:p>
                <a:endParaRPr lang="es-MX" dirty="0"/>
              </a:p>
            </p:txBody>
          </p:sp>
        </mc:Choice>
        <mc:Fallback xmlns="">
          <p:sp>
            <p:nvSpPr>
              <p:cNvPr id="3" name="Marcador de contenido 2">
                <a:extLst>
                  <a:ext uri="{FF2B5EF4-FFF2-40B4-BE49-F238E27FC236}">
                    <a16:creationId xmlns:a16="http://schemas.microsoft.com/office/drawing/2014/main" id="{0E512EA4-4E68-93A4-E18F-C08D96D2A18F}"/>
                  </a:ext>
                </a:extLst>
              </p:cNvPr>
              <p:cNvSpPr>
                <a:spLocks noGrp="1" noRot="1" noChangeAspect="1" noMove="1" noResize="1" noEditPoints="1" noAdjustHandles="1" noChangeArrowheads="1" noChangeShapeType="1" noTextEdit="1"/>
              </p:cNvSpPr>
              <p:nvPr>
                <p:ph idx="1"/>
              </p:nvPr>
            </p:nvSpPr>
            <p:spPr>
              <a:xfrm>
                <a:off x="838200" y="1356852"/>
                <a:ext cx="10515600" cy="4820111"/>
              </a:xfrm>
              <a:blipFill>
                <a:blip r:embed="rId2"/>
                <a:stretch>
                  <a:fillRect l="-1217" t="-2278"/>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0D037CCC-3BF5-34F8-2119-84DCEFB0D9E5}"/>
              </a:ext>
            </a:extLst>
          </p:cNvPr>
          <p:cNvSpPr>
            <a:spLocks noGrp="1"/>
          </p:cNvSpPr>
          <p:nvPr>
            <p:ph type="sldNum" sz="quarter" idx="12"/>
          </p:nvPr>
        </p:nvSpPr>
        <p:spPr/>
        <p:txBody>
          <a:bodyPr/>
          <a:lstStyle/>
          <a:p>
            <a:fld id="{01DE96D7-2428-4FB8-BC54-9541E69FDA26}" type="slidenum">
              <a:rPr lang="es-MX" smtClean="0"/>
              <a:t>10</a:t>
            </a:fld>
            <a:endParaRPr lang="es-MX" dirty="0"/>
          </a:p>
        </p:txBody>
      </p:sp>
    </p:spTree>
    <p:extLst>
      <p:ext uri="{BB962C8B-B14F-4D97-AF65-F5344CB8AC3E}">
        <p14:creationId xmlns:p14="http://schemas.microsoft.com/office/powerpoint/2010/main" val="2165524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Una estrella iluminada entre otras estrellas no iluminadas en fondo de color verde pastel">
            <a:extLst>
              <a:ext uri="{FF2B5EF4-FFF2-40B4-BE49-F238E27FC236}">
                <a16:creationId xmlns:a16="http://schemas.microsoft.com/office/drawing/2014/main" id="{D4EBA5DB-00FC-CF6C-1A0A-B6593CA5A834}"/>
              </a:ext>
            </a:extLst>
          </p:cNvPr>
          <p:cNvPicPr>
            <a:picLocks noChangeAspect="1"/>
          </p:cNvPicPr>
          <p:nvPr/>
        </p:nvPicPr>
        <p:blipFill>
          <a:blip r:embed="rId2"/>
          <a:srcRect r="5200"/>
          <a:stretch>
            <a:fillRect/>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0D09163A-1BA3-F5F8-0205-5398EF11952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Clasificación mediante funciones de similitud</a:t>
            </a:r>
          </a:p>
        </p:txBody>
      </p:sp>
      <p:sp>
        <p:nvSpPr>
          <p:cNvPr id="363"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número de diapositiva 3">
            <a:extLst>
              <a:ext uri="{FF2B5EF4-FFF2-40B4-BE49-F238E27FC236}">
                <a16:creationId xmlns:a16="http://schemas.microsoft.com/office/drawing/2014/main" id="{0DE83014-FB36-8655-54CE-C3029348BAFE}"/>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01DE96D7-2428-4FB8-BC54-9541E69FDA26}" type="slidenum">
              <a:rPr lang="en-US">
                <a:solidFill>
                  <a:schemeClr val="bg1"/>
                </a:solidFill>
                <a:latin typeface="Calibri" panose="020F0502020204030204"/>
              </a:rPr>
              <a:pPr>
                <a:spcAft>
                  <a:spcPts val="600"/>
                </a:spcAft>
                <a:defRPr/>
              </a:pPr>
              <a:t>11</a:t>
            </a:fld>
            <a:endParaRPr lang="en-US">
              <a:solidFill>
                <a:schemeClr val="bg1"/>
              </a:solidFill>
              <a:latin typeface="Calibri" panose="020F0502020204030204"/>
            </a:endParaRPr>
          </a:p>
        </p:txBody>
      </p:sp>
    </p:spTree>
    <p:extLst>
      <p:ext uri="{BB962C8B-B14F-4D97-AF65-F5344CB8AC3E}">
        <p14:creationId xmlns:p14="http://schemas.microsoft.com/office/powerpoint/2010/main" val="145803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B60B97-413C-9399-B9CA-546191D84831}"/>
                  </a:ext>
                </a:extLst>
              </p:cNvPr>
              <p:cNvSpPr>
                <a:spLocks noGrp="1"/>
              </p:cNvSpPr>
              <p:nvPr>
                <p:ph idx="1"/>
              </p:nvPr>
            </p:nvSpPr>
            <p:spPr>
              <a:xfrm>
                <a:off x="698091" y="678426"/>
                <a:ext cx="5397910" cy="5240593"/>
              </a:xfrm>
            </p:spPr>
            <p:txBody>
              <a:bodyPr anchor="t">
                <a:normAutofit/>
              </a:bodyPr>
              <a:lstStyle/>
              <a:p>
                <a:pPr marL="0" indent="0">
                  <a:buNone/>
                </a:pPr>
                <a:r>
                  <a:rPr lang="es-MX" sz="2400" dirty="0"/>
                  <a:t>En este caso se busca decidir a qué clase pertenece un patrón utilizando medidas de similitud o probabilidad.</a:t>
                </a:r>
              </a:p>
              <a:p>
                <a:pPr marL="0" indent="0">
                  <a:buNone/>
                </a:pPr>
                <a:endParaRPr lang="es-MX" sz="2400" dirty="0"/>
              </a:p>
              <a:p>
                <a:pPr marL="0" indent="0">
                  <a:buNone/>
                </a:pPr>
                <a:r>
                  <a:rPr lang="es-MX" sz="2400" dirty="0"/>
                  <a:t>La idea general es:</a:t>
                </a:r>
              </a:p>
              <a:p>
                <a:pPr marL="0" indent="0">
                  <a:buNone/>
                </a:pPr>
                <a:endParaRPr lang="es-MX" sz="2400" dirty="0"/>
              </a:p>
              <a:p>
                <a:pPr marL="0" indent="0">
                  <a:buNone/>
                </a:pPr>
                <a14:m>
                  <m:oMathPara xmlns:m="http://schemas.openxmlformats.org/officeDocument/2006/math">
                    <m:oMath>
                      <m:r>
                        <m:rPr>
                          <m:nor/>
                        </m:rPr>
                        <a:rPr lang="es-MX" sz="2400" i="0"/>
                        <m:t>Asignar</m:t>
                      </m:r>
                      <m:r>
                        <m:rPr>
                          <m:nor/>
                        </m:rPr>
                        <a:rPr lang="es-MX" sz="2400" i="1"/>
                        <m:t> </m:t>
                      </m:r>
                      <m:r>
                        <a:rPr lang="es-MX" sz="2400" b="0" i="1">
                          <a:latin typeface="Cambria Math" panose="02040503050406030204" pitchFamily="18" charset="0"/>
                        </a:rPr>
                        <m:t>𝑥</m:t>
                      </m:r>
                      <m:r>
                        <a:rPr lang="es-MX" sz="2400" b="0">
                          <a:latin typeface="Cambria Math" panose="02040503050406030204" pitchFamily="18" charset="0"/>
                        </a:rPr>
                        <m:t>→</m:t>
                      </m:r>
                      <m:sSub>
                        <m:sSubPr>
                          <m:ctrlPr>
                            <a:rPr lang="ar-AE" sz="2400" b="0" i="1">
                              <a:latin typeface="Cambria Math" panose="02040503050406030204" pitchFamily="18" charset="0"/>
                            </a:rPr>
                          </m:ctrlPr>
                        </m:sSubPr>
                        <m:e>
                          <m:r>
                            <a:rPr lang="ar-AE" sz="2400" b="0" i="1">
                              <a:latin typeface="Cambria Math" panose="02040503050406030204" pitchFamily="18" charset="0"/>
                            </a:rPr>
                            <m:t>𝜔</m:t>
                          </m:r>
                        </m:e>
                        <m:sub>
                          <m:r>
                            <a:rPr lang="ar-AE" sz="2400" b="0" i="1">
                              <a:latin typeface="Cambria Math" panose="02040503050406030204" pitchFamily="18" charset="0"/>
                            </a:rPr>
                            <m:t>𝑖</m:t>
                          </m:r>
                        </m:sub>
                      </m:sSub>
                      <m:r>
                        <m:rPr>
                          <m:nor/>
                        </m:rPr>
                        <a:rPr lang="ar-AE" sz="2400" i="1"/>
                        <m:t> </m:t>
                      </m:r>
                      <m:r>
                        <m:rPr>
                          <m:nor/>
                        </m:rPr>
                        <a:rPr lang="es-MX" sz="2400" i="1"/>
                        <m:t>si </m:t>
                      </m:r>
                      <m:sSub>
                        <m:sSubPr>
                          <m:ctrlPr>
                            <a:rPr lang="ar-AE" sz="2400" b="0" i="1">
                              <a:latin typeface="Cambria Math" panose="02040503050406030204" pitchFamily="18" charset="0"/>
                            </a:rPr>
                          </m:ctrlPr>
                        </m:sSubPr>
                        <m:e>
                          <m:r>
                            <a:rPr lang="ar-AE" sz="2400" b="0" i="1">
                              <a:latin typeface="Cambria Math" panose="02040503050406030204" pitchFamily="18" charset="0"/>
                            </a:rPr>
                            <m:t>𝑔</m:t>
                          </m:r>
                        </m:e>
                        <m:sub>
                          <m:r>
                            <a:rPr lang="ar-AE" sz="2400" b="0" i="1">
                              <a:latin typeface="Cambria Math" panose="02040503050406030204" pitchFamily="18" charset="0"/>
                            </a:rPr>
                            <m:t>𝑖</m:t>
                          </m:r>
                        </m:sub>
                      </m:sSub>
                      <m:d>
                        <m:dPr>
                          <m:ctrlPr>
                            <a:rPr lang="ar-AE" sz="2400" b="0" i="1">
                              <a:latin typeface="Cambria Math" panose="02040503050406030204" pitchFamily="18" charset="0"/>
                            </a:rPr>
                          </m:ctrlPr>
                        </m:dPr>
                        <m:e>
                          <m:r>
                            <a:rPr lang="ar-AE" sz="2400" b="0" i="1">
                              <a:latin typeface="Cambria Math" panose="02040503050406030204" pitchFamily="18" charset="0"/>
                            </a:rPr>
                            <m:t>𝑥</m:t>
                          </m:r>
                        </m:e>
                      </m:d>
                      <m:r>
                        <a:rPr lang="ar-AE" sz="2400" b="0">
                          <a:latin typeface="Cambria Math" panose="02040503050406030204" pitchFamily="18" charset="0"/>
                        </a:rPr>
                        <m:t>&gt;</m:t>
                      </m:r>
                      <m:sSub>
                        <m:sSubPr>
                          <m:ctrlPr>
                            <a:rPr lang="ar-AE" sz="2400" b="0" i="1">
                              <a:latin typeface="Cambria Math" panose="02040503050406030204" pitchFamily="18" charset="0"/>
                            </a:rPr>
                          </m:ctrlPr>
                        </m:sSubPr>
                        <m:e>
                          <m:r>
                            <a:rPr lang="ar-AE" sz="2400" b="0" i="1">
                              <a:latin typeface="Cambria Math" panose="02040503050406030204" pitchFamily="18" charset="0"/>
                            </a:rPr>
                            <m:t>𝑔</m:t>
                          </m:r>
                        </m:e>
                        <m:sub>
                          <m:r>
                            <a:rPr lang="ar-AE" sz="2400" b="0" i="1">
                              <a:latin typeface="Cambria Math" panose="02040503050406030204" pitchFamily="18" charset="0"/>
                            </a:rPr>
                            <m:t>𝑗</m:t>
                          </m:r>
                        </m:sub>
                      </m:sSub>
                      <m:d>
                        <m:dPr>
                          <m:ctrlPr>
                            <a:rPr lang="ar-AE" sz="2400" b="0" i="1">
                              <a:latin typeface="Cambria Math" panose="02040503050406030204" pitchFamily="18" charset="0"/>
                            </a:rPr>
                          </m:ctrlPr>
                        </m:dPr>
                        <m:e>
                          <m:r>
                            <a:rPr lang="ar-AE" sz="2400" b="0" i="1">
                              <a:latin typeface="Cambria Math" panose="02040503050406030204" pitchFamily="18" charset="0"/>
                            </a:rPr>
                            <m:t>𝑥</m:t>
                          </m:r>
                        </m:e>
                      </m:d>
                    </m:oMath>
                  </m:oMathPara>
                </a14:m>
                <a:endParaRPr lang="es-MX" sz="2400" dirty="0"/>
              </a:p>
              <a:p>
                <a:pPr marL="0" indent="0">
                  <a:buNone/>
                </a:pPr>
                <a:endParaRPr lang="ar-AE" sz="2400" dirty="0"/>
              </a:p>
              <a:p>
                <a:pPr marL="0" indent="0">
                  <a:buNone/>
                </a:pPr>
                <a:r>
                  <a:rPr lang="es-MX" sz="2400" dirty="0"/>
                  <a:t>donde </a:t>
                </a:r>
                <a14:m>
                  <m:oMath xmlns:m="http://schemas.openxmlformats.org/officeDocument/2006/math">
                    <m:sSub>
                      <m:sSubPr>
                        <m:ctrlPr>
                          <a:rPr lang="ar-AE" sz="2400" b="0" i="1">
                            <a:latin typeface="Cambria Math" panose="02040503050406030204" pitchFamily="18" charset="0"/>
                          </a:rPr>
                        </m:ctrlPr>
                      </m:sSubPr>
                      <m:e>
                        <m:r>
                          <a:rPr lang="ar-AE" sz="2400" b="0" i="1">
                            <a:latin typeface="Cambria Math" panose="02040503050406030204" pitchFamily="18" charset="0"/>
                          </a:rPr>
                          <m:t>𝑔</m:t>
                        </m:r>
                      </m:e>
                      <m:sub>
                        <m:r>
                          <a:rPr lang="ar-AE" sz="2400" b="0" i="1">
                            <a:latin typeface="Cambria Math" panose="02040503050406030204" pitchFamily="18" charset="0"/>
                          </a:rPr>
                          <m:t>𝑖</m:t>
                        </m:r>
                      </m:sub>
                    </m:sSub>
                    <m:d>
                      <m:dPr>
                        <m:ctrlPr>
                          <a:rPr lang="ar-AE" sz="2400" b="0" i="1">
                            <a:latin typeface="Cambria Math" panose="02040503050406030204" pitchFamily="18" charset="0"/>
                          </a:rPr>
                        </m:ctrlPr>
                      </m:dPr>
                      <m:e>
                        <m:r>
                          <a:rPr lang="ar-AE" sz="2400" b="0" i="1">
                            <a:latin typeface="Cambria Math" panose="02040503050406030204" pitchFamily="18" charset="0"/>
                          </a:rPr>
                          <m:t>𝑥</m:t>
                        </m:r>
                      </m:e>
                    </m:d>
                  </m:oMath>
                </a14:m>
                <a:r>
                  <a:rPr lang="es-MX" sz="2400" dirty="0"/>
                  <a:t>es una función discriminante o de similitud.</a:t>
                </a:r>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25B60B97-413C-9399-B9CA-546191D84831}"/>
                  </a:ext>
                </a:extLst>
              </p:cNvPr>
              <p:cNvSpPr>
                <a:spLocks noGrp="1" noRot="1" noChangeAspect="1" noMove="1" noResize="1" noEditPoints="1" noAdjustHandles="1" noChangeArrowheads="1" noChangeShapeType="1" noTextEdit="1"/>
              </p:cNvSpPr>
              <p:nvPr>
                <p:ph idx="1"/>
              </p:nvPr>
            </p:nvSpPr>
            <p:spPr>
              <a:xfrm>
                <a:off x="698091" y="678426"/>
                <a:ext cx="5397910" cy="5240593"/>
              </a:xfrm>
              <a:blipFill>
                <a:blip r:embed="rId2"/>
                <a:stretch>
                  <a:fillRect l="-1808" t="-1512"/>
                </a:stretch>
              </a:blipFill>
            </p:spPr>
            <p:txBody>
              <a:bodyPr/>
              <a:lstStyle/>
              <a:p>
                <a:r>
                  <a:rPr lang="es-MX">
                    <a:noFill/>
                  </a:rPr>
                  <a:t> </a:t>
                </a:r>
              </a:p>
            </p:txBody>
          </p:sp>
        </mc:Fallback>
      </mc:AlternateContent>
      <p:pic>
        <p:nvPicPr>
          <p:cNvPr id="1026" name="Picture 2" descr="Modelos de clasificación en machine learning - casos de uso y mejores  prácticas - IMMERSIA">
            <a:extLst>
              <a:ext uri="{FF2B5EF4-FFF2-40B4-BE49-F238E27FC236}">
                <a16:creationId xmlns:a16="http://schemas.microsoft.com/office/drawing/2014/main" id="{7278E5A8-C59A-D5AB-6D91-8743C2F50F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709" t="53480" r="29206" b="11795"/>
          <a:stretch>
            <a:fillRect/>
          </a:stretch>
        </p:blipFill>
        <p:spPr bwMode="auto">
          <a:xfrm>
            <a:off x="6512442" y="1221064"/>
            <a:ext cx="5201023" cy="4002116"/>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9B6DCAE8-C910-CC0C-66CB-C25E7A01351F}"/>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3283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22235B-20BC-B8C1-1E04-E83ED74D6AFB}"/>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ítulo 1">
            <a:extLst>
              <a:ext uri="{FF2B5EF4-FFF2-40B4-BE49-F238E27FC236}">
                <a16:creationId xmlns:a16="http://schemas.microsoft.com/office/drawing/2014/main" id="{4C9AF21E-780F-4FB1-9263-5A51005B415F}"/>
              </a:ext>
            </a:extLst>
          </p:cNvPr>
          <p:cNvSpPr>
            <a:spLocks noGrp="1"/>
          </p:cNvSpPr>
          <p:nvPr>
            <p:ph type="title"/>
          </p:nvPr>
        </p:nvSpPr>
        <p:spPr>
          <a:xfrm>
            <a:off x="411480" y="987552"/>
            <a:ext cx="4485861" cy="1088136"/>
          </a:xfrm>
        </p:spPr>
        <p:txBody>
          <a:bodyPr anchor="b">
            <a:normAutofit/>
          </a:bodyPr>
          <a:lstStyle/>
          <a:p>
            <a:r>
              <a:rPr lang="es-MX" sz="3400"/>
              <a:t>Revisión de Probabilidad</a:t>
            </a:r>
          </a:p>
        </p:txBody>
      </p:sp>
      <p:sp>
        <p:nvSpPr>
          <p:cNvPr id="3081" name="Rectangle 3080">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5" name="Rectangle 3082">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Marcador de contenido 2">
                <a:extLst>
                  <a:ext uri="{FF2B5EF4-FFF2-40B4-BE49-F238E27FC236}">
                    <a16:creationId xmlns:a16="http://schemas.microsoft.com/office/drawing/2014/main" id="{9451C18B-0CB4-95F7-92F8-DB3489B43418}"/>
                  </a:ext>
                </a:extLst>
              </p:cNvPr>
              <p:cNvSpPr>
                <a:spLocks noGrp="1"/>
              </p:cNvSpPr>
              <p:nvPr>
                <p:ph idx="1"/>
              </p:nvPr>
            </p:nvSpPr>
            <p:spPr>
              <a:xfrm>
                <a:off x="411478" y="2688335"/>
                <a:ext cx="4896573" cy="4033139"/>
              </a:xfrm>
            </p:spPr>
            <p:txBody>
              <a:bodyPr anchor="t">
                <a:normAutofit/>
              </a:bodyPr>
              <a:lstStyle/>
              <a:p>
                <a:r>
                  <a:rPr lang="es-MX" sz="2400" dirty="0"/>
                  <a:t>Variable aleatoria</a:t>
                </a:r>
              </a:p>
              <a:p>
                <a:pPr marL="0" indent="0">
                  <a:buNone/>
                </a:pPr>
                <a:r>
                  <a:rPr lang="es-MX" sz="2400" dirty="0"/>
                  <a:t>Una variable aleatoria es una función real definida en espacio de probabilidad </a:t>
                </a:r>
                <a14:m>
                  <m:oMath xmlns:m="http://schemas.openxmlformats.org/officeDocument/2006/math">
                    <m:r>
                      <a:rPr lang="es-MX" sz="2400" b="0" i="1">
                        <a:latin typeface="Cambria Math" panose="02040503050406030204" pitchFamily="18" charset="0"/>
                      </a:rPr>
                      <m:t>(</m:t>
                    </m:r>
                    <m:r>
                      <m:rPr>
                        <m:sty m:val="p"/>
                      </m:rPr>
                      <a:rPr lang="el-GR" sz="2400" b="0" i="1">
                        <a:latin typeface="Cambria Math" panose="02040503050406030204" pitchFamily="18" charset="0"/>
                        <a:ea typeface="Cambria Math" panose="02040503050406030204" pitchFamily="18" charset="0"/>
                      </a:rPr>
                      <m:t>Ω</m:t>
                    </m:r>
                    <m:r>
                      <a:rPr lang="es-MX" sz="2400" b="0" i="1">
                        <a:latin typeface="Cambria Math" panose="02040503050406030204" pitchFamily="18" charset="0"/>
                        <a:ea typeface="Cambria Math" panose="02040503050406030204" pitchFamily="18" charset="0"/>
                      </a:rPr>
                      <m:t>, </m:t>
                    </m:r>
                    <m:r>
                      <m:rPr>
                        <m:sty m:val="p"/>
                      </m:rPr>
                      <a:rPr lang="es-MX" sz="2400" b="0" i="1">
                        <a:latin typeface="Cambria Math" panose="02040503050406030204" pitchFamily="18" charset="0"/>
                        <a:ea typeface="Cambria Math" panose="02040503050406030204" pitchFamily="18" charset="0"/>
                      </a:rPr>
                      <m:t>A</m:t>
                    </m:r>
                    <m:r>
                      <a:rPr lang="es-MX" sz="2400" b="0" i="1">
                        <a:latin typeface="Cambria Math" panose="02040503050406030204" pitchFamily="18" charset="0"/>
                        <a:ea typeface="Cambria Math" panose="02040503050406030204" pitchFamily="18" charset="0"/>
                      </a:rPr>
                      <m:t>, </m:t>
                    </m:r>
                    <m:r>
                      <m:rPr>
                        <m:sty m:val="p"/>
                      </m:rPr>
                      <a:rPr lang="es-MX" sz="2400" b="0" i="1">
                        <a:latin typeface="Cambria Math" panose="02040503050406030204" pitchFamily="18" charset="0"/>
                        <a:ea typeface="Cambria Math" panose="02040503050406030204" pitchFamily="18" charset="0"/>
                      </a:rPr>
                      <m:t>P</m:t>
                    </m:r>
                    <m:r>
                      <a:rPr lang="es-MX" sz="2400" b="0" i="1">
                        <a:latin typeface="Cambria Math" panose="02040503050406030204" pitchFamily="18" charset="0"/>
                      </a:rPr>
                      <m:t>)</m:t>
                    </m:r>
                  </m:oMath>
                </a14:m>
                <a:r>
                  <a:rPr lang="es-MX" sz="2400" dirty="0"/>
                  <a:t>, asociado a un experimento aleatorio. Donde </a:t>
                </a:r>
                <a14:m>
                  <m:oMath xmlns:m="http://schemas.openxmlformats.org/officeDocument/2006/math">
                    <m:r>
                      <m:rPr>
                        <m:sty m:val="p"/>
                      </m:rPr>
                      <a:rPr lang="el-GR" sz="2400" i="1">
                        <a:latin typeface="Cambria Math" panose="02040503050406030204" pitchFamily="18" charset="0"/>
                        <a:ea typeface="Cambria Math" panose="02040503050406030204" pitchFamily="18" charset="0"/>
                      </a:rPr>
                      <m:t>Ω</m:t>
                    </m:r>
                  </m:oMath>
                </a14:m>
                <a:r>
                  <a:rPr lang="es-MX" sz="2400" dirty="0"/>
                  <a:t>: es un espacio muestral, A: espacio de sucesos y P: una función de probabilidad.</a:t>
                </a:r>
              </a:p>
              <a:p>
                <a:pPr marL="0" indent="0">
                  <a:buNone/>
                </a:pPr>
                <a:endParaRPr lang="es-MX" sz="2400" dirty="0"/>
              </a:p>
              <a:p>
                <a:pPr marL="0" indent="0">
                  <a:buNone/>
                </a:pPr>
                <a14:m>
                  <m:oMathPara xmlns:m="http://schemas.openxmlformats.org/officeDocument/2006/math">
                    <m:oMath>
                      <m:r>
                        <m:rPr>
                          <m:sty m:val="p"/>
                        </m:rPr>
                        <a:rPr lang="es-MX" sz="2400" b="0" i="1">
                          <a:latin typeface="Cambria Math" panose="02040503050406030204" pitchFamily="18" charset="0"/>
                        </a:rPr>
                        <m:t>X</m:t>
                      </m:r>
                      <m:r>
                        <a:rPr lang="es-MX" sz="2400" b="0" i="1">
                          <a:latin typeface="Cambria Math" panose="02040503050406030204" pitchFamily="18" charset="0"/>
                        </a:rPr>
                        <m:t>:</m:t>
                      </m:r>
                      <m:r>
                        <m:rPr>
                          <m:sty m:val="p"/>
                        </m:rPr>
                        <a:rPr lang="el-GR" sz="2400" b="0" i="1">
                          <a:latin typeface="Cambria Math" panose="02040503050406030204" pitchFamily="18" charset="0"/>
                          <a:ea typeface="Cambria Math" panose="02040503050406030204" pitchFamily="18" charset="0"/>
                        </a:rPr>
                        <m:t>Ω</m:t>
                      </m:r>
                      <m:r>
                        <a:rPr lang="el-GR" sz="2400" b="0" i="1">
                          <a:latin typeface="Cambria Math" panose="02040503050406030204" pitchFamily="18" charset="0"/>
                          <a:ea typeface="Cambria Math" panose="02040503050406030204" pitchFamily="18" charset="0"/>
                        </a:rPr>
                        <m:t>→</m:t>
                      </m:r>
                      <m:r>
                        <a:rPr lang="el-GR" sz="2400" b="0" i="1">
                          <a:latin typeface="Cambria Math" panose="02040503050406030204" pitchFamily="18" charset="0"/>
                          <a:ea typeface="Cambria Math" panose="02040503050406030204" pitchFamily="18" charset="0"/>
                        </a:rPr>
                        <m:t>ℝ</m:t>
                      </m:r>
                    </m:oMath>
                  </m:oMathPara>
                </a14:m>
                <a:endParaRPr lang="es-MX" sz="2400" dirty="0"/>
              </a:p>
              <a:p>
                <a:pPr marL="0" indent="0">
                  <a:buNone/>
                </a:pPr>
                <a:endParaRPr lang="es-MX" sz="1500" dirty="0"/>
              </a:p>
              <a:p>
                <a:pPr marL="0" indent="0">
                  <a:buNone/>
                </a:pPr>
                <a:endParaRPr lang="es-MX" sz="1500" dirty="0"/>
              </a:p>
            </p:txBody>
          </p:sp>
        </mc:Choice>
        <mc:Fallback xmlns="">
          <p:sp>
            <p:nvSpPr>
              <p:cNvPr id="7" name="Marcador de contenido 2">
                <a:extLst>
                  <a:ext uri="{FF2B5EF4-FFF2-40B4-BE49-F238E27FC236}">
                    <a16:creationId xmlns:a16="http://schemas.microsoft.com/office/drawing/2014/main" id="{9451C18B-0CB4-95F7-92F8-DB3489B43418}"/>
                  </a:ext>
                </a:extLst>
              </p:cNvPr>
              <p:cNvSpPr>
                <a:spLocks noGrp="1" noRot="1" noChangeAspect="1" noMove="1" noResize="1" noEditPoints="1" noAdjustHandles="1" noChangeArrowheads="1" noChangeShapeType="1" noTextEdit="1"/>
              </p:cNvSpPr>
              <p:nvPr>
                <p:ph idx="1"/>
              </p:nvPr>
            </p:nvSpPr>
            <p:spPr>
              <a:xfrm>
                <a:off x="411478" y="2688335"/>
                <a:ext cx="4896573" cy="4033139"/>
              </a:xfrm>
              <a:blipFill>
                <a:blip r:embed="rId2"/>
                <a:stretch>
                  <a:fillRect l="-1866" t="-1964" r="-1990"/>
                </a:stretch>
              </a:blipFill>
            </p:spPr>
            <p:txBody>
              <a:bodyPr/>
              <a:lstStyle/>
              <a:p>
                <a:r>
                  <a:rPr lang="es-MX">
                    <a:noFill/>
                  </a:rPr>
                  <a:t> </a:t>
                </a:r>
              </a:p>
            </p:txBody>
          </p:sp>
        </mc:Fallback>
      </mc:AlternateContent>
      <p:pic>
        <p:nvPicPr>
          <p:cNvPr id="3074" name="Picture 2" descr="undefined">
            <a:extLst>
              <a:ext uri="{FF2B5EF4-FFF2-40B4-BE49-F238E27FC236}">
                <a16:creationId xmlns:a16="http://schemas.microsoft.com/office/drawing/2014/main" id="{27DA9521-9071-EA51-1547-E8642EF24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260" r="12729" b="-1"/>
          <a:stretch>
            <a:fillRect/>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
        <p:nvSpPr>
          <p:cNvPr id="4" name="Marcador de número de diapositiva 3">
            <a:extLst>
              <a:ext uri="{FF2B5EF4-FFF2-40B4-BE49-F238E27FC236}">
                <a16:creationId xmlns:a16="http://schemas.microsoft.com/office/drawing/2014/main" id="{4958FC73-8C9A-7B33-28F7-C4EC6ED898DD}"/>
              </a:ext>
            </a:extLst>
          </p:cNvPr>
          <p:cNvSpPr>
            <a:spLocks noGrp="1"/>
          </p:cNvSpPr>
          <p:nvPr>
            <p:ph type="sldNum" sz="quarter" idx="12"/>
          </p:nvPr>
        </p:nvSpPr>
        <p:spPr>
          <a:xfrm>
            <a:off x="9037321"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white"/>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s-MX"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2668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0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Marcador de contenido 2">
            <a:extLst>
              <a:ext uri="{FF2B5EF4-FFF2-40B4-BE49-F238E27FC236}">
                <a16:creationId xmlns:a16="http://schemas.microsoft.com/office/drawing/2014/main" id="{ED5BF1A9-1C55-8B90-F337-3389512FA975}"/>
              </a:ext>
            </a:extLst>
          </p:cNvPr>
          <p:cNvSpPr>
            <a:spLocks noGrp="1"/>
          </p:cNvSpPr>
          <p:nvPr>
            <p:ph idx="1"/>
          </p:nvPr>
        </p:nvSpPr>
        <p:spPr>
          <a:xfrm>
            <a:off x="872245" y="382770"/>
            <a:ext cx="10447509" cy="1853573"/>
          </a:xfrm>
        </p:spPr>
        <p:txBody>
          <a:bodyPr anchor="t">
            <a:normAutofit/>
          </a:bodyPr>
          <a:lstStyle/>
          <a:p>
            <a:r>
              <a:rPr lang="es-MX" sz="2400" dirty="0"/>
              <a:t>Función de densidad de probabilidad (PDF)</a:t>
            </a:r>
          </a:p>
          <a:p>
            <a:pPr marL="0" indent="0">
              <a:buNone/>
            </a:pPr>
            <a:r>
              <a:rPr lang="es-MX" sz="2400" dirty="0"/>
              <a:t>Describe cómo se distribuye la probabilidad sobre los valores posibles de una variable continua x. Una variable aleatoria X tiene una función de densidad </a:t>
            </a:r>
            <a:r>
              <a:rPr lang="es-MX" sz="2400" dirty="0" err="1"/>
              <a:t>fx</a:t>
            </a:r>
            <a:r>
              <a:rPr lang="es-MX" sz="2400" dirty="0"/>
              <a:t>, la cual es no-negativa que cumple con:</a:t>
            </a:r>
          </a:p>
          <a:p>
            <a:endParaRPr lang="es-MX" sz="2200" dirty="0"/>
          </a:p>
        </p:txBody>
      </p:sp>
      <p:pic>
        <p:nvPicPr>
          <p:cNvPr id="4098" name="Picture 2" descr="Función de probabilidad de una variable aleatoria continua | Matemóvil">
            <a:extLst>
              <a:ext uri="{FF2B5EF4-FFF2-40B4-BE49-F238E27FC236}">
                <a16:creationId xmlns:a16="http://schemas.microsoft.com/office/drawing/2014/main" id="{95C70B99-838A-B1EE-54D3-83A77B20E5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133"/>
          <a:stretch>
            <a:fillRect/>
          </a:stretch>
        </p:blipFill>
        <p:spPr bwMode="auto">
          <a:xfrm>
            <a:off x="6164825" y="3023388"/>
            <a:ext cx="5458968" cy="2692431"/>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número de diapositiva 3">
            <a:extLst>
              <a:ext uri="{FF2B5EF4-FFF2-40B4-BE49-F238E27FC236}">
                <a16:creationId xmlns:a16="http://schemas.microsoft.com/office/drawing/2014/main" id="{6124BB99-C3C3-924F-0776-27704C565139}"/>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9B7675D-E9E5-AEBA-A940-41D740C16BF1}"/>
                  </a:ext>
                </a:extLst>
              </p:cNvPr>
              <p:cNvSpPr txBox="1"/>
              <p:nvPr/>
            </p:nvSpPr>
            <p:spPr>
              <a:xfrm>
                <a:off x="637033" y="2644411"/>
                <a:ext cx="6019406" cy="384425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Para todo x, </a:t>
                </a:r>
                <a14:m>
                  <m:oMath xmlns:m="http://schemas.openxmlformats.org/officeDocument/2006/math">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d>
                      <m:d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d>
                    <m:r>
                      <a:rPr kumimoji="0" lang="es-MX" sz="24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oMath>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Área total igual a 1:</a:t>
                </a:r>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nary>
                        <m:naryPr>
                          <m:grow m:val="on"/>
                          <m:ctrlP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ctrlPr>
                        </m:naryPr>
                        <m:sub>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sub>
                        <m:sup>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sup>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𝑝</m:t>
                          </m:r>
                        </m:e>
                      </m:nary>
                      <m:d>
                        <m:d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r>
                        <m:rPr>
                          <m:nor/>
                        </m:rPr>
                        <a:rPr kumimoji="0" lang="ar-AE" sz="2400" b="0" i="1"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rPr>
                        <m:t> </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𝑑𝑥</m:t>
                      </m:r>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=1</m:t>
                      </m:r>
                    </m:oMath>
                  </m:oMathPara>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La probabilidad de un intervalo es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d>
                        <m:d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𝑎</m:t>
                          </m:r>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𝑏</m:t>
                          </m:r>
                        </m:e>
                      </m:d>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nary>
                        <m:naryPr>
                          <m:grow m:val="on"/>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naryPr>
                        <m:sub>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𝑎</m:t>
                          </m:r>
                        </m:sub>
                        <m:sup>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𝑏</m:t>
                          </m:r>
                        </m:sup>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𝑝</m:t>
                          </m:r>
                        </m:e>
                      </m:nary>
                      <m:d>
                        <m:d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𝑑𝑥</m:t>
                      </m:r>
                    </m:oMath>
                  </m:oMathPara>
                </a14:m>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ar-AE"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 name="CuadroTexto 4">
                <a:extLst>
                  <a:ext uri="{FF2B5EF4-FFF2-40B4-BE49-F238E27FC236}">
                    <a16:creationId xmlns:a16="http://schemas.microsoft.com/office/drawing/2014/main" id="{69B7675D-E9E5-AEBA-A940-41D740C16BF1}"/>
                  </a:ext>
                </a:extLst>
              </p:cNvPr>
              <p:cNvSpPr txBox="1">
                <a:spLocks noRot="1" noChangeAspect="1" noMove="1" noResize="1" noEditPoints="1" noAdjustHandles="1" noChangeArrowheads="1" noChangeShapeType="1" noTextEdit="1"/>
              </p:cNvSpPr>
              <p:nvPr/>
            </p:nvSpPr>
            <p:spPr>
              <a:xfrm>
                <a:off x="637033" y="2644411"/>
                <a:ext cx="6019406" cy="3844258"/>
              </a:xfrm>
              <a:prstGeom prst="rect">
                <a:avLst/>
              </a:prstGeom>
              <a:blipFill>
                <a:blip r:embed="rId3"/>
                <a:stretch>
                  <a:fillRect l="-1418" t="-1270"/>
                </a:stretch>
              </a:blipFill>
            </p:spPr>
            <p:txBody>
              <a:bodyPr/>
              <a:lstStyle/>
              <a:p>
                <a:r>
                  <a:rPr lang="es-MX">
                    <a:noFill/>
                  </a:rPr>
                  <a:t> </a:t>
                </a:r>
              </a:p>
            </p:txBody>
          </p:sp>
        </mc:Fallback>
      </mc:AlternateContent>
    </p:spTree>
    <p:extLst>
      <p:ext uri="{BB962C8B-B14F-4D97-AF65-F5344CB8AC3E}">
        <p14:creationId xmlns:p14="http://schemas.microsoft.com/office/powerpoint/2010/main" val="2747432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6" name="Picture 6">
            <a:extLst>
              <a:ext uri="{FF2B5EF4-FFF2-40B4-BE49-F238E27FC236}">
                <a16:creationId xmlns:a16="http://schemas.microsoft.com/office/drawing/2014/main" id="{4082E2CE-FB31-9349-0130-E5FB725C2EA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10436" y="1891740"/>
            <a:ext cx="4870195" cy="347871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7D1FBA1F-E08B-94B0-1208-168F0B7E184C}"/>
              </a:ext>
            </a:extLst>
          </p:cNvPr>
          <p:cNvPicPr>
            <a:picLocks noChangeAspect="1"/>
          </p:cNvPicPr>
          <p:nvPr/>
        </p:nvPicPr>
        <p:blipFill>
          <a:blip r:embed="rId3"/>
          <a:srcRect t="1068"/>
          <a:stretch>
            <a:fillRect/>
          </a:stretch>
        </p:blipFill>
        <p:spPr>
          <a:xfrm>
            <a:off x="883403" y="3631096"/>
            <a:ext cx="4574360" cy="2760560"/>
          </a:xfrm>
          <a:prstGeom prst="rect">
            <a:avLst/>
          </a:prstGeom>
        </p:spPr>
      </p:pic>
      <p:sp>
        <p:nvSpPr>
          <p:cNvPr id="5135" name="Rectangle 5130">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136" name="Rectangle 5132">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610BEB88-7693-7620-C4FA-27CB3E11B31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n-US" sz="1200" b="0" i="0" u="none" strike="noStrike" kern="1200" cap="none" spc="0" normalizeH="0" baseline="0" noProof="0" smtClean="0">
                <a:ln>
                  <a:noFill/>
                </a:ln>
                <a:solidFill>
                  <a:prstClr val="black">
                    <a:tint val="75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Aptos" panose="02110004020202020204"/>
              <a:ea typeface="+mn-ea"/>
              <a:cs typeface="+mn-cs"/>
            </a:endParaRPr>
          </a:p>
        </p:txBody>
      </p:sp>
      <p:pic>
        <p:nvPicPr>
          <p:cNvPr id="5124" name="Picture 4" descr="Ayudantías Usach: Gauss y la integral Gaussiana">
            <a:extLst>
              <a:ext uri="{FF2B5EF4-FFF2-40B4-BE49-F238E27FC236}">
                <a16:creationId xmlns:a16="http://schemas.microsoft.com/office/drawing/2014/main" id="{7B9BA5A0-014A-2229-3DC5-EDB09F731D6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075357" y="198218"/>
            <a:ext cx="4038249" cy="30286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 13">
                <a:extLst>
                  <a:ext uri="{FF2B5EF4-FFF2-40B4-BE49-F238E27FC236}">
                    <a16:creationId xmlns:a16="http://schemas.microsoft.com/office/drawing/2014/main" id="{B8976E9A-7929-124B-5E94-2FC52CB8822B}"/>
                  </a:ext>
                </a:extLst>
              </p:cNvPr>
              <p:cNvSpPr/>
              <p:nvPr/>
            </p:nvSpPr>
            <p:spPr>
              <a:xfrm>
                <a:off x="6900906" y="740423"/>
                <a:ext cx="4870194" cy="9477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F(x) = P(X &lt;= x) = </a:t>
                </a:r>
                <a14:m>
                  <m:oMath xmlns:m="http://schemas.openxmlformats.org/officeDocument/2006/math">
                    <m:nary>
                      <m:naryPr>
                        <m:ctrl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ctrlPr>
                      </m:naryPr>
                      <m:sub>
                        <m:r>
                          <m:rPr>
                            <m:brk m:alnAt="23"/>
                          </m:r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m:t>
                        </m:r>
                        <m:r>
                          <a:rPr kumimoji="0" lang="en-US" sz="1800" b="0" i="1" u="none" strike="noStrike" kern="1200" cap="none" spc="0" normalizeH="0" baseline="0" noProof="0" smtClean="0">
                            <a:ln>
                              <a:noFill/>
                            </a:ln>
                            <a:solidFill>
                              <a:srgbClr val="2C3A50"/>
                            </a:solidFill>
                            <a:effectLst/>
                            <a:uLnTx/>
                            <a:uFillTx/>
                            <a:latin typeface="Cambria Math" panose="02040503050406030204" pitchFamily="18" charset="0"/>
                            <a:ea typeface="+mn-ea"/>
                            <a:cs typeface="+mn-cs"/>
                          </a:rPr>
                          <m:t>∞</m:t>
                        </m:r>
                      </m:sub>
                      <m:sup>
                        <m:r>
                          <m:rPr>
                            <m:sty m:val="p"/>
                          </m:r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x</m:t>
                        </m:r>
                      </m:sup>
                      <m:e>
                        <m:r>
                          <m:rPr>
                            <m:sty m:val="p"/>
                          </m:r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f</m:t>
                        </m:r>
                        <m: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m:t>
                        </m:r>
                        <m:r>
                          <m:rPr>
                            <m:sty m:val="p"/>
                          </m:r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t</m:t>
                        </m:r>
                        <m: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m:t>
                        </m:r>
                        <m:r>
                          <m:rPr>
                            <m:sty m:val="p"/>
                          </m:rPr>
                          <a:rPr kumimoji="0" lang="es-MX" sz="1800" b="0" i="1" u="none" strike="noStrike" kern="1200" cap="none" spc="0" normalizeH="0" baseline="0" noProof="0" smtClean="0">
                            <a:ln>
                              <a:noFill/>
                            </a:ln>
                            <a:solidFill>
                              <a:srgbClr val="2C3A50"/>
                            </a:solidFill>
                            <a:effectLst/>
                            <a:uLnTx/>
                            <a:uFillTx/>
                            <a:latin typeface="Cambria Math" panose="02040503050406030204" pitchFamily="18" charset="0"/>
                            <a:ea typeface="Calibri" pitchFamily="34" charset="-122"/>
                            <a:cs typeface="Calibri" pitchFamily="34" charset="-120"/>
                          </a:rPr>
                          <m:t>dt</m:t>
                        </m:r>
                      </m:e>
                    </m:nary>
                  </m:oMath>
                </a14:m>
                <a:endParaRPr kumimoji="0" lang="es-MX" sz="18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Monotona no decreciente. F(-</a:t>
                </a:r>
                <a14:m>
                  <m:oMath xmlns:m="http://schemas.openxmlformats.org/officeDocument/2006/math">
                    <m:r>
                      <a:rPr kumimoji="0" lang="en-US" sz="1800" b="0" i="1" u="none" strike="noStrike" kern="1200" cap="none" spc="0" normalizeH="0" baseline="0" noProof="0" smtClean="0">
                        <a:ln>
                          <a:noFill/>
                        </a:ln>
                        <a:solidFill>
                          <a:srgbClr val="2C3A50"/>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)=0, F(+</a:t>
                </a:r>
                <a:r>
                  <a:rPr kumimoji="0" lang="en-US" sz="1800" b="0" i="0" u="none" strike="noStrike" kern="1200" cap="none" spc="0" normalizeH="0" baseline="0" noProof="0" dirty="0">
                    <a:ln>
                      <a:noFill/>
                    </a:ln>
                    <a:solidFill>
                      <a:srgbClr val="2C3A50"/>
                    </a:solidFill>
                    <a:effectLst/>
                    <a:uLnTx/>
                    <a:uFillTx/>
                    <a:latin typeface="Aptos" panose="02110004020202020204"/>
                    <a:ea typeface="+mn-ea"/>
                    <a:cs typeface="+mn-cs"/>
                  </a:rPr>
                  <a:t> </a:t>
                </a:r>
                <a14:m>
                  <m:oMath xmlns:m="http://schemas.openxmlformats.org/officeDocument/2006/math">
                    <m:r>
                      <a:rPr kumimoji="0" lang="en-US" sz="1800" b="0" i="1" u="none" strike="noStrike" kern="1200" cap="none" spc="0" normalizeH="0" baseline="0" noProof="0">
                        <a:ln>
                          <a:noFill/>
                        </a:ln>
                        <a:solidFill>
                          <a:srgbClr val="2C3A50"/>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8" name="Text 13">
                <a:extLst>
                  <a:ext uri="{FF2B5EF4-FFF2-40B4-BE49-F238E27FC236}">
                    <a16:creationId xmlns:a16="http://schemas.microsoft.com/office/drawing/2014/main" id="{B8976E9A-7929-124B-5E94-2FC52CB8822B}"/>
                  </a:ext>
                </a:extLst>
              </p:cNvPr>
              <p:cNvSpPr>
                <a:spLocks noRot="1" noChangeAspect="1" noMove="1" noResize="1" noEditPoints="1" noAdjustHandles="1" noChangeArrowheads="1" noChangeShapeType="1" noTextEdit="1"/>
              </p:cNvSpPr>
              <p:nvPr/>
            </p:nvSpPr>
            <p:spPr>
              <a:xfrm>
                <a:off x="6900906" y="740423"/>
                <a:ext cx="4870194" cy="947700"/>
              </a:xfrm>
              <a:prstGeom prst="rect">
                <a:avLst/>
              </a:prstGeom>
              <a:blipFill>
                <a:blip r:embed="rId5"/>
                <a:stretch>
                  <a:fillRect l="-1001" t="-54487" b="-30128"/>
                </a:stretch>
              </a:blipFill>
              <a:ln/>
            </p:spPr>
            <p:txBody>
              <a:bodyPr/>
              <a:lstStyle/>
              <a:p>
                <a:r>
                  <a:rPr lang="es-MX">
                    <a:noFill/>
                  </a:rPr>
                  <a:t> </a:t>
                </a:r>
              </a:p>
            </p:txBody>
          </p:sp>
        </mc:Fallback>
      </mc:AlternateContent>
    </p:spTree>
    <p:extLst>
      <p:ext uri="{BB962C8B-B14F-4D97-AF65-F5344CB8AC3E}">
        <p14:creationId xmlns:p14="http://schemas.microsoft.com/office/powerpoint/2010/main" val="3464602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AC63AE94-4145-6D00-A229-4C2DCB44215E}"/>
              </a:ext>
            </a:extLst>
          </p:cNvPr>
          <p:cNvSpPr>
            <a:spLocks noGrp="1"/>
          </p:cNvSpPr>
          <p:nvPr>
            <p:ph type="title"/>
          </p:nvPr>
        </p:nvSpPr>
        <p:spPr>
          <a:xfrm>
            <a:off x="630936" y="640080"/>
            <a:ext cx="4818888" cy="1481328"/>
          </a:xfrm>
        </p:spPr>
        <p:txBody>
          <a:bodyPr anchor="b">
            <a:normAutofit/>
          </a:bodyPr>
          <a:lstStyle/>
          <a:p>
            <a:r>
              <a:rPr lang="es-MX" sz="5400"/>
              <a:t>Momentos</a:t>
            </a:r>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F29A661-0663-F649-BCBF-6D8BD6618EF3}"/>
                  </a:ext>
                </a:extLst>
              </p:cNvPr>
              <p:cNvSpPr>
                <a:spLocks noGrp="1"/>
              </p:cNvSpPr>
              <p:nvPr>
                <p:ph idx="1"/>
              </p:nvPr>
            </p:nvSpPr>
            <p:spPr>
              <a:xfrm>
                <a:off x="630936" y="2660904"/>
                <a:ext cx="4818888" cy="3547872"/>
              </a:xfrm>
            </p:spPr>
            <p:txBody>
              <a:bodyPr anchor="t">
                <a:normAutofit/>
              </a:bodyPr>
              <a:lstStyle/>
              <a:p>
                <a:pPr marL="0" indent="0">
                  <a:buNone/>
                </a:pPr>
                <a:r>
                  <a:rPr lang="es-MX" sz="2400" dirty="0"/>
                  <a:t>Los momentos describen propiedades de la distribución, es decir, resumen la forma de la distribución en números escalares.</a:t>
                </a:r>
              </a:p>
              <a:p>
                <a:pPr marL="0" indent="0">
                  <a:buNone/>
                </a:pPr>
                <a14:m>
                  <m:oMathPara xmlns:m="http://schemas.openxmlformats.org/officeDocument/2006/math">
                    <m:oMath>
                      <m:r>
                        <m:rPr>
                          <m:sty m:val="p"/>
                        </m:rPr>
                        <a:rPr lang="es-MX" sz="2400" b="0" i="1">
                          <a:latin typeface="Cambria Math" panose="02040503050406030204" pitchFamily="18" charset="0"/>
                        </a:rPr>
                        <m:t>E</m:t>
                      </m:r>
                      <m:d>
                        <m:dPr>
                          <m:begChr m:val="["/>
                          <m:endChr m:val="]"/>
                          <m:ctrlPr>
                            <a:rPr lang="es-MX" sz="2400" b="0" i="1">
                              <a:latin typeface="Cambria Math" panose="02040503050406030204" pitchFamily="18" charset="0"/>
                            </a:rPr>
                          </m:ctrlPr>
                        </m:dPr>
                        <m:e>
                          <m:sSup>
                            <m:sSupPr>
                              <m:ctrlPr>
                                <a:rPr lang="es-MX" sz="2400" b="0" i="1">
                                  <a:latin typeface="Cambria Math" panose="02040503050406030204" pitchFamily="18" charset="0"/>
                                </a:rPr>
                              </m:ctrlPr>
                            </m:sSupPr>
                            <m:e>
                              <m:d>
                                <m:dPr>
                                  <m:ctrlPr>
                                    <a:rPr lang="es-MX" sz="2400" b="0" i="1">
                                      <a:latin typeface="Cambria Math" panose="02040503050406030204" pitchFamily="18" charset="0"/>
                                    </a:rPr>
                                  </m:ctrlPr>
                                </m:dPr>
                                <m:e>
                                  <m:r>
                                    <m:rPr>
                                      <m:sty m:val="p"/>
                                    </m:rPr>
                                    <a:rPr lang="es-MX" sz="2400" b="0" i="1">
                                      <a:latin typeface="Cambria Math" panose="02040503050406030204" pitchFamily="18" charset="0"/>
                                    </a:rPr>
                                    <m:t>X</m:t>
                                  </m:r>
                                  <m:r>
                                    <a:rPr lang="es-MX" sz="2400" b="0" i="1">
                                      <a:latin typeface="Cambria Math" panose="02040503050406030204" pitchFamily="18" charset="0"/>
                                    </a:rPr>
                                    <m:t> − </m:t>
                                  </m:r>
                                  <m:r>
                                    <a:rPr lang="es-MX" sz="2400" b="0" i="1">
                                      <a:latin typeface="Cambria Math" panose="02040503050406030204" pitchFamily="18" charset="0"/>
                                      <a:ea typeface="Cambria Math" panose="02040503050406030204" pitchFamily="18" charset="0"/>
                                    </a:rPr>
                                    <m:t>𝜇</m:t>
                                  </m:r>
                                </m:e>
                              </m:d>
                            </m:e>
                            <m:sup>
                              <m:r>
                                <m:rPr>
                                  <m:sty m:val="p"/>
                                </m:rPr>
                                <a:rPr lang="es-MX" sz="2400" b="0" i="1">
                                  <a:latin typeface="Cambria Math" panose="02040503050406030204" pitchFamily="18" charset="0"/>
                                </a:rPr>
                                <m:t>r</m:t>
                              </m:r>
                            </m:sup>
                          </m:sSup>
                        </m:e>
                      </m:d>
                    </m:oMath>
                  </m:oMathPara>
                </a14:m>
                <a:endParaRPr lang="es-MX" sz="2400" dirty="0"/>
              </a:p>
            </p:txBody>
          </p:sp>
        </mc:Choice>
        <mc:Fallback xmlns="">
          <p:sp>
            <p:nvSpPr>
              <p:cNvPr id="3" name="Marcador de contenido 2">
                <a:extLst>
                  <a:ext uri="{FF2B5EF4-FFF2-40B4-BE49-F238E27FC236}">
                    <a16:creationId xmlns:a16="http://schemas.microsoft.com/office/drawing/2014/main" id="{AF29A661-0663-F649-BCBF-6D8BD6618EF3}"/>
                  </a:ext>
                </a:extLst>
              </p:cNvPr>
              <p:cNvSpPr>
                <a:spLocks noGrp="1" noRot="1" noChangeAspect="1" noMove="1" noResize="1" noEditPoints="1" noAdjustHandles="1" noChangeArrowheads="1" noChangeShapeType="1" noTextEdit="1"/>
              </p:cNvSpPr>
              <p:nvPr>
                <p:ph idx="1"/>
              </p:nvPr>
            </p:nvSpPr>
            <p:spPr>
              <a:xfrm>
                <a:off x="630936" y="2660904"/>
                <a:ext cx="4818888" cy="3547872"/>
              </a:xfrm>
              <a:blipFill>
                <a:blip r:embed="rId2"/>
                <a:stretch>
                  <a:fillRect l="-2025" t="-2234" r="-1519"/>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883358EF-719E-857C-774F-92B4A7A7A176}"/>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5" name="Tabla 4">
            <a:extLst>
              <a:ext uri="{FF2B5EF4-FFF2-40B4-BE49-F238E27FC236}">
                <a16:creationId xmlns:a16="http://schemas.microsoft.com/office/drawing/2014/main" id="{2A999DFA-D41D-8390-19EB-6A30D1ECBF36}"/>
              </a:ext>
            </a:extLst>
          </p:cNvPr>
          <p:cNvGraphicFramePr>
            <a:graphicFrameLocks noGrp="1"/>
          </p:cNvGraphicFramePr>
          <p:nvPr/>
        </p:nvGraphicFramePr>
        <p:xfrm>
          <a:off x="5556503" y="990304"/>
          <a:ext cx="6108193" cy="5036246"/>
        </p:xfrm>
        <a:graphic>
          <a:graphicData uri="http://schemas.openxmlformats.org/drawingml/2006/table">
            <a:tbl>
              <a:tblPr firstRow="1" firstCol="1" bandRow="1"/>
              <a:tblGrid>
                <a:gridCol w="2329121">
                  <a:extLst>
                    <a:ext uri="{9D8B030D-6E8A-4147-A177-3AD203B41FA5}">
                      <a16:colId xmlns:a16="http://schemas.microsoft.com/office/drawing/2014/main" val="399362061"/>
                    </a:ext>
                  </a:extLst>
                </a:gridCol>
                <a:gridCol w="3779072">
                  <a:extLst>
                    <a:ext uri="{9D8B030D-6E8A-4147-A177-3AD203B41FA5}">
                      <a16:colId xmlns:a16="http://schemas.microsoft.com/office/drawing/2014/main" val="2813960693"/>
                    </a:ext>
                  </a:extLst>
                </a:gridCol>
              </a:tblGrid>
              <a:tr h="441583">
                <a:tc>
                  <a:txBody>
                    <a:bodyPr/>
                    <a:lstStyle/>
                    <a:p>
                      <a:pPr algn="l" fontAlgn="t">
                        <a:buNone/>
                      </a:pPr>
                      <a:r>
                        <a:rPr lang="es-MX" sz="1800" b="1" i="0" u="none" strike="noStrike" dirty="0">
                          <a:solidFill>
                            <a:srgbClr val="FFFFFF"/>
                          </a:solidFill>
                          <a:effectLst/>
                          <a:latin typeface="Arial" panose="020B0604020202020204" pitchFamily="34" charset="0"/>
                          <a:ea typeface="Arial" panose="020B0604020202020204" pitchFamily="34" charset="0"/>
                        </a:rPr>
                        <a:t>Momento</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534AB7"/>
                    </a:solidFill>
                  </a:tcPr>
                </a:tc>
                <a:tc>
                  <a:txBody>
                    <a:bodyPr/>
                    <a:lstStyle/>
                    <a:p>
                      <a:pPr algn="l" fontAlgn="t">
                        <a:buNone/>
                      </a:pPr>
                      <a:r>
                        <a:rPr lang="es-MX" sz="1800" b="1" i="0" u="none" strike="noStrike">
                          <a:solidFill>
                            <a:srgbClr val="FFFFFF"/>
                          </a:solidFill>
                          <a:effectLst/>
                          <a:latin typeface="Arial" panose="020B0604020202020204" pitchFamily="34" charset="0"/>
                          <a:ea typeface="Arial" panose="020B0604020202020204" pitchFamily="34" charset="0"/>
                        </a:rPr>
                        <a:t>Definicion y significado</a:t>
                      </a:r>
                      <a:endParaRPr lang="es-MX" sz="3200" b="0" i="0" u="none" strike="noStrike">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534AB7"/>
                    </a:solidFill>
                  </a:tcPr>
                </a:tc>
                <a:extLst>
                  <a:ext uri="{0D108BD9-81ED-4DB2-BD59-A6C34878D82A}">
                    <a16:rowId xmlns:a16="http://schemas.microsoft.com/office/drawing/2014/main" val="3327291438"/>
                  </a:ext>
                </a:extLst>
              </a:tr>
              <a:tr h="901292">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Media</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Centro de masa de la distribución. Primer momento. </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extLst>
                  <a:ext uri="{0D108BD9-81ED-4DB2-BD59-A6C34878D82A}">
                    <a16:rowId xmlns:a16="http://schemas.microsoft.com/office/drawing/2014/main" val="1071068763"/>
                  </a:ext>
                </a:extLst>
              </a:tr>
              <a:tr h="901292">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Varianza</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noFill/>
                  </a:tcPr>
                </a:tc>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Dispersión en torno a la media. Segundo momento central.</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noFill/>
                  </a:tcPr>
                </a:tc>
                <a:extLst>
                  <a:ext uri="{0D108BD9-81ED-4DB2-BD59-A6C34878D82A}">
                    <a16:rowId xmlns:a16="http://schemas.microsoft.com/office/drawing/2014/main" val="2808446676"/>
                  </a:ext>
                </a:extLst>
              </a:tr>
              <a:tr h="735049">
                <a:tc>
                  <a:txBody>
                    <a:bodyPr/>
                    <a:lstStyle/>
                    <a:p>
                      <a:pPr algn="l" fontAlgn="t">
                        <a:buNone/>
                      </a:pPr>
                      <a:r>
                        <a:rPr lang="es-MX" sz="1800" b="0" i="0" u="none" strike="noStrike">
                          <a:solidFill>
                            <a:srgbClr val="2C2C2A"/>
                          </a:solidFill>
                          <a:effectLst/>
                          <a:latin typeface="Arial" panose="020B0604020202020204" pitchFamily="34" charset="0"/>
                          <a:ea typeface="Arial" panose="020B0604020202020204" pitchFamily="34" charset="0"/>
                        </a:rPr>
                        <a:t>Desviacion estandar  sigma</a:t>
                      </a:r>
                      <a:endParaRPr lang="es-MX" sz="3200" b="0" i="0" u="none" strike="noStrike">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tc>
                  <a:txBody>
                    <a:bodyPr/>
                    <a:lstStyle/>
                    <a:p>
                      <a:pPr algn="l" fontAlgn="t">
                        <a:buNone/>
                      </a:pPr>
                      <a:r>
                        <a:rPr lang="es-MX" sz="1800" b="0" i="0" u="none" strike="noStrike">
                          <a:solidFill>
                            <a:srgbClr val="2C2C2A"/>
                          </a:solidFill>
                          <a:effectLst/>
                          <a:latin typeface="Arial" panose="020B0604020202020204" pitchFamily="34" charset="0"/>
                          <a:ea typeface="Arial" panose="020B0604020202020204" pitchFamily="34" charset="0"/>
                        </a:rPr>
                        <a:t>Raiz de la varianza. Mismas unidades que X.</a:t>
                      </a:r>
                      <a:endParaRPr lang="es-MX" sz="3200" b="0" i="0" u="none" strike="noStrike">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extLst>
                  <a:ext uri="{0D108BD9-81ED-4DB2-BD59-A6C34878D82A}">
                    <a16:rowId xmlns:a16="http://schemas.microsoft.com/office/drawing/2014/main" val="1572747032"/>
                  </a:ext>
                </a:extLst>
              </a:tr>
              <a:tr h="1028515">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Asimetría (</a:t>
                      </a:r>
                      <a:r>
                        <a:rPr lang="es-MX" sz="1800" b="0" i="0" u="none" strike="noStrike" dirty="0" err="1">
                          <a:solidFill>
                            <a:srgbClr val="2C2C2A"/>
                          </a:solidFill>
                          <a:effectLst/>
                          <a:latin typeface="Arial" panose="020B0604020202020204" pitchFamily="34" charset="0"/>
                          <a:ea typeface="Arial" panose="020B0604020202020204" pitchFamily="34" charset="0"/>
                        </a:rPr>
                        <a:t>skewness</a:t>
                      </a:r>
                      <a:r>
                        <a:rPr lang="es-MX" sz="1800" b="0" i="0" u="none" strike="noStrike" dirty="0">
                          <a:solidFill>
                            <a:srgbClr val="2C2C2A"/>
                          </a:solidFill>
                          <a:effectLst/>
                          <a:latin typeface="Arial" panose="020B0604020202020204" pitchFamily="34" charset="0"/>
                          <a:ea typeface="Arial" panose="020B0604020202020204" pitchFamily="34" charset="0"/>
                        </a:rPr>
                        <a:t>)</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noFill/>
                  </a:tcPr>
                </a:tc>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Tercer momento central normalizado. Mide simetría de la distribución.</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noFill/>
                  </a:tcPr>
                </a:tc>
                <a:extLst>
                  <a:ext uri="{0D108BD9-81ED-4DB2-BD59-A6C34878D82A}">
                    <a16:rowId xmlns:a16="http://schemas.microsoft.com/office/drawing/2014/main" val="4163400343"/>
                  </a:ext>
                </a:extLst>
              </a:tr>
              <a:tr h="1028515">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Curtosis</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tc>
                  <a:txBody>
                    <a:bodyPr/>
                    <a:lstStyle/>
                    <a:p>
                      <a:pPr algn="l" fontAlgn="t">
                        <a:buNone/>
                      </a:pPr>
                      <a:r>
                        <a:rPr lang="es-MX" sz="1800" b="0" i="0" u="none" strike="noStrike" dirty="0">
                          <a:solidFill>
                            <a:srgbClr val="2C2C2A"/>
                          </a:solidFill>
                          <a:effectLst/>
                          <a:latin typeface="Arial" panose="020B0604020202020204" pitchFamily="34" charset="0"/>
                          <a:ea typeface="Arial" panose="020B0604020202020204" pitchFamily="34" charset="0"/>
                        </a:rPr>
                        <a:t>Cuarto momento central normalizado. Mide el peso de las colas.</a:t>
                      </a:r>
                      <a:endParaRPr lang="es-MX" sz="3200" b="0" i="0" u="none" strike="noStrike" dirty="0">
                        <a:effectLst/>
                        <a:latin typeface="Arial" panose="020B0604020202020204" pitchFamily="34" charset="0"/>
                      </a:endParaRPr>
                    </a:p>
                  </a:txBody>
                  <a:tcPr marL="103840" marR="103840" marT="69227" marB="69227">
                    <a:lnL w="12700" cap="flat" cmpd="sng" algn="ctr">
                      <a:solidFill>
                        <a:srgbClr val="D3D1C7"/>
                      </a:solidFill>
                      <a:prstDash val="solid"/>
                      <a:round/>
                      <a:headEnd type="none" w="med" len="med"/>
                      <a:tailEnd type="none" w="med" len="med"/>
                    </a:lnL>
                    <a:lnR w="12700" cap="flat" cmpd="sng" algn="ctr">
                      <a:solidFill>
                        <a:srgbClr val="D3D1C7"/>
                      </a:solidFill>
                      <a:prstDash val="solid"/>
                      <a:round/>
                      <a:headEnd type="none" w="med" len="med"/>
                      <a:tailEnd type="none" w="med" len="med"/>
                    </a:lnR>
                    <a:lnT w="12700" cap="flat" cmpd="sng" algn="ctr">
                      <a:solidFill>
                        <a:srgbClr val="D3D1C7"/>
                      </a:solidFill>
                      <a:prstDash val="solid"/>
                      <a:round/>
                      <a:headEnd type="none" w="med" len="med"/>
                      <a:tailEnd type="none" w="med" len="med"/>
                    </a:lnT>
                    <a:lnB w="12700" cap="flat" cmpd="sng" algn="ctr">
                      <a:solidFill>
                        <a:srgbClr val="D3D1C7"/>
                      </a:solidFill>
                      <a:prstDash val="solid"/>
                      <a:round/>
                      <a:headEnd type="none" w="med" len="med"/>
                      <a:tailEnd type="none" w="med" len="med"/>
                    </a:lnB>
                    <a:solidFill>
                      <a:srgbClr val="F1EFE8"/>
                    </a:solidFill>
                  </a:tcPr>
                </a:tc>
                <a:extLst>
                  <a:ext uri="{0D108BD9-81ED-4DB2-BD59-A6C34878D82A}">
                    <a16:rowId xmlns:a16="http://schemas.microsoft.com/office/drawing/2014/main" val="3061568259"/>
                  </a:ext>
                </a:extLst>
              </a:tr>
            </a:tbl>
          </a:graphicData>
        </a:graphic>
      </p:graphicFrame>
    </p:spTree>
    <p:extLst>
      <p:ext uri="{BB962C8B-B14F-4D97-AF65-F5344CB8AC3E}">
        <p14:creationId xmlns:p14="http://schemas.microsoft.com/office/powerpoint/2010/main" val="1119867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Marcador de contenido 2">
            <a:extLst>
              <a:ext uri="{FF2B5EF4-FFF2-40B4-BE49-F238E27FC236}">
                <a16:creationId xmlns:a16="http://schemas.microsoft.com/office/drawing/2014/main" id="{837E01E7-BB6D-C8F1-7EAC-56B2EFD2EC1F}"/>
              </a:ext>
            </a:extLst>
          </p:cNvPr>
          <p:cNvSpPr>
            <a:spLocks noGrp="1"/>
          </p:cNvSpPr>
          <p:nvPr>
            <p:ph idx="1"/>
          </p:nvPr>
        </p:nvSpPr>
        <p:spPr>
          <a:xfrm>
            <a:off x="620926" y="1597432"/>
            <a:ext cx="11306350" cy="1932349"/>
          </a:xfrm>
        </p:spPr>
        <p:txBody>
          <a:bodyPr anchor="ctr">
            <a:normAutofit/>
          </a:bodyPr>
          <a:lstStyle/>
          <a:p>
            <a:pPr marL="0" indent="0">
              <a:buNone/>
            </a:pPr>
            <a:r>
              <a:rPr lang="es-MX" sz="2400" dirty="0"/>
              <a:t>En reconocimiento de patrones cada observación es un vector de n características:</a:t>
            </a:r>
          </a:p>
          <a:p>
            <a:pPr marL="0" indent="0">
              <a:buNone/>
            </a:pPr>
            <a:r>
              <a:rPr lang="es-MX" sz="2400" dirty="0"/>
              <a:t>				x = [x1, x2, x3, …, </a:t>
            </a:r>
            <a:r>
              <a:rPr lang="es-MX" sz="2400" dirty="0" err="1"/>
              <a:t>xn</a:t>
            </a:r>
            <a:r>
              <a:rPr lang="es-MX" sz="2400" dirty="0"/>
              <a:t>]</a:t>
            </a:r>
          </a:p>
          <a:p>
            <a:pPr marL="0" indent="0">
              <a:buNone/>
            </a:pPr>
            <a:r>
              <a:rPr lang="es-MX" sz="2400" dirty="0"/>
              <a:t>Estas características se modelan como distribuciones de probabilidad.</a:t>
            </a:r>
          </a:p>
          <a:p>
            <a:pPr marL="0" indent="0">
              <a:buNone/>
            </a:pPr>
            <a:endParaRPr lang="es-MX" sz="2000" dirty="0"/>
          </a:p>
        </p:txBody>
      </p:sp>
      <p:sp>
        <p:nvSpPr>
          <p:cNvPr id="4" name="Marcador de número de diapositiva 3">
            <a:extLst>
              <a:ext uri="{FF2B5EF4-FFF2-40B4-BE49-F238E27FC236}">
                <a16:creationId xmlns:a16="http://schemas.microsoft.com/office/drawing/2014/main" id="{0F7C14D2-2441-97E5-53AF-0162DA7A7CFD}"/>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90865DE-5B71-69D4-CF71-4727B50917E4}"/>
                  </a:ext>
                </a:extLst>
              </p:cNvPr>
              <p:cNvSpPr txBox="1"/>
              <p:nvPr/>
            </p:nvSpPr>
            <p:spPr>
              <a:xfrm>
                <a:off x="620926" y="3419168"/>
                <a:ext cx="5171767" cy="26552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Media vectorial</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𝜇</m:t>
                      </m:r>
                      <m:r>
                        <a:rPr kumimoji="0" lang="es-MX" sz="24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𝐸</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oMath>
                  </m:oMathPara>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𝜇</m:t>
                      </m:r>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m>
                            <m:mPr>
                              <m:plcHide m:val="on"/>
                              <m:mcs>
                                <m:mc>
                                  <m:mcPr>
                                    <m:count m:val="1"/>
                                    <m:mcJc m:val="center"/>
                                  </m:mcPr>
                                </m:mc>
                              </m:mcs>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𝐸</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sSub>
                                      <m:sSub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sub>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1</m:t>
                                        </m:r>
                                      </m:sub>
                                    </m:sSub>
                                  </m:e>
                                </m:d>
                              </m:e>
                            </m:mr>
                            <m:m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𝐸</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sSub>
                                      <m:sSub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sub>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2</m:t>
                                        </m:r>
                                      </m:sub>
                                    </m:sSub>
                                  </m:e>
                                </m:d>
                              </m:e>
                            </m:mr>
                            <m:mr>
                              <m:e>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m:t>
                                </m:r>
                                <m:phant>
                                  <m:phantPr>
                                    <m:zeroAsc m:val="on"/>
                                    <m:ctrlP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ctrlPr>
                                  </m:phantPr>
                                  <m:e>
                                    <m:r>
                                      <a:rPr kumimoji="0" lang="ar-AE" sz="2400" b="0" i="0" u="none" strike="noStrike" kern="1200" cap="none" spc="0" normalizeH="0" baseline="0" noProof="0">
                                        <a:ln>
                                          <a:noFill/>
                                        </a:ln>
                                        <a:solidFill>
                                          <a:prstClr val="black"/>
                                        </a:solidFill>
                                        <a:effectLst/>
                                        <a:uLnTx/>
                                        <a:uFillTx/>
                                        <a:latin typeface="Cambria Math" panose="02040503050406030204" pitchFamily="18" charset="0"/>
                                        <a:ea typeface="+mn-ea"/>
                                      </a:rPr>
                                      <m:t> </m:t>
                                    </m:r>
                                  </m:e>
                                </m:phant>
                              </m:e>
                            </m:mr>
                            <m:m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𝐸</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sSub>
                                      <m:sSub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sub>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t>𝑑</m:t>
                                        </m:r>
                                      </m:sub>
                                    </m:sSub>
                                  </m:e>
                                </m:d>
                              </m:e>
                            </m:mr>
                          </m:m>
                        </m:e>
                      </m:d>
                    </m:oMath>
                  </m:oMathPara>
                </a14:m>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mc:Choice>
        <mc:Fallback xmlns="">
          <p:sp>
            <p:nvSpPr>
              <p:cNvPr id="5" name="CuadroTexto 4">
                <a:extLst>
                  <a:ext uri="{FF2B5EF4-FFF2-40B4-BE49-F238E27FC236}">
                    <a16:creationId xmlns:a16="http://schemas.microsoft.com/office/drawing/2014/main" id="{C90865DE-5B71-69D4-CF71-4727B50917E4}"/>
                  </a:ext>
                </a:extLst>
              </p:cNvPr>
              <p:cNvSpPr txBox="1">
                <a:spLocks noRot="1" noChangeAspect="1" noMove="1" noResize="1" noEditPoints="1" noAdjustHandles="1" noChangeArrowheads="1" noChangeShapeType="1" noTextEdit="1"/>
              </p:cNvSpPr>
              <p:nvPr/>
            </p:nvSpPr>
            <p:spPr>
              <a:xfrm>
                <a:off x="620926" y="3419168"/>
                <a:ext cx="5171767" cy="2655214"/>
              </a:xfrm>
              <a:prstGeom prst="rect">
                <a:avLst/>
              </a:prstGeom>
              <a:blipFill>
                <a:blip r:embed="rId2"/>
                <a:stretch>
                  <a:fillRect l="-1887" t="-18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5D7D9A1-56D5-41BF-7185-E6C29702622C}"/>
                  </a:ext>
                </a:extLst>
              </p:cNvPr>
              <p:cNvSpPr txBox="1"/>
              <p:nvPr/>
            </p:nvSpPr>
            <p:spPr>
              <a:xfrm>
                <a:off x="5673587" y="3419168"/>
                <a:ext cx="6213987" cy="30845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Matriz de covarianza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Describe cómo varían las variables juntas.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0" lang="el-GR" sz="2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Σ</m:t>
                      </m:r>
                      <m:r>
                        <a:rPr kumimoji="0" lang="el-GR" sz="2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d>
                            <m:dPr>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𝑥</m:t>
                              </m:r>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𝜇</m:t>
                              </m:r>
                            </m:e>
                          </m:d>
                          <m:d>
                            <m:dPr>
                              <m:endChr m:val="]"/>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𝑥</m:t>
                              </m:r>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𝜇</m:t>
                              </m:r>
                              <m:sSup>
                                <m:sSupPr>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sSupPr>
                                <m:e>
                                  <m:d>
                                    <m:dPr>
                                      <m:begChr m:val=""/>
                                      <m:endChr m:val=""/>
                                      <m:ctrlP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d>
                                </m:e>
                                <m:sup>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𝑇</m:t>
                                  </m:r>
                                </m:sup>
                              </m:sSup>
                            </m:e>
                          </m:d>
                        </m:e>
                      </m:d>
                    </m:oMath>
                  </m:oMathPara>
                </a14:m>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rPr>
                  <a:t>Forma:</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m:rPr>
                          <m:sty m:val="p"/>
                        </m:rPr>
                        <a:rPr kumimoji="0" lang="el-GR" sz="2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Σ</m:t>
                      </m:r>
                      <m:r>
                        <a:rPr kumimoji="0" lang="el-GR" sz="2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m>
                            <m:mPr>
                              <m:plcHide m:val="on"/>
                              <m:mcs>
                                <m:mc>
                                  <m:mcPr>
                                    <m:count m:val="3"/>
                                    <m:mcJc m:val="center"/>
                                  </m:mcPr>
                                </m:mc>
                              </m:mcs>
                              <m:ctrlP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sSubSup>
                                  <m:sSubSupPr>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Sup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𝜎</m:t>
                                    </m:r>
                                  </m:e>
                                  <m:sub>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1</m:t>
                                    </m:r>
                                  </m:sub>
                                  <m:sup>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2</m:t>
                                    </m:r>
                                  </m:sup>
                                </m:sSubSup>
                              </m:e>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𝑐𝑜</m:t>
                                </m:r>
                                <m:sSub>
                                  <m:sSubPr>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𝑣</m:t>
                                    </m:r>
                                  </m:e>
                                  <m:sub>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12</m:t>
                                    </m:r>
                                  </m:sub>
                                </m:sSub>
                              </m:e>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mr>
                            <m:m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𝑐𝑜</m:t>
                                </m:r>
                                <m:sSub>
                                  <m:sSubPr>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𝑣</m:t>
                                    </m:r>
                                  </m:e>
                                  <m:sub>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21</m:t>
                                    </m:r>
                                  </m:sub>
                                </m:sSub>
                              </m:e>
                              <m:e>
                                <m:sSubSup>
                                  <m:sSubSupPr>
                                    <m:ctrlP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SupPr>
                                  <m:e>
                                    <m:r>
                                      <a:rPr kumimoji="0" lang="ar-AE"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𝜎</m:t>
                                    </m:r>
                                  </m:e>
                                  <m:sub>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2</m:t>
                                    </m:r>
                                  </m:sub>
                                  <m:sup>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2</m:t>
                                    </m:r>
                                  </m:sup>
                                </m:sSubSup>
                              </m:e>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mr>
                            <m:mr>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e>
                                <m:r>
                                  <a:rPr kumimoji="0" lang="ar-AE" sz="24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e>
                            </m:mr>
                          </m:m>
                        </m:e>
                      </m:d>
                    </m:oMath>
                  </m:oMathPara>
                </a14:m>
                <a:endParaRPr kumimoji="0" lang="ar-A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6" name="CuadroTexto 5">
                <a:extLst>
                  <a:ext uri="{FF2B5EF4-FFF2-40B4-BE49-F238E27FC236}">
                    <a16:creationId xmlns:a16="http://schemas.microsoft.com/office/drawing/2014/main" id="{35D7D9A1-56D5-41BF-7185-E6C29702622C}"/>
                  </a:ext>
                </a:extLst>
              </p:cNvPr>
              <p:cNvSpPr txBox="1">
                <a:spLocks noRot="1" noChangeAspect="1" noMove="1" noResize="1" noEditPoints="1" noAdjustHandles="1" noChangeArrowheads="1" noChangeShapeType="1" noTextEdit="1"/>
              </p:cNvSpPr>
              <p:nvPr/>
            </p:nvSpPr>
            <p:spPr>
              <a:xfrm>
                <a:off x="5673587" y="3419168"/>
                <a:ext cx="6213987" cy="3084562"/>
              </a:xfrm>
              <a:prstGeom prst="rect">
                <a:avLst/>
              </a:prstGeom>
              <a:blipFill>
                <a:blip r:embed="rId3"/>
                <a:stretch>
                  <a:fillRect l="-1570" t="-1581"/>
                </a:stretch>
              </a:blipFill>
            </p:spPr>
            <p:txBody>
              <a:bodyPr/>
              <a:lstStyle/>
              <a:p>
                <a:r>
                  <a:rPr lang="es-MX">
                    <a:noFill/>
                  </a:rPr>
                  <a:t> </a:t>
                </a:r>
              </a:p>
            </p:txBody>
          </p:sp>
        </mc:Fallback>
      </mc:AlternateContent>
    </p:spTree>
    <p:extLst>
      <p:ext uri="{BB962C8B-B14F-4D97-AF65-F5344CB8AC3E}">
        <p14:creationId xmlns:p14="http://schemas.microsoft.com/office/powerpoint/2010/main" val="1542325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D88420-F8FE-D065-1FC7-A617FB90EDFF}"/>
                  </a:ext>
                </a:extLst>
              </p:cNvPr>
              <p:cNvSpPr>
                <a:spLocks noGrp="1"/>
              </p:cNvSpPr>
              <p:nvPr>
                <p:ph idx="1"/>
              </p:nvPr>
            </p:nvSpPr>
            <p:spPr>
              <a:xfrm>
                <a:off x="914402" y="2113935"/>
                <a:ext cx="10500850" cy="4253857"/>
              </a:xfrm>
            </p:spPr>
            <p:txBody>
              <a:bodyPr anchor="t">
                <a:normAutofit/>
              </a:bodyPr>
              <a:lstStyle/>
              <a:p>
                <a:pPr marL="0" indent="0">
                  <a:buNone/>
                </a:pPr>
                <a:r>
                  <a:rPr lang="es-MX" sz="2400" dirty="0"/>
                  <a:t>Diagonal: varianzas (</a:t>
                </a:r>
                <a14:m>
                  <m:oMath xmlns:m="http://schemas.openxmlformats.org/officeDocument/2006/math">
                    <m:sSub>
                      <m:sSubPr>
                        <m:ctrlPr>
                          <a:rPr lang="es-MX" sz="2400" i="1" smtClean="0">
                            <a:latin typeface="Cambria Math" panose="02040503050406030204" pitchFamily="18" charset="0"/>
                            <a:ea typeface="Cambria Math" panose="02040503050406030204" pitchFamily="18" charset="0"/>
                          </a:rPr>
                        </m:ctrlPr>
                      </m:sSubPr>
                      <m:e>
                        <m:r>
                          <a:rPr lang="es-MX" sz="2400" i="1" smtClean="0">
                            <a:latin typeface="Cambria Math" panose="02040503050406030204" pitchFamily="18" charset="0"/>
                            <a:ea typeface="Cambria Math" panose="02040503050406030204" pitchFamily="18" charset="0"/>
                          </a:rPr>
                          <m:t>𝜎</m:t>
                        </m:r>
                      </m:e>
                      <m:sub>
                        <m:r>
                          <m:rPr>
                            <m:sty m:val="p"/>
                          </m:rPr>
                          <a:rPr lang="es-MX" sz="2400" b="0" i="1" smtClean="0">
                            <a:latin typeface="Cambria Math" panose="02040503050406030204" pitchFamily="18" charset="0"/>
                          </a:rPr>
                          <m:t>ii</m:t>
                        </m:r>
                      </m:sub>
                    </m:sSub>
                    <m:r>
                      <a:rPr lang="es-MX" sz="2400" b="0" i="1" smtClean="0">
                        <a:latin typeface="Cambria Math" panose="02040503050406030204" pitchFamily="18" charset="0"/>
                      </a:rPr>
                      <m:t>=</m:t>
                    </m:r>
                    <m:sSubSup>
                      <m:sSubSupPr>
                        <m:ctrlPr>
                          <a:rPr lang="es-MX" sz="2400" b="0" i="1" smtClean="0">
                            <a:latin typeface="Cambria Math" panose="02040503050406030204" pitchFamily="18" charset="0"/>
                            <a:ea typeface="Cambria Math" panose="02040503050406030204" pitchFamily="18" charset="0"/>
                          </a:rPr>
                        </m:ctrlPr>
                      </m:sSubSupPr>
                      <m:e>
                        <m:r>
                          <a:rPr lang="es-MX" sz="2400" b="0" i="1" smtClean="0">
                            <a:latin typeface="Cambria Math" panose="02040503050406030204" pitchFamily="18" charset="0"/>
                            <a:ea typeface="Cambria Math" panose="02040503050406030204" pitchFamily="18" charset="0"/>
                          </a:rPr>
                          <m:t>𝜎</m:t>
                        </m:r>
                      </m:e>
                      <m:sub>
                        <m:r>
                          <m:rPr>
                            <m:sty m:val="p"/>
                          </m:rPr>
                          <a:rPr lang="es-MX" sz="2400" b="0" i="1" smtClean="0">
                            <a:latin typeface="Cambria Math" panose="02040503050406030204" pitchFamily="18" charset="0"/>
                          </a:rPr>
                          <m:t>i</m:t>
                        </m:r>
                      </m:sub>
                      <m:sup>
                        <m:r>
                          <a:rPr lang="es-MX" sz="2400" b="0" i="1" smtClean="0">
                            <a:latin typeface="Cambria Math" panose="02040503050406030204" pitchFamily="18" charset="0"/>
                          </a:rPr>
                          <m:t>2</m:t>
                        </m:r>
                      </m:sup>
                    </m:sSubSup>
                  </m:oMath>
                </a14:m>
                <a:r>
                  <a:rPr lang="es-MX" sz="2400" dirty="0"/>
                  <a:t>) </a:t>
                </a:r>
              </a:p>
              <a:p>
                <a:pPr marL="0" indent="0">
                  <a:buNone/>
                </a:pPr>
                <a:r>
                  <a:rPr lang="es-MX" sz="2400" dirty="0"/>
                  <a:t>Fuera diagonal: covarianzas entre pares</a:t>
                </a:r>
              </a:p>
              <a:p>
                <a:pPr marL="0" indent="0">
                  <a:buNone/>
                </a:pPr>
                <a:r>
                  <a:rPr lang="es-MX" sz="2400" dirty="0"/>
                  <a:t>Además, la </a:t>
                </a:r>
                <a:r>
                  <a:rPr lang="es-MX" sz="2400" b="1" dirty="0"/>
                  <a:t>matriz de correlación </a:t>
                </a:r>
                <a:r>
                  <a:rPr lang="es-MX" sz="2400" dirty="0"/>
                  <a:t>normaliza la covarianza para que cada entrada </a:t>
                </a:r>
                <a14:m>
                  <m:oMath xmlns:m="http://schemas.openxmlformats.org/officeDocument/2006/math">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𝜌</m:t>
                        </m:r>
                      </m:e>
                      <m:sub>
                        <m:r>
                          <m:rPr>
                            <m:sty m:val="p"/>
                          </m:rPr>
                          <a:rPr lang="es-MX" sz="2400" b="0" i="1">
                            <a:latin typeface="Cambria Math" panose="02040503050406030204" pitchFamily="18" charset="0"/>
                          </a:rPr>
                          <m:t>ij</m:t>
                        </m:r>
                      </m:sub>
                    </m:sSub>
                  </m:oMath>
                </a14:m>
                <a:r>
                  <a:rPr lang="es-MX" sz="2400" dirty="0"/>
                  <a:t>caiga en [-1, 1]:</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𝜌</m:t>
                          </m:r>
                        </m:e>
                        <m:sub>
                          <m:r>
                            <a:rPr lang="ar-AE" sz="2400" i="1">
                              <a:latin typeface="Cambria Math" panose="02040503050406030204" pitchFamily="18" charset="0"/>
                            </a:rPr>
                            <m:t>𝑖𝑗</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i="1">
                              <a:latin typeface="Cambria Math" panose="02040503050406030204" pitchFamily="18" charset="0"/>
                            </a:rPr>
                            <m:t>𝐶𝑜𝑣</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𝑗</m:t>
                                  </m:r>
                                </m:sub>
                              </m:sSub>
                            </m:e>
                          </m:d>
                        </m:num>
                        <m:den>
                          <m:sSub>
                            <m:sSubPr>
                              <m:ctrlPr>
                                <a:rPr lang="ar-AE" sz="2400" i="1">
                                  <a:latin typeface="Cambria Math" panose="02040503050406030204" pitchFamily="18" charset="0"/>
                                </a:rPr>
                              </m:ctrlPr>
                            </m:sSubPr>
                            <m:e>
                              <m:r>
                                <a:rPr lang="ar-AE" sz="2400" i="1">
                                  <a:latin typeface="Cambria Math" panose="02040503050406030204" pitchFamily="18" charset="0"/>
                                </a:rPr>
                                <m:t>𝜎</m:t>
                              </m:r>
                            </m:e>
                            <m:sub>
                              <m:r>
                                <a:rPr lang="ar-AE" sz="2400" i="1">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𝜎</m:t>
                              </m:r>
                            </m:e>
                            <m:sub>
                              <m:r>
                                <a:rPr lang="ar-AE" sz="2400" i="1">
                                  <a:latin typeface="Cambria Math" panose="02040503050406030204" pitchFamily="18" charset="0"/>
                                </a:rPr>
                                <m:t>𝑗</m:t>
                              </m:r>
                            </m:sub>
                          </m:sSub>
                        </m:den>
                      </m:f>
                    </m:oMath>
                  </m:oMathPara>
                </a14:m>
                <a:endParaRPr lang="ar-AE" sz="2400" dirty="0"/>
              </a:p>
              <a:p>
                <a:pPr marL="0" indent="0">
                  <a:buNone/>
                </a:pPr>
                <a14:m>
                  <m:oMath xmlns:m="http://schemas.openxmlformats.org/officeDocument/2006/math">
                    <m:r>
                      <a:rPr lang="es-MX" sz="2400" i="1">
                        <a:latin typeface="Cambria Math" panose="02040503050406030204" pitchFamily="18" charset="0"/>
                        <a:ea typeface="Cambria Math" panose="02040503050406030204" pitchFamily="18" charset="0"/>
                      </a:rPr>
                      <m:t>𝜌</m:t>
                    </m:r>
                    <m:r>
                      <a:rPr lang="es-MX" sz="2400" i="1">
                        <a:latin typeface="Cambria Math" panose="02040503050406030204" pitchFamily="18" charset="0"/>
                        <a:ea typeface="Cambria Math" panose="02040503050406030204" pitchFamily="18" charset="0"/>
                      </a:rPr>
                      <m:t> </m:t>
                    </m:r>
                  </m:oMath>
                </a14:m>
                <a:r>
                  <a:rPr lang="es-MX" sz="2400" dirty="0"/>
                  <a:t>= +1  -&gt;  correlación lineal perfecta positiva</a:t>
                </a:r>
              </a:p>
              <a:p>
                <a:pPr marL="0" indent="0">
                  <a:buNone/>
                </a:pPr>
                <a14:m>
                  <m:oMath xmlns:m="http://schemas.openxmlformats.org/officeDocument/2006/math">
                    <m:r>
                      <a:rPr lang="es-MX" sz="2400" i="1">
                        <a:latin typeface="Cambria Math" panose="02040503050406030204" pitchFamily="18" charset="0"/>
                        <a:ea typeface="Cambria Math" panose="02040503050406030204" pitchFamily="18" charset="0"/>
                      </a:rPr>
                      <m:t>𝜌</m:t>
                    </m:r>
                    <m:r>
                      <a:rPr lang="es-MX" sz="2400" i="1">
                        <a:latin typeface="Cambria Math" panose="02040503050406030204" pitchFamily="18" charset="0"/>
                        <a:ea typeface="Cambria Math" panose="02040503050406030204" pitchFamily="18" charset="0"/>
                      </a:rPr>
                      <m:t> </m:t>
                    </m:r>
                  </m:oMath>
                </a14:m>
                <a:r>
                  <a:rPr lang="es-MX" sz="2400" dirty="0"/>
                  <a:t>=  0  -&gt;  variables no correlacionadas (no implica independencia)</a:t>
                </a:r>
              </a:p>
              <a:p>
                <a:pPr marL="0" indent="0">
                  <a:buNone/>
                </a:pPr>
                <a14:m>
                  <m:oMath xmlns:m="http://schemas.openxmlformats.org/officeDocument/2006/math">
                    <m:r>
                      <a:rPr lang="es-MX" sz="2400" i="1">
                        <a:latin typeface="Cambria Math" panose="02040503050406030204" pitchFamily="18" charset="0"/>
                        <a:ea typeface="Cambria Math" panose="02040503050406030204" pitchFamily="18" charset="0"/>
                      </a:rPr>
                      <m:t>𝜌</m:t>
                    </m:r>
                    <m:r>
                      <a:rPr lang="es-MX" sz="2400" i="1">
                        <a:latin typeface="Cambria Math" panose="02040503050406030204" pitchFamily="18" charset="0"/>
                        <a:ea typeface="Cambria Math" panose="02040503050406030204" pitchFamily="18" charset="0"/>
                      </a:rPr>
                      <m:t> </m:t>
                    </m:r>
                  </m:oMath>
                </a14:m>
                <a:r>
                  <a:rPr lang="es-MX" sz="2400" dirty="0"/>
                  <a:t>= -1  -&gt;  correlación lineal perfecta negativa</a:t>
                </a:r>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CAD88420-F8FE-D065-1FC7-A617FB90EDFF}"/>
                  </a:ext>
                </a:extLst>
              </p:cNvPr>
              <p:cNvSpPr>
                <a:spLocks noGrp="1" noRot="1" noChangeAspect="1" noMove="1" noResize="1" noEditPoints="1" noAdjustHandles="1" noChangeArrowheads="1" noChangeShapeType="1" noTextEdit="1"/>
              </p:cNvSpPr>
              <p:nvPr>
                <p:ph idx="1"/>
              </p:nvPr>
            </p:nvSpPr>
            <p:spPr>
              <a:xfrm>
                <a:off x="914402" y="2113935"/>
                <a:ext cx="10500850" cy="4253857"/>
              </a:xfrm>
              <a:blipFill>
                <a:blip r:embed="rId2"/>
                <a:stretch>
                  <a:fillRect l="-871" t="-1576"/>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id="{25DB71BF-F66F-8354-F789-A65E97785DD3}"/>
              </a:ext>
            </a:extLst>
          </p:cNvPr>
          <p:cNvPicPr>
            <a:picLocks noChangeAspect="1"/>
          </p:cNvPicPr>
          <p:nvPr/>
        </p:nvPicPr>
        <p:blipFill>
          <a:blip r:embed="rId3"/>
          <a:stretch>
            <a:fillRect/>
          </a:stretch>
        </p:blipFill>
        <p:spPr>
          <a:xfrm>
            <a:off x="1138362" y="724912"/>
            <a:ext cx="4957638" cy="1032840"/>
          </a:xfrm>
          <a:prstGeom prst="rect">
            <a:avLst/>
          </a:prstGeom>
        </p:spPr>
      </p:pic>
      <p:sp>
        <p:nvSpPr>
          <p:cNvPr id="12" name="Rectangle 11">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2F1E6837-C506-EA20-9A51-9F2684BDB4B2}"/>
              </a:ext>
            </a:extLst>
          </p:cNvPr>
          <p:cNvSpPr>
            <a:spLocks noGrp="1"/>
          </p:cNvSpPr>
          <p:nvPr>
            <p:ph type="sldNum" sz="quarter" idx="12"/>
          </p:nvPr>
        </p:nvSpPr>
        <p:spPr>
          <a:xfrm>
            <a:off x="11704320" y="6451877"/>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smtClean="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7" name="Imagen 6">
            <a:extLst>
              <a:ext uri="{FF2B5EF4-FFF2-40B4-BE49-F238E27FC236}">
                <a16:creationId xmlns:a16="http://schemas.microsoft.com/office/drawing/2014/main" id="{BD1829D3-C600-D683-9B5F-B75374F7C86E}"/>
              </a:ext>
            </a:extLst>
          </p:cNvPr>
          <p:cNvPicPr>
            <a:picLocks noChangeAspect="1"/>
          </p:cNvPicPr>
          <p:nvPr/>
        </p:nvPicPr>
        <p:blipFill>
          <a:blip r:embed="rId4"/>
          <a:stretch>
            <a:fillRect/>
          </a:stretch>
        </p:blipFill>
        <p:spPr>
          <a:xfrm>
            <a:off x="7309552" y="490208"/>
            <a:ext cx="3584589" cy="1534810"/>
          </a:xfrm>
          <a:prstGeom prst="rect">
            <a:avLst/>
          </a:prstGeom>
        </p:spPr>
      </p:pic>
    </p:spTree>
    <p:extLst>
      <p:ext uri="{BB962C8B-B14F-4D97-AF65-F5344CB8AC3E}">
        <p14:creationId xmlns:p14="http://schemas.microsoft.com/office/powerpoint/2010/main" val="4066982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84D8D12E-FF4D-5B16-D1A9-6028B47FD4A0}"/>
              </a:ext>
            </a:extLst>
          </p:cNvPr>
          <p:cNvSpPr>
            <a:spLocks noGrp="1"/>
          </p:cNvSpPr>
          <p:nvPr>
            <p:ph type="title"/>
          </p:nvPr>
        </p:nvSpPr>
        <p:spPr>
          <a:xfrm>
            <a:off x="681318" y="247788"/>
            <a:ext cx="5929422" cy="1038401"/>
          </a:xfrm>
        </p:spPr>
        <p:txBody>
          <a:bodyPr anchor="b">
            <a:normAutofit/>
          </a:bodyPr>
          <a:lstStyle/>
          <a:p>
            <a:r>
              <a:rPr lang="es-MX" sz="4000" dirty="0"/>
              <a:t>Probabilidad Conjunta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D7000D8-AE4C-6700-C074-977E1CAF3159}"/>
                  </a:ext>
                </a:extLst>
              </p:cNvPr>
              <p:cNvSpPr>
                <a:spLocks noGrp="1"/>
              </p:cNvSpPr>
              <p:nvPr>
                <p:ph idx="1"/>
              </p:nvPr>
            </p:nvSpPr>
            <p:spPr>
              <a:xfrm>
                <a:off x="681317" y="1745395"/>
                <a:ext cx="6791199" cy="4429263"/>
              </a:xfrm>
            </p:spPr>
            <p:txBody>
              <a:bodyPr>
                <a:normAutofit fontScale="92500"/>
              </a:bodyPr>
              <a:lstStyle/>
              <a:p>
                <a:pPr marL="0" indent="0" algn="just">
                  <a:buNone/>
                </a:pPr>
                <a:r>
                  <a:rPr lang="es-MX" sz="2400" dirty="0"/>
                  <a:t>La probabilidad conjunta representa la probabilidad de que dos (o más) eventos ocurran al mismo tiempo. En este caso, describe la probabilidad de observar simultáneamente todos los valores del vector.</a:t>
                </a:r>
              </a:p>
              <a:p>
                <a:pPr marL="0" indent="0" algn="just">
                  <a:buNone/>
                </a:pPr>
                <a:endParaRPr lang="es-MX" sz="2400" dirty="0"/>
              </a:p>
              <a:p>
                <a:pPr marL="0" indent="0" algn="just">
                  <a:buNone/>
                </a:pPr>
                <a:r>
                  <a:rPr lang="es-MX" sz="2400" dirty="0"/>
                  <a:t>Se denota como </a:t>
                </a:r>
                <a14:m>
                  <m:oMath xmlns:m="http://schemas.openxmlformats.org/officeDocument/2006/math">
                    <m:r>
                      <m:rPr>
                        <m:sty m:val="p"/>
                      </m:rPr>
                      <a:rPr lang="es-MX" sz="2400" b="0" i="1" smtClean="0">
                        <a:latin typeface="Cambria Math" panose="02040503050406030204" pitchFamily="18" charset="0"/>
                      </a:rPr>
                      <m:t>P</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A</m:t>
                    </m:r>
                    <m:r>
                      <a:rPr lang="es-MX" sz="2400" b="0" i="1" smtClean="0">
                        <a:latin typeface="Cambria Math" panose="02040503050406030204" pitchFamily="18" charset="0"/>
                        <a:ea typeface="Cambria Math" panose="02040503050406030204" pitchFamily="18" charset="0"/>
                      </a:rPr>
                      <m:t>⋂</m:t>
                    </m:r>
                    <m:r>
                      <m:rPr>
                        <m:sty m:val="p"/>
                      </m:rPr>
                      <a:rPr lang="es-MX" sz="2400" b="0" i="1" smtClean="0">
                        <a:latin typeface="Cambria Math" panose="02040503050406030204" pitchFamily="18" charset="0"/>
                        <a:ea typeface="Cambria Math" panose="02040503050406030204" pitchFamily="18" charset="0"/>
                      </a:rPr>
                      <m:t>B</m:t>
                    </m:r>
                    <m:r>
                      <a:rPr lang="es-MX" sz="2400" b="0" i="1" smtClean="0">
                        <a:latin typeface="Cambria Math" panose="02040503050406030204" pitchFamily="18" charset="0"/>
                      </a:rPr>
                      <m:t>)</m:t>
                    </m:r>
                  </m:oMath>
                </a14:m>
                <a:r>
                  <a:rPr lang="es-MX" sz="2400" dirty="0"/>
                  <a:t> o </a:t>
                </a:r>
                <a14:m>
                  <m:oMath xmlns:m="http://schemas.openxmlformats.org/officeDocument/2006/math">
                    <m:r>
                      <m:rPr>
                        <m:sty m:val="p"/>
                      </m:rPr>
                      <a:rPr lang="es-MX" sz="2400" b="0" i="1" smtClean="0">
                        <a:latin typeface="Cambria Math" panose="02040503050406030204" pitchFamily="18" charset="0"/>
                      </a:rPr>
                      <m:t>P</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A</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B</m:t>
                    </m:r>
                    <m:r>
                      <a:rPr lang="es-MX" sz="2400" b="0" i="1" smtClean="0">
                        <a:latin typeface="Cambria Math" panose="02040503050406030204" pitchFamily="18" charset="0"/>
                      </a:rPr>
                      <m:t>)</m:t>
                    </m:r>
                  </m:oMath>
                </a14:m>
                <a:r>
                  <a:rPr lang="es-MX" sz="2400" dirty="0"/>
                  <a:t>, es decir, la probabilidad de que ocurra A y B al mismo tiempo.</a:t>
                </a:r>
              </a:p>
              <a:p>
                <a:pPr marL="0" indent="0" algn="just">
                  <a:buNone/>
                </a:pPr>
                <a:endParaRPr lang="es-MX" sz="2400" dirty="0"/>
              </a:p>
              <a:p>
                <a:pPr marL="0" indent="0" algn="just">
                  <a:buNone/>
                </a:pPr>
                <a:r>
                  <a:rPr lang="es-MX" sz="2400" dirty="0"/>
                  <a:t>Para eventos independientes: </a:t>
                </a:r>
                <a14:m>
                  <m:oMath xmlns:m="http://schemas.openxmlformats.org/officeDocument/2006/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A</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B</m:t>
                    </m:r>
                    <m:r>
                      <a:rPr lang="es-MX" sz="2400" i="1">
                        <a:latin typeface="Cambria Math" panose="02040503050406030204" pitchFamily="18" charset="0"/>
                      </a:rPr>
                      <m:t>)</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P</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A</m:t>
                    </m:r>
                    <m:r>
                      <a:rPr lang="es-MX" sz="2400" b="0" i="1" smtClean="0">
                        <a:latin typeface="Cambria Math" panose="02040503050406030204" pitchFamily="18" charset="0"/>
                      </a:rPr>
                      <m:t>) </m:t>
                    </m:r>
                    <m:r>
                      <m:rPr>
                        <m:sty m:val="p"/>
                      </m:rPr>
                      <a:rPr lang="es-MX" sz="2400" b="0" i="1" smtClean="0">
                        <a:latin typeface="Cambria Math" panose="02040503050406030204" pitchFamily="18" charset="0"/>
                      </a:rPr>
                      <m:t>x</m:t>
                    </m:r>
                    <m:r>
                      <a:rPr lang="es-MX" sz="2400" b="0" i="1" smtClean="0">
                        <a:latin typeface="Cambria Math" panose="02040503050406030204" pitchFamily="18" charset="0"/>
                      </a:rPr>
                      <m:t> </m:t>
                    </m:r>
                    <m:r>
                      <m:rPr>
                        <m:sty m:val="p"/>
                      </m:rPr>
                      <a:rPr lang="es-MX" sz="2400" b="0" i="1" smtClean="0">
                        <a:latin typeface="Cambria Math" panose="02040503050406030204" pitchFamily="18" charset="0"/>
                      </a:rPr>
                      <m:t>P</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B</m:t>
                    </m:r>
                    <m:r>
                      <a:rPr lang="es-MX" sz="2400" b="0" i="1" smtClean="0">
                        <a:latin typeface="Cambria Math" panose="02040503050406030204" pitchFamily="18" charset="0"/>
                      </a:rPr>
                      <m:t>)</m:t>
                    </m:r>
                  </m:oMath>
                </a14:m>
                <a:endParaRPr lang="es-MX" sz="2400" dirty="0"/>
              </a:p>
              <a:p>
                <a:pPr marL="0" indent="0" algn="just">
                  <a:buNone/>
                </a:pPr>
                <a:r>
                  <a:rPr lang="es-MX" sz="2400" dirty="0"/>
                  <a:t>Para eventos dependientes: </a:t>
                </a:r>
                <a14:m>
                  <m:oMath xmlns:m="http://schemas.openxmlformats.org/officeDocument/2006/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A</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B</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A</m:t>
                    </m:r>
                    <m:r>
                      <a:rPr lang="es-MX" sz="2400" b="0" i="1" smtClean="0">
                        <a:latin typeface="Cambria Math" panose="02040503050406030204" pitchFamily="18" charset="0"/>
                      </a:rPr>
                      <m:t>|</m:t>
                    </m:r>
                    <m:r>
                      <m:rPr>
                        <m:sty m:val="p"/>
                      </m:rPr>
                      <a:rPr lang="es-MX" sz="2400" b="0" i="1" smtClean="0">
                        <a:latin typeface="Cambria Math" panose="02040503050406030204" pitchFamily="18" charset="0"/>
                      </a:rPr>
                      <m:t>B</m:t>
                    </m:r>
                    <m:r>
                      <a:rPr lang="es-MX" sz="2400" i="1">
                        <a:latin typeface="Cambria Math" panose="02040503050406030204" pitchFamily="18" charset="0"/>
                      </a:rPr>
                      <m:t>) </m:t>
                    </m:r>
                    <m:r>
                      <m:rPr>
                        <m:sty m:val="p"/>
                      </m:rPr>
                      <a:rPr lang="es-MX" sz="2400" i="1">
                        <a:latin typeface="Cambria Math" panose="02040503050406030204" pitchFamily="18" charset="0"/>
                      </a:rPr>
                      <m:t>x</m:t>
                    </m:r>
                    <m:r>
                      <a:rPr lang="es-MX" sz="2400" i="1">
                        <a:latin typeface="Cambria Math" panose="02040503050406030204" pitchFamily="18" charset="0"/>
                      </a:rPr>
                      <m:t> </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B</m:t>
                    </m:r>
                    <m:r>
                      <a:rPr lang="es-MX" sz="2400" i="1">
                        <a:latin typeface="Cambria Math" panose="02040503050406030204" pitchFamily="18" charset="0"/>
                      </a:rPr>
                      <m:t>)</m:t>
                    </m:r>
                  </m:oMath>
                </a14:m>
                <a:endParaRPr lang="es-MX" sz="2400" dirty="0"/>
              </a:p>
              <a:p>
                <a:pPr marL="0" indent="0" algn="just">
                  <a:buNone/>
                </a:pPr>
                <a:endParaRPr lang="es-MX" sz="2000" dirty="0"/>
              </a:p>
            </p:txBody>
          </p:sp>
        </mc:Choice>
        <mc:Fallback xmlns="">
          <p:sp>
            <p:nvSpPr>
              <p:cNvPr id="3" name="Marcador de contenido 2">
                <a:extLst>
                  <a:ext uri="{FF2B5EF4-FFF2-40B4-BE49-F238E27FC236}">
                    <a16:creationId xmlns:a16="http://schemas.microsoft.com/office/drawing/2014/main" id="{ED7000D8-AE4C-6700-C074-977E1CAF3159}"/>
                  </a:ext>
                </a:extLst>
              </p:cNvPr>
              <p:cNvSpPr>
                <a:spLocks noGrp="1" noRot="1" noChangeAspect="1" noMove="1" noResize="1" noEditPoints="1" noAdjustHandles="1" noChangeArrowheads="1" noChangeShapeType="1" noTextEdit="1"/>
              </p:cNvSpPr>
              <p:nvPr>
                <p:ph idx="1"/>
              </p:nvPr>
            </p:nvSpPr>
            <p:spPr>
              <a:xfrm>
                <a:off x="681317" y="1745395"/>
                <a:ext cx="6791199" cy="4429263"/>
              </a:xfrm>
              <a:blipFill>
                <a:blip r:embed="rId2"/>
                <a:stretch>
                  <a:fillRect l="-1167" t="-1513" r="-1167"/>
                </a:stretch>
              </a:blipFill>
            </p:spPr>
            <p:txBody>
              <a:bodyPr/>
              <a:lstStyle/>
              <a:p>
                <a:r>
                  <a:rPr lang="es-MX">
                    <a:noFill/>
                  </a:rPr>
                  <a:t> </a:t>
                </a:r>
              </a:p>
            </p:txBody>
          </p:sp>
        </mc:Fallback>
      </mc:AlternateContent>
      <p:pic>
        <p:nvPicPr>
          <p:cNvPr id="7170" name="Picture 2">
            <a:extLst>
              <a:ext uri="{FF2B5EF4-FFF2-40B4-BE49-F238E27FC236}">
                <a16:creationId xmlns:a16="http://schemas.microsoft.com/office/drawing/2014/main" id="{922E6A30-EC18-4D28-DA3C-15CE03F0693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45506" y="1887968"/>
            <a:ext cx="3765176" cy="2974488"/>
          </a:xfrm>
          <a:prstGeom prst="rect">
            <a:avLst/>
          </a:prstGeom>
          <a:noFill/>
          <a:extLst>
            <a:ext uri="{909E8E84-426E-40DD-AFC4-6F175D3DCCD1}">
              <a14:hiddenFill xmlns:a14="http://schemas.microsoft.com/office/drawing/2010/main">
                <a:solidFill>
                  <a:srgbClr val="FFFFFF"/>
                </a:solidFill>
              </a14:hiddenFill>
            </a:ext>
          </a:extLst>
        </p:spPr>
      </p:pic>
      <p:sp>
        <p:nvSpPr>
          <p:cNvPr id="7177" name="Rectangle 7176">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179" name="Rectangle 7178">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48D15A4F-4FB7-ABAA-1A29-0D3AE7A70C33}"/>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8367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AC111A44-1413-F61F-4E82-D89681C5D8C4}"/>
                  </a:ext>
                </a:extLst>
              </p:cNvPr>
              <p:cNvSpPr>
                <a:spLocks noGrp="1"/>
              </p:cNvSpPr>
              <p:nvPr>
                <p:ph type="title"/>
              </p:nvPr>
            </p:nvSpPr>
            <p:spPr>
              <a:xfrm>
                <a:off x="826396" y="586855"/>
                <a:ext cx="4230100" cy="3387497"/>
              </a:xfrm>
            </p:spPr>
            <p:txBody>
              <a:bodyPr anchor="b">
                <a:normAutofit/>
              </a:bodyPr>
              <a:lstStyle/>
              <a:p>
                <a:pPr algn="r"/>
                <a:r>
                  <a:rPr lang="es-MX" sz="4000">
                    <a:solidFill>
                      <a:srgbClr val="FFFFFF"/>
                    </a:solidFill>
                  </a:rPr>
                  <a:t>Probabilidad Condicional </a:t>
                </a:r>
                <a14:m>
                  <m:oMath xmlns:m="http://schemas.openxmlformats.org/officeDocument/2006/math">
                    <m:r>
                      <m:rPr>
                        <m:sty m:val="p"/>
                      </m:rPr>
                      <a:rPr lang="es-MX" sz="4000" i="1">
                        <a:solidFill>
                          <a:srgbClr val="FFFFFF"/>
                        </a:solidFill>
                        <a:latin typeface="Cambria Math" panose="02040503050406030204" pitchFamily="18" charset="0"/>
                      </a:rPr>
                      <m:t>P</m:t>
                    </m:r>
                    <m:r>
                      <a:rPr lang="es-MX" sz="4000" i="1">
                        <a:solidFill>
                          <a:srgbClr val="FFFFFF"/>
                        </a:solidFill>
                        <a:latin typeface="Cambria Math" panose="02040503050406030204" pitchFamily="18" charset="0"/>
                      </a:rPr>
                      <m:t>(</m:t>
                    </m:r>
                    <m:r>
                      <m:rPr>
                        <m:sty m:val="p"/>
                      </m:rPr>
                      <a:rPr lang="es-MX" sz="4000" i="1">
                        <a:solidFill>
                          <a:srgbClr val="FFFFFF"/>
                        </a:solidFill>
                        <a:latin typeface="Cambria Math" panose="02040503050406030204" pitchFamily="18" charset="0"/>
                      </a:rPr>
                      <m:t>A</m:t>
                    </m:r>
                    <m:r>
                      <a:rPr lang="es-MX" sz="4000" i="1">
                        <a:solidFill>
                          <a:srgbClr val="FFFFFF"/>
                        </a:solidFill>
                        <a:latin typeface="Cambria Math" panose="02040503050406030204" pitchFamily="18" charset="0"/>
                      </a:rPr>
                      <m:t>|</m:t>
                    </m:r>
                    <m:r>
                      <m:rPr>
                        <m:sty m:val="p"/>
                      </m:rPr>
                      <a:rPr lang="es-MX" sz="4000" i="1">
                        <a:solidFill>
                          <a:srgbClr val="FFFFFF"/>
                        </a:solidFill>
                        <a:latin typeface="Cambria Math" panose="02040503050406030204" pitchFamily="18" charset="0"/>
                      </a:rPr>
                      <m:t>B</m:t>
                    </m:r>
                    <m:r>
                      <a:rPr lang="es-MX" sz="4000" i="1">
                        <a:solidFill>
                          <a:srgbClr val="FFFFFF"/>
                        </a:solidFill>
                        <a:latin typeface="Cambria Math" panose="02040503050406030204" pitchFamily="18" charset="0"/>
                      </a:rPr>
                      <m:t>) </m:t>
                    </m:r>
                  </m:oMath>
                </a14:m>
                <a:endParaRPr lang="es-MX" sz="4000">
                  <a:solidFill>
                    <a:srgbClr val="FFFFFF"/>
                  </a:solidFill>
                </a:endParaRPr>
              </a:p>
            </p:txBody>
          </p:sp>
        </mc:Choice>
        <mc:Fallback xmlns="">
          <p:sp>
            <p:nvSpPr>
              <p:cNvPr id="2" name="Título 1">
                <a:extLst>
                  <a:ext uri="{FF2B5EF4-FFF2-40B4-BE49-F238E27FC236}">
                    <a16:creationId xmlns:a16="http://schemas.microsoft.com/office/drawing/2014/main" id="{AC111A44-1413-F61F-4E82-D89681C5D8C4}"/>
                  </a:ext>
                </a:extLst>
              </p:cNvPr>
              <p:cNvSpPr>
                <a:spLocks noGrp="1" noRot="1" noChangeAspect="1" noMove="1" noResize="1" noEditPoints="1" noAdjustHandles="1" noChangeArrowheads="1" noChangeShapeType="1" noTextEdit="1"/>
              </p:cNvSpPr>
              <p:nvPr>
                <p:ph type="title"/>
              </p:nvPr>
            </p:nvSpPr>
            <p:spPr>
              <a:xfrm>
                <a:off x="826396" y="586855"/>
                <a:ext cx="4230100" cy="3387497"/>
              </a:xfrm>
              <a:blipFill>
                <a:blip r:embed="rId2"/>
                <a:stretch>
                  <a:fillRect r="-779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DBA4478-9B7C-0F6E-042D-E78649646810}"/>
                  </a:ext>
                </a:extLst>
              </p:cNvPr>
              <p:cNvSpPr>
                <a:spLocks noGrp="1"/>
              </p:cNvSpPr>
              <p:nvPr>
                <p:ph idx="1"/>
              </p:nvPr>
            </p:nvSpPr>
            <p:spPr>
              <a:xfrm>
                <a:off x="6096000" y="649480"/>
                <a:ext cx="5608320" cy="5546047"/>
              </a:xfrm>
            </p:spPr>
            <p:txBody>
              <a:bodyPr anchor="ctr">
                <a:normAutofit/>
              </a:bodyPr>
              <a:lstStyle/>
              <a:p>
                <a:pPr marL="0" indent="0">
                  <a:buNone/>
                </a:pPr>
                <a:r>
                  <a:rPr lang="es-MX" sz="2400" dirty="0"/>
                  <a:t>Es la probabilidad de que ocurra el evento A dado que ya ocurrió otro evento B. Si establecemos </a:t>
                </a:r>
                <a14:m>
                  <m:oMath xmlns:m="http://schemas.openxmlformats.org/officeDocument/2006/math">
                    <m:r>
                      <a:rPr lang="es-MX"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es-MX" sz="2400" b="0" i="0">
                        <a:latin typeface="Cambria Math" panose="02040503050406030204" pitchFamily="18" charset="0"/>
                      </a:rPr>
                      <m:t>,</m:t>
                    </m:r>
                  </m:oMath>
                </a14:m>
                <a:r>
                  <a:rPr lang="es-MX" sz="2400" dirty="0"/>
                  <a:t> esta se entiende como la probabilidad de observar el patrón </a:t>
                </a:r>
                <a14:m>
                  <m:oMath xmlns:m="http://schemas.openxmlformats.org/officeDocument/2006/math">
                    <m:r>
                      <a:rPr lang="es-MX" sz="2400" i="1">
                        <a:latin typeface="Cambria Math" panose="02040503050406030204" pitchFamily="18" charset="0"/>
                      </a:rPr>
                      <m:t>𝑥</m:t>
                    </m:r>
                  </m:oMath>
                </a14:m>
                <a:r>
                  <a:rPr lang="es-MX" sz="2400" b="1" dirty="0"/>
                  <a:t> </a:t>
                </a:r>
                <a:r>
                  <a:rPr lang="es-MX" sz="2400" dirty="0"/>
                  <a:t>dado que pertenece a la clase </a:t>
                </a:r>
                <a14:m>
                  <m:oMath xmlns:m="http://schemas.openxmlformats.org/officeDocument/2006/math">
                    <m:sSub>
                      <m:sSubPr>
                        <m:ctrlPr>
                          <a:rPr lang="ar-AE" sz="2400" b="0" i="1">
                            <a:latin typeface="Cambria Math" panose="02040503050406030204" pitchFamily="18" charset="0"/>
                          </a:rPr>
                        </m:ctrlPr>
                      </m:sSubPr>
                      <m:e>
                        <m:r>
                          <a:rPr lang="ar-AE" sz="2400" b="0" i="1">
                            <a:latin typeface="Cambria Math" panose="02040503050406030204" pitchFamily="18" charset="0"/>
                          </a:rPr>
                          <m:t>𝜔</m:t>
                        </m:r>
                      </m:e>
                      <m:sub>
                        <m:r>
                          <a:rPr lang="ar-AE" sz="2400" b="0" i="1">
                            <a:latin typeface="Cambria Math" panose="02040503050406030204" pitchFamily="18" charset="0"/>
                          </a:rPr>
                          <m:t>𝑖</m:t>
                        </m:r>
                      </m:sub>
                    </m:sSub>
                  </m:oMath>
                </a14:m>
                <a:r>
                  <a:rPr lang="ar-AE" sz="2400" dirty="0"/>
                  <a:t>.</a:t>
                </a:r>
                <a:r>
                  <a:rPr lang="es-MX" sz="2400" dirty="0"/>
                  <a:t> </a:t>
                </a:r>
              </a:p>
              <a:p>
                <a:pPr marL="0" indent="0">
                  <a:buNone/>
                </a:pPr>
                <a:r>
                  <a:rPr lang="es-MX" sz="2400" dirty="0"/>
                  <a:t>Esta se puede escribir como:</a:t>
                </a:r>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A</m:t>
                      </m:r>
                      <m:r>
                        <a:rPr lang="es-MX" sz="2400" i="1">
                          <a:latin typeface="Cambria Math" panose="02040503050406030204" pitchFamily="18" charset="0"/>
                        </a:rPr>
                        <m:t>|</m:t>
                      </m:r>
                      <m:r>
                        <m:rPr>
                          <m:sty m:val="p"/>
                        </m:rPr>
                        <a:rPr lang="es-MX" sz="2400" i="1">
                          <a:latin typeface="Cambria Math" panose="02040503050406030204" pitchFamily="18" charset="0"/>
                        </a:rPr>
                        <m:t>B</m:t>
                      </m:r>
                      <m:r>
                        <a:rPr lang="es-MX" sz="2400" i="1">
                          <a:latin typeface="Cambria Math" panose="02040503050406030204" pitchFamily="18" charset="0"/>
                        </a:rPr>
                        <m:t>)=</m:t>
                      </m:r>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A</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B</m:t>
                          </m:r>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B</m:t>
                          </m:r>
                          <m:r>
                            <a:rPr lang="es-MX" sz="2400" i="1">
                              <a:latin typeface="Cambria Math" panose="02040503050406030204" pitchFamily="18" charset="0"/>
                            </a:rPr>
                            <m:t>)</m:t>
                          </m:r>
                          <m:r>
                            <m:rPr>
                              <m:nor/>
                            </m:rPr>
                            <a:rPr lang="es-MX" sz="2400" i="0"/>
                            <m:t> </m:t>
                          </m:r>
                        </m:den>
                      </m:f>
                    </m:oMath>
                  </m:oMathPara>
                </a14:m>
                <a:endParaRPr lang="ar-AE" sz="2000" dirty="0"/>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ADBA4478-9B7C-0F6E-042D-E78649646810}"/>
                  </a:ext>
                </a:extLst>
              </p:cNvPr>
              <p:cNvSpPr>
                <a:spLocks noGrp="1" noRot="1" noChangeAspect="1" noMove="1" noResize="1" noEditPoints="1" noAdjustHandles="1" noChangeArrowheads="1" noChangeShapeType="1" noTextEdit="1"/>
              </p:cNvSpPr>
              <p:nvPr>
                <p:ph idx="1"/>
              </p:nvPr>
            </p:nvSpPr>
            <p:spPr>
              <a:xfrm>
                <a:off x="6096000" y="649480"/>
                <a:ext cx="5608320" cy="5546047"/>
              </a:xfrm>
              <a:blipFill>
                <a:blip r:embed="rId3"/>
                <a:stretch>
                  <a:fillRect l="-1630" r="-1196"/>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C6278DFE-67B6-7355-E985-D28E58F9CAEC}"/>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6569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AC2EA59E-ED82-DCB5-2CF8-4DBB0B3C9988}"/>
              </a:ext>
            </a:extLst>
          </p:cNvPr>
          <p:cNvSpPr>
            <a:spLocks noGrp="1"/>
          </p:cNvSpPr>
          <p:nvPr>
            <p:ph type="title"/>
          </p:nvPr>
        </p:nvSpPr>
        <p:spPr>
          <a:xfrm>
            <a:off x="459346" y="294538"/>
            <a:ext cx="11244973" cy="1033669"/>
          </a:xfrm>
        </p:spPr>
        <p:txBody>
          <a:bodyPr>
            <a:noAutofit/>
          </a:bodyPr>
          <a:lstStyle/>
          <a:p>
            <a:pPr algn="ctr"/>
            <a:r>
              <a:rPr lang="es-MX" sz="3600" dirty="0">
                <a:solidFill>
                  <a:srgbClr val="FFFFFF"/>
                </a:solidFill>
              </a:rPr>
              <a:t>Clasificación de patrones como un problema de decisión estadístico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D711AF7-FD6C-7E3D-B515-72E2D4808603}"/>
                  </a:ext>
                </a:extLst>
              </p:cNvPr>
              <p:cNvSpPr>
                <a:spLocks noGrp="1"/>
              </p:cNvSpPr>
              <p:nvPr>
                <p:ph idx="1"/>
              </p:nvPr>
            </p:nvSpPr>
            <p:spPr>
              <a:xfrm>
                <a:off x="668594" y="2015612"/>
                <a:ext cx="10835147" cy="4218039"/>
              </a:xfrm>
            </p:spPr>
            <p:txBody>
              <a:bodyPr anchor="ctr">
                <a:normAutofit/>
              </a:bodyPr>
              <a:lstStyle/>
              <a:p>
                <a:pPr marL="0" indent="0">
                  <a:buNone/>
                </a:pPr>
                <a:r>
                  <a:rPr lang="es-MX" sz="2400" dirty="0"/>
                  <a:t>Supongamos que tenemos c clases posibles:</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𝑐</m:t>
                          </m:r>
                        </m:sub>
                      </m:sSub>
                    </m:oMath>
                  </m:oMathPara>
                </a14:m>
                <a:endParaRPr lang="ar-AE" sz="2400" dirty="0"/>
              </a:p>
              <a:p>
                <a:pPr marL="0" indent="0">
                  <a:buNone/>
                </a:pPr>
                <a:r>
                  <a:rPr lang="es-MX" sz="2400" dirty="0"/>
                  <a:t>Además, un vector de características:</a:t>
                </a:r>
              </a:p>
              <a:p>
                <a:pPr marL="0" indent="0">
                  <a:buNone/>
                </a:pPr>
                <a14:m>
                  <m:oMathPara xmlns:m="http://schemas.openxmlformats.org/officeDocument/2006/math">
                    <m:oMath>
                      <m:r>
                        <a:rPr lang="es-MX" sz="2400" i="1">
                          <a:latin typeface="Cambria Math" panose="02040503050406030204" pitchFamily="18" charset="0"/>
                        </a:rPr>
                        <m:t>𝑥</m:t>
                      </m:r>
                      <m:r>
                        <a:rPr lang="es-MX" sz="2400">
                          <a:latin typeface="Cambria Math" panose="02040503050406030204" pitchFamily="18" charset="0"/>
                        </a:rPr>
                        <m:t>=</m:t>
                      </m:r>
                      <m:d>
                        <m:dPr>
                          <m:begChr m:val="["/>
                          <m:endChr m:val=","/>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e>
                        <m:e>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𝑑</m:t>
                              </m:r>
                            </m:sub>
                          </m:sSub>
                          <m:sSup>
                            <m:sSupPr>
                              <m:ctrlPr>
                                <a:rPr lang="ar-AE" sz="2400" i="1">
                                  <a:latin typeface="Cambria Math" panose="02040503050406030204" pitchFamily="18" charset="0"/>
                                </a:rPr>
                              </m:ctrlPr>
                            </m:sSupPr>
                            <m:e>
                              <m:d>
                                <m:dPr>
                                  <m:begChr m:val=""/>
                                  <m:endChr m:val=""/>
                                  <m:ctrlPr>
                                    <a:rPr lang="ar-AE" sz="2400">
                                      <a:latin typeface="Cambria Math" panose="02040503050406030204" pitchFamily="18" charset="0"/>
                                    </a:rPr>
                                  </m:ctrlPr>
                                </m:dPr>
                                <m:e>
                                  <m:r>
                                    <a:rPr lang="ar-AE" sz="2400">
                                      <a:latin typeface="Cambria Math" panose="02040503050406030204" pitchFamily="18" charset="0"/>
                                    </a:rPr>
                                    <m:t>]</m:t>
                                  </m:r>
                                </m:e>
                              </m:d>
                            </m:e>
                            <m:sup>
                              <m:r>
                                <a:rPr lang="ar-AE" sz="2400" i="1">
                                  <a:latin typeface="Cambria Math" panose="02040503050406030204" pitchFamily="18" charset="0"/>
                                </a:rPr>
                                <m:t>𝑇</m:t>
                              </m:r>
                            </m:sup>
                          </m:sSup>
                        </m:e>
                      </m:d>
                    </m:oMath>
                  </m:oMathPara>
                </a14:m>
                <a:endParaRPr lang="ar-AE" sz="2400" dirty="0"/>
              </a:p>
              <a:p>
                <a:pPr marL="0" indent="0">
                  <a:buNone/>
                </a:pPr>
                <a:r>
                  <a:rPr lang="es-MX" sz="2400" dirty="0"/>
                  <a:t>Las acciones posibles son decidir que el patrón pertenece a una clase:</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𝑐</m:t>
                          </m:r>
                        </m:sub>
                      </m:sSub>
                    </m:oMath>
                  </m:oMathPara>
                </a14:m>
                <a:endParaRPr lang="ar-AE" sz="2400" dirty="0"/>
              </a:p>
              <a:p>
                <a:pPr marL="0" indent="0">
                  <a:buNone/>
                </a:pPr>
                <a:r>
                  <a:rPr lang="es-MX" sz="2400" dirty="0"/>
                  <a:t>donde</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m:rPr>
                          <m:nor/>
                        </m:rPr>
                        <a:rPr lang="es-MX" sz="2400" i="1"/>
                        <m:t>decidir clase </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oMath>
                  </m:oMathPara>
                </a14:m>
                <a:endParaRPr lang="ar-AE" sz="2000" b="0" dirty="0"/>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CD711AF7-FD6C-7E3D-B515-72E2D4808603}"/>
                  </a:ext>
                </a:extLst>
              </p:cNvPr>
              <p:cNvSpPr>
                <a:spLocks noGrp="1" noRot="1" noChangeAspect="1" noMove="1" noResize="1" noEditPoints="1" noAdjustHandles="1" noChangeArrowheads="1" noChangeShapeType="1" noTextEdit="1"/>
              </p:cNvSpPr>
              <p:nvPr>
                <p:ph idx="1"/>
              </p:nvPr>
            </p:nvSpPr>
            <p:spPr>
              <a:xfrm>
                <a:off x="668594" y="2015612"/>
                <a:ext cx="10835147" cy="4218039"/>
              </a:xfrm>
              <a:blipFill>
                <a:blip r:embed="rId2"/>
                <a:stretch>
                  <a:fillRect l="-900"/>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5052A928-31DE-BF67-32A8-E953B9AFECA7}"/>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385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90C50E9-CEB9-0B6B-F16A-B14A42B7E547}"/>
                  </a:ext>
                </a:extLst>
              </p:cNvPr>
              <p:cNvSpPr>
                <a:spLocks noGrp="1"/>
              </p:cNvSpPr>
              <p:nvPr>
                <p:ph idx="1"/>
              </p:nvPr>
            </p:nvSpPr>
            <p:spPr>
              <a:xfrm>
                <a:off x="630936" y="2831690"/>
                <a:ext cx="4818888" cy="3377086"/>
              </a:xfrm>
            </p:spPr>
            <p:txBody>
              <a:bodyPr anchor="t">
                <a:normAutofit/>
              </a:bodyPr>
              <a:lstStyle/>
              <a:p>
                <a:r>
                  <a:rPr lang="es-MX" sz="2200" dirty="0"/>
                  <a:t>Función de costo</a:t>
                </a:r>
              </a:p>
              <a:p>
                <a:pPr marL="0" indent="0">
                  <a:buNone/>
                </a:pPr>
                <a:r>
                  <a:rPr lang="es-MX" sz="2200" dirty="0"/>
                  <a:t>No todas las confusiones cuestan igual. La función de perdida </a:t>
                </a:r>
                <a14:m>
                  <m:oMath xmlns:m="http://schemas.openxmlformats.org/officeDocument/2006/math">
                    <m:r>
                      <a:rPr lang="es-MX" sz="2200" i="1">
                        <a:latin typeface="Cambria Math" panose="02040503050406030204" pitchFamily="18" charset="0"/>
                        <a:ea typeface="Cambria Math" panose="02040503050406030204" pitchFamily="18" charset="0"/>
                      </a:rPr>
                      <m:t>𝜆</m:t>
                    </m:r>
                    <m:d>
                      <m:dPr>
                        <m:ctrlPr>
                          <a:rPr lang="es-MX" sz="2200" i="1">
                            <a:latin typeface="Cambria Math" panose="02040503050406030204" pitchFamily="18" charset="0"/>
                            <a:ea typeface="Cambria Math" panose="02040503050406030204" pitchFamily="18" charset="0"/>
                          </a:rPr>
                        </m:ctrlPr>
                      </m:dPr>
                      <m:e>
                        <m:sSub>
                          <m:sSubPr>
                            <m:ctrlPr>
                              <a:rPr lang="es-MX" sz="2200" i="1">
                                <a:latin typeface="Cambria Math" panose="02040503050406030204" pitchFamily="18" charset="0"/>
                                <a:ea typeface="Cambria Math" panose="02040503050406030204" pitchFamily="18" charset="0"/>
                              </a:rPr>
                            </m:ctrlPr>
                          </m:sSubPr>
                          <m:e>
                            <m:r>
                              <a:rPr lang="es-MX" sz="2200" i="1">
                                <a:latin typeface="Cambria Math" panose="02040503050406030204" pitchFamily="18" charset="0"/>
                                <a:ea typeface="Cambria Math" panose="02040503050406030204" pitchFamily="18" charset="0"/>
                              </a:rPr>
                              <m:t>𝛼</m:t>
                            </m:r>
                          </m:e>
                          <m:sub>
                            <m:r>
                              <m:rPr>
                                <m:sty m:val="p"/>
                              </m:rPr>
                              <a:rPr lang="es-MX" sz="2200" b="0" i="1">
                                <a:latin typeface="Cambria Math" panose="02040503050406030204" pitchFamily="18" charset="0"/>
                                <a:ea typeface="Cambria Math" panose="02040503050406030204" pitchFamily="18" charset="0"/>
                              </a:rPr>
                              <m:t>i</m:t>
                            </m:r>
                          </m:sub>
                        </m:sSub>
                        <m:r>
                          <a:rPr lang="es-MX" sz="2200" b="0" i="1">
                            <a:latin typeface="Cambria Math" panose="02040503050406030204" pitchFamily="18" charset="0"/>
                            <a:ea typeface="Cambria Math" panose="02040503050406030204" pitchFamily="18" charset="0"/>
                          </a:rPr>
                          <m:t>,</m:t>
                        </m:r>
                        <m:sSub>
                          <m:sSubPr>
                            <m:ctrlPr>
                              <a:rPr lang="es-MX" sz="2200" b="0" i="1">
                                <a:latin typeface="Cambria Math" panose="02040503050406030204" pitchFamily="18" charset="0"/>
                                <a:ea typeface="Cambria Math" panose="02040503050406030204" pitchFamily="18" charset="0"/>
                              </a:rPr>
                            </m:ctrlPr>
                          </m:sSubPr>
                          <m:e>
                            <m:r>
                              <m:rPr>
                                <m:sty m:val="p"/>
                              </m:rPr>
                              <a:rPr lang="es-MX" sz="2200" b="0" i="1">
                                <a:latin typeface="Cambria Math" panose="02040503050406030204" pitchFamily="18" charset="0"/>
                                <a:ea typeface="Cambria Math" panose="02040503050406030204" pitchFamily="18" charset="0"/>
                              </a:rPr>
                              <m:t>C</m:t>
                            </m:r>
                          </m:e>
                          <m:sub>
                            <m:r>
                              <m:rPr>
                                <m:sty m:val="p"/>
                              </m:rPr>
                              <a:rPr lang="es-MX" sz="2200" b="0" i="1">
                                <a:latin typeface="Cambria Math" panose="02040503050406030204" pitchFamily="18" charset="0"/>
                                <a:ea typeface="Cambria Math" panose="02040503050406030204" pitchFamily="18" charset="0"/>
                              </a:rPr>
                              <m:t>j</m:t>
                            </m:r>
                          </m:sub>
                        </m:sSub>
                      </m:e>
                    </m:d>
                  </m:oMath>
                </a14:m>
                <a:r>
                  <a:rPr lang="es-MX" sz="2200" dirty="0"/>
                  <a:t> cuantifica el costo de tomar la acción </a:t>
                </a:r>
                <a14:m>
                  <m:oMath xmlns:m="http://schemas.openxmlformats.org/officeDocument/2006/math">
                    <m:sSub>
                      <m:sSubPr>
                        <m:ctrlPr>
                          <a:rPr lang="es-MX" sz="2200" i="1">
                            <a:latin typeface="Cambria Math" panose="02040503050406030204" pitchFamily="18" charset="0"/>
                            <a:ea typeface="Cambria Math" panose="02040503050406030204" pitchFamily="18" charset="0"/>
                          </a:rPr>
                        </m:ctrlPr>
                      </m:sSubPr>
                      <m:e>
                        <m:r>
                          <a:rPr lang="es-MX" sz="2200" i="1">
                            <a:latin typeface="Cambria Math" panose="02040503050406030204" pitchFamily="18" charset="0"/>
                            <a:ea typeface="Cambria Math" panose="02040503050406030204" pitchFamily="18" charset="0"/>
                          </a:rPr>
                          <m:t>𝛼</m:t>
                        </m:r>
                      </m:e>
                      <m:sub>
                        <m:r>
                          <m:rPr>
                            <m:sty m:val="p"/>
                          </m:rPr>
                          <a:rPr lang="es-MX" sz="2200" i="1">
                            <a:latin typeface="Cambria Math" panose="02040503050406030204" pitchFamily="18" charset="0"/>
                            <a:ea typeface="Cambria Math" panose="02040503050406030204" pitchFamily="18" charset="0"/>
                          </a:rPr>
                          <m:t>i</m:t>
                        </m:r>
                      </m:sub>
                    </m:sSub>
                  </m:oMath>
                </a14:m>
                <a:r>
                  <a:rPr lang="es-MX" sz="2200" dirty="0"/>
                  <a:t> (asignar a la clase Ci) cuando el patrón realmente pertenece a </a:t>
                </a:r>
                <a14:m>
                  <m:oMath xmlns:m="http://schemas.openxmlformats.org/officeDocument/2006/math">
                    <m:sSub>
                      <m:sSubPr>
                        <m:ctrlPr>
                          <a:rPr lang="es-MX" sz="2200" i="1">
                            <a:latin typeface="Cambria Math" panose="02040503050406030204" pitchFamily="18" charset="0"/>
                            <a:ea typeface="Cambria Math" panose="02040503050406030204" pitchFamily="18" charset="0"/>
                          </a:rPr>
                        </m:ctrlPr>
                      </m:sSubPr>
                      <m:e>
                        <m:r>
                          <m:rPr>
                            <m:sty m:val="p"/>
                          </m:rPr>
                          <a:rPr lang="es-MX" sz="2200" i="1">
                            <a:latin typeface="Cambria Math" panose="02040503050406030204" pitchFamily="18" charset="0"/>
                            <a:ea typeface="Cambria Math" panose="02040503050406030204" pitchFamily="18" charset="0"/>
                          </a:rPr>
                          <m:t>C</m:t>
                        </m:r>
                      </m:e>
                      <m:sub>
                        <m:r>
                          <m:rPr>
                            <m:sty m:val="p"/>
                          </m:rPr>
                          <a:rPr lang="es-MX" sz="2200" i="1">
                            <a:latin typeface="Cambria Math" panose="02040503050406030204" pitchFamily="18" charset="0"/>
                            <a:ea typeface="Cambria Math" panose="02040503050406030204" pitchFamily="18" charset="0"/>
                          </a:rPr>
                          <m:t>j</m:t>
                        </m:r>
                      </m:sub>
                    </m:sSub>
                  </m:oMath>
                </a14:m>
                <a:r>
                  <a:rPr lang="es-MX" sz="2200" dirty="0"/>
                  <a:t>:</a:t>
                </a:r>
              </a:p>
              <a:p>
                <a:pPr marL="0" indent="0">
                  <a:buNone/>
                </a:pPr>
                <a:endParaRPr lang="es-MX" sz="2200" dirty="0"/>
              </a:p>
            </p:txBody>
          </p:sp>
        </mc:Choice>
        <mc:Fallback xmlns="">
          <p:sp>
            <p:nvSpPr>
              <p:cNvPr id="3" name="Marcador de contenido 2">
                <a:extLst>
                  <a:ext uri="{FF2B5EF4-FFF2-40B4-BE49-F238E27FC236}">
                    <a16:creationId xmlns:a16="http://schemas.microsoft.com/office/drawing/2014/main" id="{B90C50E9-CEB9-0B6B-F16A-B14A42B7E547}"/>
                  </a:ext>
                </a:extLst>
              </p:cNvPr>
              <p:cNvSpPr>
                <a:spLocks noGrp="1" noRot="1" noChangeAspect="1" noMove="1" noResize="1" noEditPoints="1" noAdjustHandles="1" noChangeArrowheads="1" noChangeShapeType="1" noTextEdit="1"/>
              </p:cNvSpPr>
              <p:nvPr>
                <p:ph idx="1"/>
              </p:nvPr>
            </p:nvSpPr>
            <p:spPr>
              <a:xfrm>
                <a:off x="630936" y="2831690"/>
                <a:ext cx="4818888" cy="3377086"/>
              </a:xfrm>
              <a:blipFill>
                <a:blip r:embed="rId2"/>
                <a:stretch>
                  <a:fillRect l="-1646" t="-2166" r="-253"/>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B861B08B-262A-C4F0-D988-0515CEE269F3}"/>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22</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2F002FE4-677D-0716-9240-BECE844FA033}"/>
                  </a:ext>
                </a:extLst>
              </p:cNvPr>
              <p:cNvGraphicFramePr>
                <a:graphicFrameLocks noGrp="1"/>
              </p:cNvGraphicFramePr>
              <p:nvPr/>
            </p:nvGraphicFramePr>
            <p:xfrm>
              <a:off x="6099048" y="1345910"/>
              <a:ext cx="5458969" cy="4166182"/>
            </p:xfrm>
            <a:graphic>
              <a:graphicData uri="http://schemas.openxmlformats.org/drawingml/2006/table">
                <a:tbl>
                  <a:tblPr firstRow="1" firstCol="1" bandRow="1">
                    <a:tableStyleId>{5C22544A-7EE6-4342-B048-85BDC9FD1C3A}</a:tableStyleId>
                  </a:tblPr>
                  <a:tblGrid>
                    <a:gridCol w="2042862">
                      <a:extLst>
                        <a:ext uri="{9D8B030D-6E8A-4147-A177-3AD203B41FA5}">
                          <a16:colId xmlns:a16="http://schemas.microsoft.com/office/drawing/2014/main" val="4013055818"/>
                        </a:ext>
                      </a:extLst>
                    </a:gridCol>
                    <a:gridCol w="3416107">
                      <a:extLst>
                        <a:ext uri="{9D8B030D-6E8A-4147-A177-3AD203B41FA5}">
                          <a16:colId xmlns:a16="http://schemas.microsoft.com/office/drawing/2014/main" val="2627015123"/>
                        </a:ext>
                      </a:extLst>
                    </a:gridCol>
                  </a:tblGrid>
                  <a:tr h="440024">
                    <a:tc>
                      <a:txBody>
                        <a:bodyPr/>
                        <a:lstStyle/>
                        <a:p>
                          <a:pPr>
                            <a:buNone/>
                          </a:pPr>
                          <a:r>
                            <a:rPr lang="es-MX" sz="1800">
                              <a:effectLst/>
                            </a:rPr>
                            <a:t>Caso</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Descripcion</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263705123"/>
                      </a:ext>
                    </a:extLst>
                  </a:tr>
                  <a:tr h="1001756">
                    <a:tc>
                      <a:txBody>
                        <a:bodyPr/>
                        <a:lstStyle/>
                        <a:p>
                          <a:pPr>
                            <a:buNone/>
                          </a:pPr>
                          <a14:m>
                            <m:oMath xmlns:m="http://schemas.openxmlformats.org/officeDocument/2006/math">
                              <m:r>
                                <a:rPr lang="es-MX" sz="1800" i="1" smtClean="0">
                                  <a:latin typeface="Cambria Math" panose="02040503050406030204" pitchFamily="18" charset="0"/>
                                  <a:ea typeface="Cambria Math" panose="02040503050406030204" pitchFamily="18" charset="0"/>
                                </a:rPr>
                                <m:t>𝜆</m:t>
                              </m:r>
                              <m:d>
                                <m:dPr>
                                  <m:ctrlPr>
                                    <a:rPr lang="es-MX" sz="1800" i="1">
                                      <a:latin typeface="Cambria Math" panose="02040503050406030204" pitchFamily="18" charset="0"/>
                                      <a:ea typeface="Cambria Math" panose="02040503050406030204" pitchFamily="18" charset="0"/>
                                    </a:rPr>
                                  </m:ctrlPr>
                                </m:dPr>
                                <m:e>
                                  <m:sSub>
                                    <m:sSubPr>
                                      <m:ctrlPr>
                                        <a:rPr lang="es-MX" sz="1800" i="1">
                                          <a:latin typeface="Cambria Math" panose="02040503050406030204" pitchFamily="18" charset="0"/>
                                          <a:ea typeface="Cambria Math" panose="02040503050406030204" pitchFamily="18" charset="0"/>
                                        </a:rPr>
                                      </m:ctrlPr>
                                    </m:sSubPr>
                                    <m:e>
                                      <m:r>
                                        <a:rPr lang="es-MX" sz="1800" i="1">
                                          <a:latin typeface="Cambria Math" panose="02040503050406030204" pitchFamily="18" charset="0"/>
                                          <a:ea typeface="Cambria Math" panose="02040503050406030204" pitchFamily="18" charset="0"/>
                                        </a:rPr>
                                        <m:t>𝛼</m:t>
                                      </m:r>
                                    </m:e>
                                    <m:sub>
                                      <m:r>
                                        <m:rPr>
                                          <m:sty m:val="p"/>
                                        </m:rPr>
                                        <a:rPr lang="es-MX" sz="1800" b="0" i="1">
                                          <a:latin typeface="Cambria Math" panose="02040503050406030204" pitchFamily="18" charset="0"/>
                                          <a:ea typeface="Cambria Math" panose="02040503050406030204" pitchFamily="18" charset="0"/>
                                        </a:rPr>
                                        <m:t>i</m:t>
                                      </m:r>
                                    </m:sub>
                                  </m:sSub>
                                  <m:r>
                                    <a:rPr lang="es-MX" sz="1800" b="0" i="1">
                                      <a:latin typeface="Cambria Math" panose="02040503050406030204" pitchFamily="18" charset="0"/>
                                      <a:ea typeface="Cambria Math" panose="02040503050406030204" pitchFamily="18" charset="0"/>
                                    </a:rPr>
                                    <m:t>,</m:t>
                                  </m:r>
                                  <m:sSub>
                                    <m:sSubPr>
                                      <m:ctrlPr>
                                        <a:rPr lang="es-MX" sz="1800" b="0" i="1">
                                          <a:latin typeface="Cambria Math" panose="02040503050406030204" pitchFamily="18" charset="0"/>
                                          <a:ea typeface="Cambria Math" panose="02040503050406030204" pitchFamily="18" charset="0"/>
                                        </a:rPr>
                                      </m:ctrlPr>
                                    </m:sSubPr>
                                    <m:e>
                                      <m:r>
                                        <m:rPr>
                                          <m:sty m:val="p"/>
                                        </m:rPr>
                                        <a:rPr lang="es-MX" sz="1800" b="0" i="1">
                                          <a:latin typeface="Cambria Math" panose="02040503050406030204" pitchFamily="18" charset="0"/>
                                          <a:ea typeface="Cambria Math" panose="02040503050406030204" pitchFamily="18" charset="0"/>
                                        </a:rPr>
                                        <m:t>C</m:t>
                                      </m:r>
                                    </m:e>
                                    <m:sub>
                                      <m:r>
                                        <m:rPr>
                                          <m:sty m:val="p"/>
                                        </m:rPr>
                                        <a:rPr lang="es-MX" sz="1800" b="0" i="1">
                                          <a:latin typeface="Cambria Math" panose="02040503050406030204" pitchFamily="18" charset="0"/>
                                          <a:ea typeface="Cambria Math" panose="02040503050406030204" pitchFamily="18" charset="0"/>
                                        </a:rPr>
                                        <m:t>j</m:t>
                                      </m:r>
                                    </m:sub>
                                  </m:sSub>
                                </m:e>
                              </m:d>
                            </m:oMath>
                          </a14:m>
                          <a:r>
                            <a:rPr lang="es-MX" sz="1800" dirty="0"/>
                            <a:t> </a:t>
                          </a:r>
                          <a:r>
                            <a:rPr lang="es-MX" sz="1800" dirty="0">
                              <a:effectLst/>
                            </a:rPr>
                            <a:t>= 0 si i = j</a:t>
                          </a:r>
                          <a:endParaRPr lang="es-MX" sz="2100" dirty="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No hay costo cuando la decision es correcta (diagonal de la matriz)</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3631509803"/>
                      </a:ext>
                    </a:extLst>
                  </a:tr>
                  <a:tr h="720890">
                    <a:tc>
                      <a:txBody>
                        <a:bodyPr/>
                        <a:lstStyle/>
                        <a:p>
                          <a:pPr>
                            <a:buNone/>
                          </a:pPr>
                          <a14:m>
                            <m:oMath xmlns:m="http://schemas.openxmlformats.org/officeDocument/2006/math">
                              <m:r>
                                <a:rPr lang="es-MX" sz="1800" i="1" smtClean="0">
                                  <a:latin typeface="Cambria Math" panose="02040503050406030204" pitchFamily="18" charset="0"/>
                                  <a:ea typeface="Cambria Math" panose="02040503050406030204" pitchFamily="18" charset="0"/>
                                </a:rPr>
                                <m:t>𝜆</m:t>
                              </m:r>
                              <m:d>
                                <m:dPr>
                                  <m:ctrlPr>
                                    <a:rPr lang="es-MX" sz="1800" i="1">
                                      <a:latin typeface="Cambria Math" panose="02040503050406030204" pitchFamily="18" charset="0"/>
                                      <a:ea typeface="Cambria Math" panose="02040503050406030204" pitchFamily="18" charset="0"/>
                                    </a:rPr>
                                  </m:ctrlPr>
                                </m:dPr>
                                <m:e>
                                  <m:sSub>
                                    <m:sSubPr>
                                      <m:ctrlPr>
                                        <a:rPr lang="es-MX" sz="1800" i="1">
                                          <a:latin typeface="Cambria Math" panose="02040503050406030204" pitchFamily="18" charset="0"/>
                                          <a:ea typeface="Cambria Math" panose="02040503050406030204" pitchFamily="18" charset="0"/>
                                        </a:rPr>
                                      </m:ctrlPr>
                                    </m:sSubPr>
                                    <m:e>
                                      <m:r>
                                        <a:rPr lang="es-MX" sz="1800" i="1">
                                          <a:latin typeface="Cambria Math" panose="02040503050406030204" pitchFamily="18" charset="0"/>
                                          <a:ea typeface="Cambria Math" panose="02040503050406030204" pitchFamily="18" charset="0"/>
                                        </a:rPr>
                                        <m:t>𝛼</m:t>
                                      </m:r>
                                    </m:e>
                                    <m:sub>
                                      <m:r>
                                        <m:rPr>
                                          <m:sty m:val="p"/>
                                        </m:rPr>
                                        <a:rPr lang="es-MX" sz="1800" b="0" i="1">
                                          <a:latin typeface="Cambria Math" panose="02040503050406030204" pitchFamily="18" charset="0"/>
                                          <a:ea typeface="Cambria Math" panose="02040503050406030204" pitchFamily="18" charset="0"/>
                                        </a:rPr>
                                        <m:t>i</m:t>
                                      </m:r>
                                    </m:sub>
                                  </m:sSub>
                                  <m:r>
                                    <a:rPr lang="es-MX" sz="1800" b="0" i="1">
                                      <a:latin typeface="Cambria Math" panose="02040503050406030204" pitchFamily="18" charset="0"/>
                                      <a:ea typeface="Cambria Math" panose="02040503050406030204" pitchFamily="18" charset="0"/>
                                    </a:rPr>
                                    <m:t>,</m:t>
                                  </m:r>
                                  <m:sSub>
                                    <m:sSubPr>
                                      <m:ctrlPr>
                                        <a:rPr lang="es-MX" sz="1800" b="0" i="1">
                                          <a:latin typeface="Cambria Math" panose="02040503050406030204" pitchFamily="18" charset="0"/>
                                          <a:ea typeface="Cambria Math" panose="02040503050406030204" pitchFamily="18" charset="0"/>
                                        </a:rPr>
                                      </m:ctrlPr>
                                    </m:sSubPr>
                                    <m:e>
                                      <m:r>
                                        <m:rPr>
                                          <m:sty m:val="p"/>
                                        </m:rPr>
                                        <a:rPr lang="es-MX" sz="1800" b="0" i="1">
                                          <a:latin typeface="Cambria Math" panose="02040503050406030204" pitchFamily="18" charset="0"/>
                                          <a:ea typeface="Cambria Math" panose="02040503050406030204" pitchFamily="18" charset="0"/>
                                        </a:rPr>
                                        <m:t>C</m:t>
                                      </m:r>
                                    </m:e>
                                    <m:sub>
                                      <m:r>
                                        <m:rPr>
                                          <m:sty m:val="p"/>
                                        </m:rPr>
                                        <a:rPr lang="es-MX" sz="1800" b="0" i="1">
                                          <a:latin typeface="Cambria Math" panose="02040503050406030204" pitchFamily="18" charset="0"/>
                                          <a:ea typeface="Cambria Math" panose="02040503050406030204" pitchFamily="18" charset="0"/>
                                        </a:rPr>
                                        <m:t>j</m:t>
                                      </m:r>
                                    </m:sub>
                                  </m:sSub>
                                </m:e>
                              </m:d>
                            </m:oMath>
                          </a14:m>
                          <a:r>
                            <a:rPr lang="es-MX" sz="1800" dirty="0"/>
                            <a:t> </a:t>
                          </a:r>
                          <a:r>
                            <a:rPr lang="es-MX" sz="1800" dirty="0">
                              <a:effectLst/>
                            </a:rPr>
                            <a:t>&gt; 0 si i != j</a:t>
                          </a:r>
                          <a:endParaRPr lang="es-MX" sz="2100" dirty="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Hay costo cuando se comete un error</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656239704"/>
                      </a:ext>
                    </a:extLst>
                  </a:tr>
                  <a:tr h="1001756">
                    <a:tc>
                      <a:txBody>
                        <a:bodyPr/>
                        <a:lstStyle/>
                        <a:p>
                          <a:pPr>
                            <a:buNone/>
                          </a:pPr>
                          <a:r>
                            <a:rPr lang="es-MX" sz="1800">
                              <a:effectLst/>
                            </a:rPr>
                            <a:t>Perdida 0-1 simetrica</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lambda = 1 para todo error (todos los errores cuestan igual)</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3998787888"/>
                      </a:ext>
                    </a:extLst>
                  </a:tr>
                  <a:tr h="1001756">
                    <a:tc>
                      <a:txBody>
                        <a:bodyPr/>
                        <a:lstStyle/>
                        <a:p>
                          <a:pPr>
                            <a:buNone/>
                          </a:pPr>
                          <a:r>
                            <a:rPr lang="es-MX" sz="1800">
                              <a:effectLst/>
                            </a:rPr>
                            <a:t>Perdida asimetrica</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dirty="0">
                              <a:effectLst/>
                            </a:rPr>
                            <a:t>Errores en distintas direcciones tienen diferente costo (</a:t>
                          </a:r>
                          <a:r>
                            <a:rPr lang="es-MX" sz="1800" dirty="0" err="1">
                              <a:effectLst/>
                            </a:rPr>
                            <a:t>ej</a:t>
                          </a:r>
                          <a:r>
                            <a:rPr lang="es-MX" sz="1800" dirty="0">
                              <a:effectLst/>
                            </a:rPr>
                            <a:t>: diagnostico medico)</a:t>
                          </a:r>
                          <a:endParaRPr lang="es-MX" sz="2100" dirty="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663169581"/>
                      </a:ext>
                    </a:extLst>
                  </a:tr>
                </a:tbl>
              </a:graphicData>
            </a:graphic>
          </p:graphicFrame>
        </mc:Choice>
        <mc:Fallback xmlns="">
          <p:graphicFrame>
            <p:nvGraphicFramePr>
              <p:cNvPr id="5" name="Tabla 4">
                <a:extLst>
                  <a:ext uri="{FF2B5EF4-FFF2-40B4-BE49-F238E27FC236}">
                    <a16:creationId xmlns:a16="http://schemas.microsoft.com/office/drawing/2014/main" id="{2F002FE4-677D-0716-9240-BECE844FA033}"/>
                  </a:ext>
                </a:extLst>
              </p:cNvPr>
              <p:cNvGraphicFramePr>
                <a:graphicFrameLocks noGrp="1"/>
              </p:cNvGraphicFramePr>
              <p:nvPr>
                <p:extLst>
                  <p:ext uri="{D42A27DB-BD31-4B8C-83A1-F6EECF244321}">
                    <p14:modId xmlns:p14="http://schemas.microsoft.com/office/powerpoint/2010/main" val="575607452"/>
                  </p:ext>
                </p:extLst>
              </p:nvPr>
            </p:nvGraphicFramePr>
            <p:xfrm>
              <a:off x="6099048" y="1345910"/>
              <a:ext cx="5458969" cy="4166182"/>
            </p:xfrm>
            <a:graphic>
              <a:graphicData uri="http://schemas.openxmlformats.org/drawingml/2006/table">
                <a:tbl>
                  <a:tblPr firstRow="1" firstCol="1" bandRow="1">
                    <a:tableStyleId>{5C22544A-7EE6-4342-B048-85BDC9FD1C3A}</a:tableStyleId>
                  </a:tblPr>
                  <a:tblGrid>
                    <a:gridCol w="2042862">
                      <a:extLst>
                        <a:ext uri="{9D8B030D-6E8A-4147-A177-3AD203B41FA5}">
                          <a16:colId xmlns:a16="http://schemas.microsoft.com/office/drawing/2014/main" val="4013055818"/>
                        </a:ext>
                      </a:extLst>
                    </a:gridCol>
                    <a:gridCol w="3416107">
                      <a:extLst>
                        <a:ext uri="{9D8B030D-6E8A-4147-A177-3AD203B41FA5}">
                          <a16:colId xmlns:a16="http://schemas.microsoft.com/office/drawing/2014/main" val="2627015123"/>
                        </a:ext>
                      </a:extLst>
                    </a:gridCol>
                  </a:tblGrid>
                  <a:tr h="440024">
                    <a:tc>
                      <a:txBody>
                        <a:bodyPr/>
                        <a:lstStyle/>
                        <a:p>
                          <a:pPr>
                            <a:buNone/>
                          </a:pPr>
                          <a:r>
                            <a:rPr lang="es-MX" sz="1800">
                              <a:effectLst/>
                            </a:rPr>
                            <a:t>Caso</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Descripcion</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263705123"/>
                      </a:ext>
                    </a:extLst>
                  </a:tr>
                  <a:tr h="1001756">
                    <a:tc>
                      <a:txBody>
                        <a:bodyPr/>
                        <a:lstStyle/>
                        <a:p>
                          <a:endParaRPr lang="es-MX"/>
                        </a:p>
                      </a:txBody>
                      <a:tcPr marL="87771" marR="87771" marT="58514" marB="58514">
                        <a:blipFill>
                          <a:blip r:embed="rId3"/>
                          <a:stretch>
                            <a:fillRect l="-298" t="-44848" r="-168155" b="-273939"/>
                          </a:stretch>
                        </a:blipFill>
                      </a:tcPr>
                    </a:tc>
                    <a:tc>
                      <a:txBody>
                        <a:bodyPr/>
                        <a:lstStyle/>
                        <a:p>
                          <a:pPr>
                            <a:buNone/>
                          </a:pPr>
                          <a:r>
                            <a:rPr lang="es-MX" sz="1800">
                              <a:effectLst/>
                            </a:rPr>
                            <a:t>No hay costo cuando la decision es correcta (diagonal de la matriz)</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3631509803"/>
                      </a:ext>
                    </a:extLst>
                  </a:tr>
                  <a:tr h="720890">
                    <a:tc>
                      <a:txBody>
                        <a:bodyPr/>
                        <a:lstStyle/>
                        <a:p>
                          <a:endParaRPr lang="es-MX"/>
                        </a:p>
                      </a:txBody>
                      <a:tcPr marL="87771" marR="87771" marT="58514" marB="58514">
                        <a:blipFill>
                          <a:blip r:embed="rId3"/>
                          <a:stretch>
                            <a:fillRect l="-298" t="-200840" r="-168155" b="-279832"/>
                          </a:stretch>
                        </a:blipFill>
                      </a:tcPr>
                    </a:tc>
                    <a:tc>
                      <a:txBody>
                        <a:bodyPr/>
                        <a:lstStyle/>
                        <a:p>
                          <a:pPr>
                            <a:buNone/>
                          </a:pPr>
                          <a:r>
                            <a:rPr lang="es-MX" sz="1800">
                              <a:effectLst/>
                            </a:rPr>
                            <a:t>Hay costo cuando se comete un error</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656239704"/>
                      </a:ext>
                    </a:extLst>
                  </a:tr>
                  <a:tr h="1001756">
                    <a:tc>
                      <a:txBody>
                        <a:bodyPr/>
                        <a:lstStyle/>
                        <a:p>
                          <a:pPr>
                            <a:buNone/>
                          </a:pPr>
                          <a:r>
                            <a:rPr lang="es-MX" sz="1800">
                              <a:effectLst/>
                            </a:rPr>
                            <a:t>Perdida 0-1 simetrica</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a:effectLst/>
                            </a:rPr>
                            <a:t>lambda = 1 para todo error (todos los errores cuestan igual)</a:t>
                          </a:r>
                          <a:endParaRPr lang="es-MX" sz="210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3998787888"/>
                      </a:ext>
                    </a:extLst>
                  </a:tr>
                  <a:tr h="1001756">
                    <a:tc>
                      <a:txBody>
                        <a:bodyPr/>
                        <a:lstStyle/>
                        <a:p>
                          <a:pPr>
                            <a:buNone/>
                          </a:pPr>
                          <a:r>
                            <a:rPr lang="es-MX" sz="1800">
                              <a:effectLst/>
                            </a:rPr>
                            <a:t>Perdida asimetrica</a:t>
                          </a:r>
                          <a:endParaRPr lang="es-MX" sz="2100">
                            <a:effectLst/>
                            <a:latin typeface="Arial" panose="020B0604020202020204" pitchFamily="34" charset="0"/>
                            <a:ea typeface="Arial" panose="020B0604020202020204" pitchFamily="34" charset="0"/>
                          </a:endParaRPr>
                        </a:p>
                      </a:txBody>
                      <a:tcPr marL="87771" marR="87771" marT="58514" marB="58514"/>
                    </a:tc>
                    <a:tc>
                      <a:txBody>
                        <a:bodyPr/>
                        <a:lstStyle/>
                        <a:p>
                          <a:pPr>
                            <a:buNone/>
                          </a:pPr>
                          <a:r>
                            <a:rPr lang="es-MX" sz="1800" dirty="0">
                              <a:effectLst/>
                            </a:rPr>
                            <a:t>Errores en distintas direcciones tienen diferente costo (</a:t>
                          </a:r>
                          <a:r>
                            <a:rPr lang="es-MX" sz="1800" dirty="0" err="1">
                              <a:effectLst/>
                            </a:rPr>
                            <a:t>ej</a:t>
                          </a:r>
                          <a:r>
                            <a:rPr lang="es-MX" sz="1800" dirty="0">
                              <a:effectLst/>
                            </a:rPr>
                            <a:t>: diagnostico medico)</a:t>
                          </a:r>
                          <a:endParaRPr lang="es-MX" sz="2100" dirty="0">
                            <a:effectLst/>
                            <a:latin typeface="Arial" panose="020B0604020202020204" pitchFamily="34" charset="0"/>
                            <a:ea typeface="Arial" panose="020B0604020202020204" pitchFamily="34" charset="0"/>
                          </a:endParaRPr>
                        </a:p>
                      </a:txBody>
                      <a:tcPr marL="87771" marR="87771" marT="58514" marB="58514"/>
                    </a:tc>
                    <a:extLst>
                      <a:ext uri="{0D108BD9-81ED-4DB2-BD59-A6C34878D82A}">
                        <a16:rowId xmlns:a16="http://schemas.microsoft.com/office/drawing/2014/main" val="1663169581"/>
                      </a:ext>
                    </a:extLst>
                  </a:tr>
                </a:tbl>
              </a:graphicData>
            </a:graphic>
          </p:graphicFrame>
        </mc:Fallback>
      </mc:AlternateContent>
    </p:spTree>
    <p:extLst>
      <p:ext uri="{BB962C8B-B14F-4D97-AF65-F5344CB8AC3E}">
        <p14:creationId xmlns:p14="http://schemas.microsoft.com/office/powerpoint/2010/main" val="690100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E99AA2F-24DB-2A77-39CC-4B0686F343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graphicFrame>
        <p:nvGraphicFramePr>
          <p:cNvPr id="5" name="Table 0">
            <a:extLst>
              <a:ext uri="{FF2B5EF4-FFF2-40B4-BE49-F238E27FC236}">
                <a16:creationId xmlns:a16="http://schemas.microsoft.com/office/drawing/2014/main" id="{FB3573C9-A3EB-2999-612D-A4C1E5E2733D}"/>
              </a:ext>
            </a:extLst>
          </p:cNvPr>
          <p:cNvGraphicFramePr>
            <a:graphicFrameLocks noGrp="1"/>
          </p:cNvGraphicFramePr>
          <p:nvPr/>
        </p:nvGraphicFramePr>
        <p:xfrm>
          <a:off x="720262" y="630708"/>
          <a:ext cx="5375738" cy="2211549"/>
        </p:xfrm>
        <a:graphic>
          <a:graphicData uri="http://schemas.openxmlformats.org/drawingml/2006/table">
            <a:tbl>
              <a:tblPr/>
              <a:tblGrid>
                <a:gridCol w="2150296">
                  <a:extLst>
                    <a:ext uri="{9D8B030D-6E8A-4147-A177-3AD203B41FA5}">
                      <a16:colId xmlns:a16="http://schemas.microsoft.com/office/drawing/2014/main" val="20000"/>
                    </a:ext>
                  </a:extLst>
                </a:gridCol>
                <a:gridCol w="1612721">
                  <a:extLst>
                    <a:ext uri="{9D8B030D-6E8A-4147-A177-3AD203B41FA5}">
                      <a16:colId xmlns:a16="http://schemas.microsoft.com/office/drawing/2014/main" val="20001"/>
                    </a:ext>
                  </a:extLst>
                </a:gridCol>
                <a:gridCol w="1612721">
                  <a:extLst>
                    <a:ext uri="{9D8B030D-6E8A-4147-A177-3AD203B41FA5}">
                      <a16:colId xmlns:a16="http://schemas.microsoft.com/office/drawing/2014/main" val="20002"/>
                    </a:ext>
                  </a:extLst>
                </a:gridCol>
              </a:tblGrid>
              <a:tr h="737183">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Accion / Clase real</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1D9E75"/>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Real: C1</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1D9E75"/>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Real: C2</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1D9E75"/>
                    </a:solidFill>
                  </a:tcPr>
                </a:tc>
                <a:extLst>
                  <a:ext uri="{0D108BD9-81ED-4DB2-BD59-A6C34878D82A}">
                    <a16:rowId xmlns:a16="http://schemas.microsoft.com/office/drawing/2014/main" val="10000"/>
                  </a:ext>
                </a:extLst>
              </a:tr>
              <a:tr h="737183">
                <a:tc>
                  <a:txBody>
                    <a:bodyPr/>
                    <a:lstStyle/>
                    <a:p>
                      <a:pPr marL="0" indent="0">
                        <a:buNone/>
                      </a:pPr>
                      <a:r>
                        <a:rPr lang="en-US" sz="1800" b="1" dirty="0">
                          <a:solidFill>
                            <a:srgbClr val="2C3A50"/>
                          </a:solidFill>
                          <a:latin typeface="Calibri" pitchFamily="34" charset="0"/>
                          <a:ea typeface="Calibri" pitchFamily="34" charset="-122"/>
                          <a:cs typeface="Calibri" pitchFamily="34" charset="-120"/>
                        </a:rPr>
                        <a:t>Decido C1</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tc>
                  <a:txBody>
                    <a:bodyPr/>
                    <a:lstStyle/>
                    <a:p>
                      <a:pPr marL="0" indent="0">
                        <a:buNone/>
                      </a:pPr>
                      <a:r>
                        <a:rPr lang="en-US" sz="1800" dirty="0">
                          <a:solidFill>
                            <a:srgbClr val="1D9E75"/>
                          </a:solidFill>
                          <a:latin typeface="Calibri" pitchFamily="34" charset="0"/>
                          <a:ea typeface="Calibri" pitchFamily="34" charset="-122"/>
                          <a:cs typeface="Calibri" pitchFamily="34" charset="-120"/>
                        </a:rPr>
                        <a:t>0  (correcto)</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tc>
                  <a:txBody>
                    <a:bodyPr/>
                    <a:lstStyle/>
                    <a:p>
                      <a:pPr marL="0" indent="0">
                        <a:buNone/>
                      </a:pPr>
                      <a:r>
                        <a:rPr lang="en-US" sz="1800" dirty="0">
                          <a:solidFill>
                            <a:srgbClr val="D85A30"/>
                          </a:solidFill>
                          <a:latin typeface="Calibri" pitchFamily="34" charset="0"/>
                          <a:ea typeface="Calibri" pitchFamily="34" charset="-122"/>
                          <a:cs typeface="Calibri" pitchFamily="34" charset="-120"/>
                        </a:rPr>
                        <a:t>lambda_12  (costo FP)</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7183">
                <a:tc>
                  <a:txBody>
                    <a:bodyPr/>
                    <a:lstStyle/>
                    <a:p>
                      <a:pPr marL="0" indent="0">
                        <a:buNone/>
                      </a:pPr>
                      <a:r>
                        <a:rPr lang="en-US" sz="1800" b="1" dirty="0">
                          <a:solidFill>
                            <a:srgbClr val="2C3A50"/>
                          </a:solidFill>
                          <a:latin typeface="Calibri" pitchFamily="34" charset="0"/>
                          <a:ea typeface="Calibri" pitchFamily="34" charset="-122"/>
                          <a:cs typeface="Calibri" pitchFamily="34" charset="-120"/>
                        </a:rPr>
                        <a:t>Decido C2</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tc>
                  <a:txBody>
                    <a:bodyPr/>
                    <a:lstStyle/>
                    <a:p>
                      <a:pPr marL="0" indent="0">
                        <a:buNone/>
                      </a:pPr>
                      <a:r>
                        <a:rPr lang="en-US" sz="1800" dirty="0">
                          <a:solidFill>
                            <a:srgbClr val="BA7517"/>
                          </a:solidFill>
                          <a:latin typeface="Calibri" pitchFamily="34" charset="0"/>
                          <a:ea typeface="Calibri" pitchFamily="34" charset="-122"/>
                          <a:cs typeface="Calibri" pitchFamily="34" charset="-120"/>
                        </a:rPr>
                        <a:t>lambda_21  (costo FN)</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tc>
                  <a:txBody>
                    <a:bodyPr/>
                    <a:lstStyle/>
                    <a:p>
                      <a:pPr marL="0" indent="0">
                        <a:buNone/>
                      </a:pPr>
                      <a:r>
                        <a:rPr lang="en-US" sz="1800" dirty="0">
                          <a:solidFill>
                            <a:srgbClr val="1D9E75"/>
                          </a:solidFill>
                          <a:latin typeface="Calibri" pitchFamily="34" charset="0"/>
                          <a:ea typeface="Calibri" pitchFamily="34" charset="-122"/>
                          <a:cs typeface="Calibri" pitchFamily="34" charset="-120"/>
                        </a:rPr>
                        <a:t>0  (correcto)</a:t>
                      </a:r>
                      <a:endParaRPr lang="en-US" sz="1800" dirty="0">
                        <a:latin typeface="Calibri" charset="0"/>
                        <a:ea typeface="Calibri" charset="0"/>
                        <a:cs typeface="Calibri" charset="0"/>
                      </a:endParaRPr>
                    </a:p>
                  </a:txBody>
                  <a:tcPr>
                    <a:lnL w="6350" cap="flat" cmpd="sng" algn="ctr">
                      <a:solidFill>
                        <a:srgbClr val="CBCBE8"/>
                      </a:solidFill>
                      <a:prstDash val="solid"/>
                      <a:round/>
                      <a:headEnd type="none" w="med" len="med"/>
                      <a:tailEnd type="none" w="med" len="med"/>
                    </a:lnL>
                    <a:lnR w="6350" cap="flat" cmpd="sng" algn="ctr">
                      <a:solidFill>
                        <a:srgbClr val="CBCBE8"/>
                      </a:solidFill>
                      <a:prstDash val="solid"/>
                      <a:round/>
                      <a:headEnd type="none" w="med" len="med"/>
                      <a:tailEnd type="none" w="med" len="med"/>
                    </a:lnR>
                    <a:lnT w="6350" cap="flat" cmpd="sng" algn="ctr">
                      <a:solidFill>
                        <a:srgbClr val="CBCBE8"/>
                      </a:solidFill>
                      <a:prstDash val="solid"/>
                      <a:round/>
                      <a:headEnd type="none" w="med" len="med"/>
                      <a:tailEnd type="none" w="med" len="med"/>
                    </a:lnT>
                    <a:lnB w="6350" cap="flat" cmpd="sng" algn="ctr">
                      <a:solidFill>
                        <a:srgbClr val="CBCB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Shape 3">
            <a:extLst>
              <a:ext uri="{FF2B5EF4-FFF2-40B4-BE49-F238E27FC236}">
                <a16:creationId xmlns:a16="http://schemas.microsoft.com/office/drawing/2014/main" id="{E2F2DB93-6B65-54F1-8BA0-A9EE565DAC5E}"/>
              </a:ext>
            </a:extLst>
          </p:cNvPr>
          <p:cNvSpPr/>
          <p:nvPr/>
        </p:nvSpPr>
        <p:spPr>
          <a:xfrm>
            <a:off x="845575" y="3179792"/>
            <a:ext cx="4114800" cy="1292901"/>
          </a:xfrm>
          <a:prstGeom prst="rect">
            <a:avLst/>
          </a:prstGeom>
          <a:solidFill>
            <a:srgbClr val="FFFFFF"/>
          </a:solidFill>
          <a:ln w="12700">
            <a:solidFill>
              <a:srgbClr val="D8D6EC"/>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hape 4">
            <a:extLst>
              <a:ext uri="{FF2B5EF4-FFF2-40B4-BE49-F238E27FC236}">
                <a16:creationId xmlns:a16="http://schemas.microsoft.com/office/drawing/2014/main" id="{E64E2482-5120-D0EA-D17F-1181CE40ABDF}"/>
              </a:ext>
            </a:extLst>
          </p:cNvPr>
          <p:cNvSpPr/>
          <p:nvPr/>
        </p:nvSpPr>
        <p:spPr>
          <a:xfrm>
            <a:off x="845575" y="3179792"/>
            <a:ext cx="64008" cy="1292901"/>
          </a:xfrm>
          <a:prstGeom prst="rect">
            <a:avLst/>
          </a:prstGeom>
          <a:solidFill>
            <a:srgbClr val="1D9E75"/>
          </a:solidFill>
          <a:ln w="12700">
            <a:solidFill>
              <a:srgbClr val="1D9E7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Text 5">
            <a:extLst>
              <a:ext uri="{FF2B5EF4-FFF2-40B4-BE49-F238E27FC236}">
                <a16:creationId xmlns:a16="http://schemas.microsoft.com/office/drawing/2014/main" id="{F34BFBC0-4BB4-CCE9-9166-ED23638FD826}"/>
              </a:ext>
            </a:extLst>
          </p:cNvPr>
          <p:cNvSpPr/>
          <p:nvPr/>
        </p:nvSpPr>
        <p:spPr>
          <a:xfrm>
            <a:off x="1001023" y="3271233"/>
            <a:ext cx="3886200" cy="3878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Perdida 0-1 (simetrica)</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 6">
            <a:extLst>
              <a:ext uri="{FF2B5EF4-FFF2-40B4-BE49-F238E27FC236}">
                <a16:creationId xmlns:a16="http://schemas.microsoft.com/office/drawing/2014/main" id="{5E005A17-5223-0425-8F7D-AA5D37893E48}"/>
              </a:ext>
            </a:extLst>
          </p:cNvPr>
          <p:cNvSpPr/>
          <p:nvPr/>
        </p:nvSpPr>
        <p:spPr>
          <a:xfrm>
            <a:off x="1001023" y="3563841"/>
            <a:ext cx="3886200" cy="62059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lambda = 1 para todo error.</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Todos los errores cuestan igual.</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Caso mas simple y comun.</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Shape 7">
            <a:extLst>
              <a:ext uri="{FF2B5EF4-FFF2-40B4-BE49-F238E27FC236}">
                <a16:creationId xmlns:a16="http://schemas.microsoft.com/office/drawing/2014/main" id="{1E8D74E3-B77F-68A1-2A45-3C43C2BD2E15}"/>
              </a:ext>
            </a:extLst>
          </p:cNvPr>
          <p:cNvSpPr/>
          <p:nvPr/>
        </p:nvSpPr>
        <p:spPr>
          <a:xfrm>
            <a:off x="845575" y="4765301"/>
            <a:ext cx="4114800" cy="1280160"/>
          </a:xfrm>
          <a:prstGeom prst="rect">
            <a:avLst/>
          </a:prstGeom>
          <a:solidFill>
            <a:srgbClr val="FFFFFF"/>
          </a:solidFill>
          <a:ln w="12700">
            <a:solidFill>
              <a:srgbClr val="D8D6EC"/>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Shape 8">
            <a:extLst>
              <a:ext uri="{FF2B5EF4-FFF2-40B4-BE49-F238E27FC236}">
                <a16:creationId xmlns:a16="http://schemas.microsoft.com/office/drawing/2014/main" id="{22327AD1-94D5-DAD1-777D-CFB3792370B7}"/>
              </a:ext>
            </a:extLst>
          </p:cNvPr>
          <p:cNvSpPr/>
          <p:nvPr/>
        </p:nvSpPr>
        <p:spPr>
          <a:xfrm>
            <a:off x="845575" y="4765301"/>
            <a:ext cx="64008" cy="1280160"/>
          </a:xfrm>
          <a:prstGeom prst="rect">
            <a:avLst/>
          </a:prstGeom>
          <a:solidFill>
            <a:srgbClr val="D85A30"/>
          </a:solidFill>
          <a:ln w="12700">
            <a:solidFill>
              <a:srgbClr val="D85A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 9">
            <a:extLst>
              <a:ext uri="{FF2B5EF4-FFF2-40B4-BE49-F238E27FC236}">
                <a16:creationId xmlns:a16="http://schemas.microsoft.com/office/drawing/2014/main" id="{F9E3C163-7575-7C06-2797-C2B086E5EE66}"/>
              </a:ext>
            </a:extLst>
          </p:cNvPr>
          <p:cNvSpPr/>
          <p:nvPr/>
        </p:nvSpPr>
        <p:spPr>
          <a:xfrm>
            <a:off x="1001023" y="4856741"/>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D85A30"/>
                </a:solidFill>
                <a:effectLst/>
                <a:uLnTx/>
                <a:uFillTx/>
                <a:latin typeface="Calibri" pitchFamily="34" charset="0"/>
                <a:ea typeface="Calibri" pitchFamily="34" charset="-122"/>
                <a:cs typeface="Calibri" pitchFamily="34" charset="-120"/>
              </a:rPr>
              <a:t>Perdida asimetrica</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 10">
            <a:extLst>
              <a:ext uri="{FF2B5EF4-FFF2-40B4-BE49-F238E27FC236}">
                <a16:creationId xmlns:a16="http://schemas.microsoft.com/office/drawing/2014/main" id="{DA44679C-1A7E-C2E0-6B3C-1FBC72A99525}"/>
              </a:ext>
            </a:extLst>
          </p:cNvPr>
          <p:cNvSpPr/>
          <p:nvPr/>
        </p:nvSpPr>
        <p:spPr>
          <a:xfrm>
            <a:off x="1001023" y="5149349"/>
            <a:ext cx="3886200" cy="80467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lambda_12 != lambda_21.</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Diagnostico medico: FN mas grave que FP.</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3A50"/>
                </a:solidFill>
                <a:effectLst/>
                <a:uLnTx/>
                <a:uFillTx/>
                <a:latin typeface="Calibri" pitchFamily="34" charset="0"/>
                <a:ea typeface="Calibri" pitchFamily="34" charset="-122"/>
                <a:cs typeface="Calibri" pitchFamily="34" charset="-120"/>
              </a:rPr>
              <a:t>Desplaza la frontera de decision.</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CuadroTexto 13">
            <a:extLst>
              <a:ext uri="{FF2B5EF4-FFF2-40B4-BE49-F238E27FC236}">
                <a16:creationId xmlns:a16="http://schemas.microsoft.com/office/drawing/2014/main" id="{A8BF7D17-C71D-C9FA-2044-13017B9A0324}"/>
              </a:ext>
            </a:extLst>
          </p:cNvPr>
          <p:cNvSpPr txBox="1"/>
          <p:nvPr/>
        </p:nvSpPr>
        <p:spPr>
          <a:xfrm>
            <a:off x="5638800" y="2974258"/>
            <a:ext cx="6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2708A36-98AE-3452-24F6-458F21B35B27}"/>
                  </a:ext>
                </a:extLst>
              </p:cNvPr>
              <p:cNvSpPr txBox="1"/>
              <p:nvPr/>
            </p:nvSpPr>
            <p:spPr>
              <a:xfrm>
                <a:off x="6867832" y="2835758"/>
                <a:ext cx="3426542" cy="154754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m>
                            <m:mPr>
                              <m:mcs>
                                <m:mc>
                                  <m:mcPr>
                                    <m:count m:val="2"/>
                                    <m:mcJc m:val="center"/>
                                  </m:mcPr>
                                </m:mc>
                              </m:mcs>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m>
                                  <m:mPr>
                                    <m:mcs>
                                      <m:mc>
                                        <m:mcPr>
                                          <m:count m:val="2"/>
                                          <m:mcJc m:val="center"/>
                                        </m:mcPr>
                                      </m:mc>
                                    </m:mcs>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sSub>
                                        <m:sSubPr>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11</m:t>
                                          </m:r>
                                        </m:sub>
                                      </m:sSub>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e>
                                  </m:mr>
                                  <m:mr>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22</m:t>
                                          </m:r>
                                        </m:sub>
                                      </m:sSub>
                                    </m:e>
                                  </m:mr>
                                </m:m>
                              </m:e>
                              <m:e>
                                <m:m>
                                  <m:mPr>
                                    <m:mcs>
                                      <m:mc>
                                        <m:mcPr>
                                          <m:count m:val="2"/>
                                          <m:mcJc m:val="center"/>
                                        </m:mcPr>
                                      </m:mc>
                                    </m:mcs>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r>
                                        <m:rPr>
                                          <m:brk m:alnAt="7"/>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j</m:t>
                                          </m:r>
                                        </m:sub>
                                      </m:sSub>
                                    </m:e>
                                  </m:mr>
                                  <m:mr>
                                    <m:e>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j</m:t>
                                          </m:r>
                                        </m:sub>
                                      </m:sSub>
                                    </m:e>
                                  </m:mr>
                                </m:m>
                              </m:e>
                            </m:mr>
                            <m:mr>
                              <m:e>
                                <m:m>
                                  <m:mPr>
                                    <m:mcs>
                                      <m:mc>
                                        <m:mcPr>
                                          <m:count m:val="2"/>
                                          <m:mcJc m:val="center"/>
                                        </m:mcPr>
                                      </m:mc>
                                    </m:mcs>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r>
                                        <m:rPr>
                                          <m:brk m:alnAt="7"/>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i</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i</m:t>
                                          </m:r>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e>
                                  </m:mr>
                                </m:m>
                              </m:e>
                              <m:e>
                                <m:m>
                                  <m:mPr>
                                    <m:mcs>
                                      <m:mc>
                                        <m:mcPr>
                                          <m:count m:val="2"/>
                                          <m:mcJc m:val="center"/>
                                        </m:mcPr>
                                      </m:mc>
                                    </m:mcs>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r>
                                        <m:rPr>
                                          <m:brk m:alnAt="7"/>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e>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ii</m:t>
                                          </m:r>
                                        </m:sub>
                                      </m:sSub>
                                    </m:e>
                                  </m:mr>
                                </m:m>
                              </m:e>
                            </m:mr>
                          </m:m>
                        </m:e>
                      </m:d>
                    </m:oMath>
                  </m:oMathPara>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5" name="CuadroTexto 14">
                <a:extLst>
                  <a:ext uri="{FF2B5EF4-FFF2-40B4-BE49-F238E27FC236}">
                    <a16:creationId xmlns:a16="http://schemas.microsoft.com/office/drawing/2014/main" id="{F2708A36-98AE-3452-24F6-458F21B35B27}"/>
                  </a:ext>
                </a:extLst>
              </p:cNvPr>
              <p:cNvSpPr txBox="1">
                <a:spLocks noRot="1" noChangeAspect="1" noMove="1" noResize="1" noEditPoints="1" noAdjustHandles="1" noChangeArrowheads="1" noChangeShapeType="1" noTextEdit="1"/>
              </p:cNvSpPr>
              <p:nvPr/>
            </p:nvSpPr>
            <p:spPr>
              <a:xfrm>
                <a:off x="6867832" y="2835758"/>
                <a:ext cx="3426542" cy="1547540"/>
              </a:xfrm>
              <a:prstGeom prst="rect">
                <a:avLst/>
              </a:prstGeom>
              <a:blipFill>
                <a:blip r:embed="rId2"/>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205667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AEC37F6-2C11-11A2-9209-F299FE053F76}"/>
                  </a:ext>
                </a:extLst>
              </p:cNvPr>
              <p:cNvSpPr>
                <a:spLocks noGrp="1"/>
              </p:cNvSpPr>
              <p:nvPr>
                <p:ph idx="1"/>
              </p:nvPr>
            </p:nvSpPr>
            <p:spPr>
              <a:xfrm>
                <a:off x="459351" y="1919235"/>
                <a:ext cx="11468042" cy="4536196"/>
              </a:xfrm>
            </p:spPr>
            <p:txBody>
              <a:bodyPr anchor="ctr">
                <a:normAutofit lnSpcReduction="10000"/>
              </a:bodyPr>
              <a:lstStyle/>
              <a:p>
                <a:r>
                  <a:rPr lang="es-MX" sz="2400" b="1" dirty="0"/>
                  <a:t>Probabilidad posterior</a:t>
                </a:r>
              </a:p>
              <a:p>
                <a:pPr marL="0" indent="0">
                  <a:buNone/>
                </a:pPr>
                <a:r>
                  <a:rPr lang="es-MX" sz="2400" dirty="0"/>
                  <a:t>Cuando observamos un patrón </a:t>
                </a:r>
                <a14:m>
                  <m:oMath xmlns:m="http://schemas.openxmlformats.org/officeDocument/2006/math">
                    <m:r>
                      <a:rPr lang="es-MX" sz="2400" i="1">
                        <a:latin typeface="Cambria Math" panose="02040503050406030204" pitchFamily="18" charset="0"/>
                      </a:rPr>
                      <m:t>𝑥</m:t>
                    </m:r>
                  </m:oMath>
                </a14:m>
                <a:r>
                  <a:rPr lang="es-MX" sz="2400" dirty="0"/>
                  <a:t>, podemos calcular la probabilidad de cada clase:</a:t>
                </a:r>
              </a:p>
              <a:p>
                <a:pPr marL="0" indent="0">
                  <a:buNone/>
                </a:pPr>
                <a14:m>
                  <m:oMathPara xmlns:m="http://schemas.openxmlformats.org/officeDocument/2006/math">
                    <m:oMath>
                      <m:r>
                        <a:rPr lang="es-MX"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𝑗</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ar-AE" sz="2400" dirty="0"/>
              </a:p>
              <a:p>
                <a:pPr marL="0" indent="0">
                  <a:buNone/>
                </a:pPr>
                <a:r>
                  <a:rPr lang="es-MX" sz="2400" dirty="0"/>
                  <a:t>Estas probabilidades describen la incertidumbre sobre la clase verdadera. </a:t>
                </a:r>
              </a:p>
              <a:p>
                <a:r>
                  <a:rPr lang="es-MX" sz="2400" b="1" dirty="0"/>
                  <a:t>Riesgo condicional</a:t>
                </a:r>
              </a:p>
              <a:p>
                <a:pPr marL="0" indent="0">
                  <a:buNone/>
                </a:pPr>
                <a:r>
                  <a:rPr lang="es-MX" sz="2400" dirty="0"/>
                  <a:t>Para cada acción posible se calcula cuánto se espera perder en promedio, pesando cada costo de error por la probabilidad de que ese error ocurra. Como no conocemos la clase real, calculamos el costo esperado.</a:t>
                </a:r>
              </a:p>
              <a:p>
                <a:pPr marL="0" indent="0">
                  <a:buNone/>
                </a:pPr>
                <a:r>
                  <a:rPr lang="es-MX" sz="2400" dirty="0"/>
                  <a:t>Se define el riesgo condicional:</a:t>
                </a:r>
              </a:p>
              <a:p>
                <a:pPr marL="0" indent="0">
                  <a:buNone/>
                </a:pPr>
                <a14:m>
                  <m:oMathPara xmlns:m="http://schemas.openxmlformats.org/officeDocument/2006/math">
                    <m:oMath>
                      <m:r>
                        <a:rPr lang="es-MX" sz="2400" b="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b="0" i="1">
                                  <a:latin typeface="Cambria Math" panose="02040503050406030204" pitchFamily="18" charset="0"/>
                                </a:rPr>
                              </m:ctrlPr>
                            </m:sSubPr>
                            <m:e>
                              <m:r>
                                <a:rPr lang="ar-AE" sz="2400" b="0" i="1">
                                  <a:latin typeface="Cambria Math" panose="02040503050406030204" pitchFamily="18" charset="0"/>
                                </a:rPr>
                                <m:t>𝛼</m:t>
                              </m:r>
                            </m:e>
                            <m:sub>
                              <m:r>
                                <a:rPr lang="ar-AE" sz="2400" b="0" i="1">
                                  <a:latin typeface="Cambria Math" panose="02040503050406030204" pitchFamily="18" charset="0"/>
                                </a:rPr>
                                <m:t>𝑖</m:t>
                              </m:r>
                            </m:sub>
                          </m:sSub>
                          <m:r>
                            <a:rPr lang="ar-AE" sz="2400" b="0">
                              <a:latin typeface="Cambria Math" panose="02040503050406030204" pitchFamily="18" charset="0"/>
                            </a:rPr>
                            <m:t>∣</m:t>
                          </m:r>
                          <m:r>
                            <a:rPr lang="ar-AE" sz="2400" b="0" i="1">
                              <a:latin typeface="Cambria Math" panose="02040503050406030204" pitchFamily="18" charset="0"/>
                            </a:rPr>
                            <m:t>𝑥</m:t>
                          </m:r>
                        </m:e>
                      </m:d>
                      <m:r>
                        <a:rPr lang="ar-AE" sz="2400" b="0">
                          <a:latin typeface="Cambria Math" panose="02040503050406030204" pitchFamily="18" charset="0"/>
                        </a:rPr>
                        <m:t>=</m:t>
                      </m:r>
                      <m:nary>
                        <m:naryPr>
                          <m:chr m:val="∑"/>
                          <m:grow m:val="on"/>
                          <m:ctrlPr>
                            <a:rPr lang="ar-AE" sz="2400" b="0" i="1">
                              <a:latin typeface="Cambria Math" panose="02040503050406030204" pitchFamily="18" charset="0"/>
                            </a:rPr>
                          </m:ctrlPr>
                        </m:naryPr>
                        <m:sub>
                          <m:r>
                            <a:rPr lang="ar-AE" sz="2400" b="0" i="1">
                              <a:latin typeface="Cambria Math" panose="02040503050406030204" pitchFamily="18" charset="0"/>
                            </a:rPr>
                            <m:t>𝑗</m:t>
                          </m:r>
                          <m:r>
                            <a:rPr lang="ar-AE" sz="2400" b="0">
                              <a:latin typeface="Cambria Math" panose="02040503050406030204" pitchFamily="18" charset="0"/>
                            </a:rPr>
                            <m:t>=</m:t>
                          </m:r>
                          <m:r>
                            <a:rPr lang="ar-AE" sz="2400" b="0" i="1">
                              <a:latin typeface="Cambria Math" panose="02040503050406030204" pitchFamily="18" charset="0"/>
                            </a:rPr>
                            <m:t>1</m:t>
                          </m:r>
                        </m:sub>
                        <m:sup>
                          <m:r>
                            <a:rPr lang="ar-AE" sz="2400" b="0" i="1">
                              <a:latin typeface="Cambria Math" panose="02040503050406030204" pitchFamily="18" charset="0"/>
                            </a:rPr>
                            <m:t>𝑐</m:t>
                          </m:r>
                        </m:sup>
                        <m:e>
                          <m:r>
                            <a:rPr lang="ar-AE" sz="2400" b="0" i="1">
                              <a:latin typeface="Cambria Math" panose="02040503050406030204" pitchFamily="18" charset="0"/>
                            </a:rPr>
                            <m:t>𝜆</m:t>
                          </m:r>
                        </m:e>
                      </m:nary>
                      <m:d>
                        <m:dPr>
                          <m:ctrlPr>
                            <a:rPr lang="ar-AE" sz="2400" i="1">
                              <a:latin typeface="Cambria Math" panose="02040503050406030204" pitchFamily="18" charset="0"/>
                            </a:rPr>
                          </m:ctrlPr>
                        </m:dPr>
                        <m:e>
                          <m:sSub>
                            <m:sSubPr>
                              <m:ctrlPr>
                                <a:rPr lang="ar-AE" sz="2400" b="0" i="1">
                                  <a:latin typeface="Cambria Math" panose="02040503050406030204" pitchFamily="18" charset="0"/>
                                </a:rPr>
                              </m:ctrlPr>
                            </m:sSubPr>
                            <m:e>
                              <m:r>
                                <a:rPr lang="ar-AE" sz="2400" b="0" i="1">
                                  <a:latin typeface="Cambria Math" panose="02040503050406030204" pitchFamily="18" charset="0"/>
                                </a:rPr>
                                <m:t>𝛼</m:t>
                              </m:r>
                            </m:e>
                            <m:sub>
                              <m:r>
                                <a:rPr lang="ar-AE" sz="2400" b="0" i="1">
                                  <a:latin typeface="Cambria Math" panose="02040503050406030204" pitchFamily="18" charset="0"/>
                                </a:rPr>
                                <m:t>𝑖</m:t>
                              </m:r>
                            </m:sub>
                          </m:sSub>
                          <m:r>
                            <a:rPr lang="ar-AE" sz="2400" b="0">
                              <a:latin typeface="Cambria Math" panose="02040503050406030204" pitchFamily="18" charset="0"/>
                            </a:rPr>
                            <m:t>∣</m:t>
                          </m:r>
                          <m:sSub>
                            <m:sSubPr>
                              <m:ctrlPr>
                                <a:rPr lang="ar-AE" sz="2400" b="0" i="1">
                                  <a:latin typeface="Cambria Math" panose="02040503050406030204" pitchFamily="18" charset="0"/>
                                </a:rPr>
                              </m:ctrlPr>
                            </m:sSubPr>
                            <m:e>
                              <m:r>
                                <a:rPr lang="ar-AE" sz="2400" b="0" i="1">
                                  <a:latin typeface="Cambria Math" panose="02040503050406030204" pitchFamily="18" charset="0"/>
                                </a:rPr>
                                <m:t>𝜔</m:t>
                              </m:r>
                            </m:e>
                            <m:sub>
                              <m:r>
                                <a:rPr lang="ar-AE" sz="2400" b="0" i="1">
                                  <a:latin typeface="Cambria Math" panose="02040503050406030204" pitchFamily="18" charset="0"/>
                                </a:rPr>
                                <m:t>𝑗</m:t>
                              </m:r>
                            </m:sub>
                          </m:sSub>
                        </m:e>
                      </m:d>
                      <m:r>
                        <a:rPr lang="ar-AE" sz="2400" b="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b="0" i="1">
                                  <a:latin typeface="Cambria Math" panose="02040503050406030204" pitchFamily="18" charset="0"/>
                                </a:rPr>
                              </m:ctrlPr>
                            </m:sSubPr>
                            <m:e>
                              <m:r>
                                <a:rPr lang="ar-AE" sz="2400" b="0" i="1">
                                  <a:latin typeface="Cambria Math" panose="02040503050406030204" pitchFamily="18" charset="0"/>
                                </a:rPr>
                                <m:t>𝜔</m:t>
                              </m:r>
                            </m:e>
                            <m:sub>
                              <m:r>
                                <a:rPr lang="ar-AE" sz="2400" b="0" i="1">
                                  <a:latin typeface="Cambria Math" panose="02040503050406030204" pitchFamily="18" charset="0"/>
                                </a:rPr>
                                <m:t>𝑗</m:t>
                              </m:r>
                            </m:sub>
                          </m:sSub>
                          <m:r>
                            <a:rPr lang="ar-AE" sz="2400" b="0">
                              <a:latin typeface="Cambria Math" panose="02040503050406030204" pitchFamily="18" charset="0"/>
                            </a:rPr>
                            <m:t>∣</m:t>
                          </m:r>
                          <m:r>
                            <a:rPr lang="ar-AE" sz="2400" b="0" i="1">
                              <a:latin typeface="Cambria Math" panose="02040503050406030204" pitchFamily="18" charset="0"/>
                            </a:rPr>
                            <m:t>𝑥</m:t>
                          </m:r>
                        </m:e>
                      </m:d>
                    </m:oMath>
                  </m:oMathPara>
                </a14:m>
                <a:endParaRPr lang="ar-AE" sz="1700" dirty="0"/>
              </a:p>
              <a:p>
                <a:pPr marL="0" indent="0">
                  <a:buNone/>
                </a:pPr>
                <a:endParaRPr lang="es-MX" sz="1700" dirty="0"/>
              </a:p>
            </p:txBody>
          </p:sp>
        </mc:Choice>
        <mc:Fallback xmlns="">
          <p:sp>
            <p:nvSpPr>
              <p:cNvPr id="3" name="Marcador de contenido 2">
                <a:extLst>
                  <a:ext uri="{FF2B5EF4-FFF2-40B4-BE49-F238E27FC236}">
                    <a16:creationId xmlns:a16="http://schemas.microsoft.com/office/drawing/2014/main" id="{8AEC37F6-2C11-11A2-9209-F299FE053F76}"/>
                  </a:ext>
                </a:extLst>
              </p:cNvPr>
              <p:cNvSpPr>
                <a:spLocks noGrp="1" noRot="1" noChangeAspect="1" noMove="1" noResize="1" noEditPoints="1" noAdjustHandles="1" noChangeArrowheads="1" noChangeShapeType="1" noTextEdit="1"/>
              </p:cNvSpPr>
              <p:nvPr>
                <p:ph idx="1"/>
              </p:nvPr>
            </p:nvSpPr>
            <p:spPr>
              <a:xfrm>
                <a:off x="459351" y="1919235"/>
                <a:ext cx="11468042" cy="4536196"/>
              </a:xfrm>
              <a:blipFill>
                <a:blip r:embed="rId2"/>
                <a:stretch>
                  <a:fillRect l="-797" t="-4570" r="-213"/>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4AA282ED-E3CE-817E-032A-326FF4655FB1}"/>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24</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962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3A99F9A-9271-6774-A405-DFE9BEED7BD0}"/>
                  </a:ext>
                </a:extLst>
              </p:cNvPr>
              <p:cNvSpPr>
                <a:spLocks noGrp="1"/>
              </p:cNvSpPr>
              <p:nvPr>
                <p:ph idx="1"/>
              </p:nvPr>
            </p:nvSpPr>
            <p:spPr>
              <a:xfrm>
                <a:off x="459351" y="1759974"/>
                <a:ext cx="11203202" cy="4695457"/>
              </a:xfrm>
            </p:spPr>
            <p:txBody>
              <a:bodyPr anchor="ctr">
                <a:normAutofit fontScale="92500" lnSpcReduction="20000"/>
              </a:bodyPr>
              <a:lstStyle/>
              <a:p>
                <a:pPr marL="0" indent="0">
                  <a:buNone/>
                </a:pPr>
                <a:r>
                  <a:rPr lang="es-MX" sz="2400" dirty="0"/>
                  <a:t>Ejemplo</a:t>
                </a:r>
              </a:p>
              <a:p>
                <a:pPr marL="0" indent="0">
                  <a:buNone/>
                </a:pPr>
                <a:r>
                  <a:rPr lang="es-MX" sz="2400" dirty="0"/>
                  <a:t>Supongamos dos clases:</a:t>
                </a:r>
              </a:p>
              <a:p>
                <a:pPr marL="0" indent="0">
                  <a:buNone/>
                </a:pPr>
                <a14:m>
                  <m:oMathPara xmlns:m="http://schemas.openxmlformats.org/officeDocument/2006/math">
                    <m:oMath>
                      <m:r>
                        <a:rPr lang="es-MX"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=0.7</m:t>
                      </m:r>
                    </m:oMath>
                  </m:oMathPara>
                </a14:m>
                <a:endParaRPr lang="ar-AE" sz="2400" dirty="0"/>
              </a:p>
              <a:p>
                <a:pPr marL="0" indent="0">
                  <a:buNone/>
                </a:pPr>
                <a14:m>
                  <m:oMathPara xmlns:m="http://schemas.openxmlformats.org/officeDocument/2006/math">
                    <m:oMath>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a:latin typeface="Cambria Math" panose="02040503050406030204" pitchFamily="18" charset="0"/>
                                </a:rPr>
                                <m:t>2</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=0.3</m:t>
                      </m:r>
                    </m:oMath>
                  </m:oMathPara>
                </a14:m>
                <a:endParaRPr lang="ar-AE" sz="2400" dirty="0"/>
              </a:p>
              <a:p>
                <a:pPr marL="0" indent="0">
                  <a:buNone/>
                </a:pPr>
                <a:r>
                  <a:rPr lang="es-MX" sz="2400" dirty="0"/>
                  <a:t>y pérdida 0–1.</a:t>
                </a:r>
              </a:p>
              <a:p>
                <a:pPr marL="0" indent="0">
                  <a:buNone/>
                </a:pPr>
                <a:r>
                  <a:rPr lang="es-MX" sz="2400" b="1" dirty="0"/>
                  <a:t>Riesgo de decidir clase 1</a:t>
                </a:r>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=0⋅0.7+1⋅0.3=0.3</m:t>
                      </m:r>
                    </m:oMath>
                  </m:oMathPara>
                </a14:m>
                <a:endParaRPr lang="ar-AE" sz="2400" dirty="0"/>
              </a:p>
              <a:p>
                <a:pPr marL="0" indent="0">
                  <a:buNone/>
                </a:pPr>
                <a:r>
                  <a:rPr lang="es-MX" sz="2400" b="1" dirty="0"/>
                  <a:t>Riesgo de decidir clase 2</a:t>
                </a:r>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a:latin typeface="Cambria Math" panose="02040503050406030204" pitchFamily="18" charset="0"/>
                                </a:rPr>
                                <m:t>2</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=1⋅0.7+0⋅0.3=0.7</m:t>
                      </m:r>
                    </m:oMath>
                  </m:oMathPara>
                </a14:m>
                <a:endParaRPr lang="es-MX" sz="2400" dirty="0"/>
              </a:p>
              <a:p>
                <a:pPr marL="0" indent="0">
                  <a:buNone/>
                </a:pPr>
                <a:endParaRPr lang="ar-AE" sz="2400" dirty="0"/>
              </a:p>
              <a:p>
                <a:r>
                  <a:rPr lang="es-MX" sz="2400" b="1" dirty="0"/>
                  <a:t>Regla de decisión óptima</a:t>
                </a:r>
              </a:p>
              <a:p>
                <a:pPr marL="0" indent="0">
                  <a:buNone/>
                </a:pPr>
                <a:r>
                  <a:rPr lang="es-MX" sz="2400" dirty="0"/>
                  <a:t>La decisión óptima es la que minimiza el riesgo:</a:t>
                </a:r>
              </a:p>
              <a:p>
                <a:pPr marL="0" indent="0">
                  <a:buNone/>
                </a:pPr>
                <a14:m>
                  <m:oMathPara xmlns:m="http://schemas.openxmlformats.org/officeDocument/2006/math">
                    <m:oMath>
                      <m:sSup>
                        <m:sSupPr>
                          <m:ctrlPr>
                            <a:rPr lang="ar-AE" sz="2400" i="1">
                              <a:latin typeface="Cambria Math" panose="02040503050406030204" pitchFamily="18" charset="0"/>
                            </a:rPr>
                          </m:ctrlPr>
                        </m:sSupPr>
                        <m:e>
                          <m:r>
                            <a:rPr lang="ar-AE" sz="2400" i="1">
                              <a:latin typeface="Cambria Math" panose="02040503050406030204" pitchFamily="18" charset="0"/>
                            </a:rPr>
                            <m:t>𝛼</m:t>
                          </m:r>
                        </m:e>
                        <m:sup>
                          <m:r>
                            <a:rPr lang="ar-AE" sz="2400">
                              <a:latin typeface="Cambria Math" panose="02040503050406030204" pitchFamily="18" charset="0"/>
                            </a:rPr>
                            <m:t>∗</m:t>
                          </m:r>
                        </m:sup>
                      </m:sSup>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arg</m:t>
                          </m:r>
                        </m:fName>
                        <m:e>
                          <m:limLow>
                            <m:limLowPr>
                              <m:ctrlPr>
                                <a:rPr lang="ar-AE"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min</m:t>
                                  </m:r>
                                </m:fName>
                                <m:e>
                                  <m:r>
                                    <a:rPr lang="es-MX" sz="2400" b="0" i="1">
                                      <a:latin typeface="Cambria Math" panose="02040503050406030204" pitchFamily="18" charset="0"/>
                                    </a:rPr>
                                    <m:t> </m:t>
                                  </m:r>
                                </m:e>
                              </m:func>
                            </m:e>
                            <m:lim>
                              <m:r>
                                <a:rPr lang="ar-AE" sz="2400" i="1">
                                  <a:latin typeface="Cambria Math" panose="02040503050406030204" pitchFamily="18" charset="0"/>
                                </a:rPr>
                                <m:t>𝑖</m:t>
                              </m:r>
                            </m:lim>
                          </m:limLow>
                        </m:e>
                      </m:func>
                      <m:r>
                        <a:rPr lang="ar-AE"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ar-AE" sz="1400" dirty="0"/>
              </a:p>
              <a:p>
                <a:pPr marL="0" indent="0">
                  <a:buNone/>
                </a:pPr>
                <a:endParaRPr lang="es-MX" sz="1400" dirty="0"/>
              </a:p>
            </p:txBody>
          </p:sp>
        </mc:Choice>
        <mc:Fallback xmlns="">
          <p:sp>
            <p:nvSpPr>
              <p:cNvPr id="3" name="Marcador de contenido 2">
                <a:extLst>
                  <a:ext uri="{FF2B5EF4-FFF2-40B4-BE49-F238E27FC236}">
                    <a16:creationId xmlns:a16="http://schemas.microsoft.com/office/drawing/2014/main" id="{73A99F9A-9271-6774-A405-DFE9BEED7BD0}"/>
                  </a:ext>
                </a:extLst>
              </p:cNvPr>
              <p:cNvSpPr>
                <a:spLocks noGrp="1" noRot="1" noChangeAspect="1" noMove="1" noResize="1" noEditPoints="1" noAdjustHandles="1" noChangeArrowheads="1" noChangeShapeType="1" noTextEdit="1"/>
              </p:cNvSpPr>
              <p:nvPr>
                <p:ph idx="1"/>
              </p:nvPr>
            </p:nvSpPr>
            <p:spPr>
              <a:xfrm>
                <a:off x="459351" y="1759974"/>
                <a:ext cx="11203202" cy="4695457"/>
              </a:xfrm>
              <a:blipFill>
                <a:blip r:embed="rId2"/>
                <a:stretch>
                  <a:fillRect l="-707" t="-2987"/>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8F960284-03E8-6E71-1228-AD19F54E135D}"/>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25</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422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7B46B30-8051-8398-E24D-B6048C77ED26}"/>
                  </a:ext>
                </a:extLst>
              </p:cNvPr>
              <p:cNvSpPr>
                <a:spLocks noGrp="1"/>
              </p:cNvSpPr>
              <p:nvPr>
                <p:ph idx="1"/>
              </p:nvPr>
            </p:nvSpPr>
            <p:spPr>
              <a:xfrm>
                <a:off x="838200" y="698090"/>
                <a:ext cx="10515600" cy="5478873"/>
              </a:xfrm>
            </p:spPr>
            <p:txBody>
              <a:bodyPr>
                <a:normAutofit/>
              </a:bodyPr>
              <a:lstStyle/>
              <a:p>
                <a:pPr marL="0" indent="0">
                  <a:buNone/>
                </a:pPr>
                <a:r>
                  <a:rPr lang="es-MX" sz="2400" b="1" dirty="0"/>
                  <a:t>Interpretación</a:t>
                </a:r>
              </a:p>
              <a:p>
                <a:pPr marL="0" indent="0">
                  <a:buNone/>
                </a:pPr>
                <a:r>
                  <a:rPr lang="es-MX" sz="2400" dirty="0"/>
                  <a:t>Para cada patrón </a:t>
                </a:r>
                <a14:m>
                  <m:oMath xmlns:m="http://schemas.openxmlformats.org/officeDocument/2006/math">
                    <m:r>
                      <a:rPr lang="es-MX" sz="2400" i="1">
                        <a:latin typeface="Cambria Math" panose="02040503050406030204" pitchFamily="18" charset="0"/>
                      </a:rPr>
                      <m:t>𝑥</m:t>
                    </m:r>
                  </m:oMath>
                </a14:m>
                <a:r>
                  <a:rPr lang="es-MX" sz="2400" dirty="0"/>
                  <a:t>:</a:t>
                </a:r>
              </a:p>
              <a:p>
                <a:pPr>
                  <a:buFont typeface="Wingdings" panose="05000000000000000000" pitchFamily="2" charset="2"/>
                  <a:buChar char="§"/>
                </a:pPr>
                <a:r>
                  <a:rPr lang="es-MX" sz="2400" dirty="0"/>
                  <a:t>calcular el riesgo de cada decisión</a:t>
                </a:r>
              </a:p>
              <a:p>
                <a:pPr>
                  <a:buFont typeface="Wingdings" panose="05000000000000000000" pitchFamily="2" charset="2"/>
                  <a:buChar char="§"/>
                </a:pPr>
                <a:r>
                  <a:rPr lang="es-MX" sz="2400" dirty="0"/>
                  <a:t>elegir la que tenga menor costo esperado</a:t>
                </a:r>
              </a:p>
              <a:p>
                <a:pPr marL="0" indent="0">
                  <a:buNone/>
                </a:pPr>
                <a:r>
                  <a:rPr lang="es-MX" sz="2400" b="1" dirty="0"/>
                  <a:t>Riesgo de decidir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oMath>
                </a14:m>
                <a:endParaRPr lang="ar-AE" sz="2400" b="1" dirty="0"/>
              </a:p>
              <a:p>
                <a:pPr marL="0" indent="0">
                  <a:buNone/>
                </a:pPr>
                <a14:m>
                  <m:oMathPara xmlns:m="http://schemas.openxmlformats.org/officeDocument/2006/math">
                    <m:oMath>
                      <m:r>
                        <a:rPr lang="ar-AE"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nary>
                        <m:naryPr>
                          <m:chr m:val="∑"/>
                          <m:grow m:val="on"/>
                          <m:supHide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m:t>
                          </m:r>
                          <m:r>
                            <a:rPr lang="ar-AE" sz="2400" i="1">
                              <a:latin typeface="Cambria Math" panose="02040503050406030204" pitchFamily="18" charset="0"/>
                            </a:rPr>
                            <m:t>𝑖</m:t>
                          </m:r>
                        </m:sub>
                        <m:sup/>
                        <m:e>
                          <m:r>
                            <a:rPr lang="ar-AE" sz="2400" i="1">
                              <a:latin typeface="Cambria Math" panose="02040503050406030204" pitchFamily="18" charset="0"/>
                            </a:rPr>
                            <m:t>𝑃</m:t>
                          </m:r>
                        </m:e>
                      </m:nary>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𝑗</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ar-AE" sz="2400" dirty="0"/>
              </a:p>
              <a:p>
                <a:pPr marL="0" indent="0">
                  <a:buNone/>
                </a:pPr>
                <a:r>
                  <a:rPr lang="es-MX" sz="2400" dirty="0"/>
                  <a:t>Esto es:</a:t>
                </a:r>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=1−</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ar-AE" sz="2400" dirty="0"/>
              </a:p>
              <a:p>
                <a:pPr marL="0" indent="0">
                  <a:buNone/>
                </a:pPr>
                <a:br>
                  <a:rPr lang="ar-AE" sz="2400" dirty="0"/>
                </a:br>
                <a:r>
                  <a:rPr lang="es-MX" sz="2400" dirty="0"/>
                  <a:t>Entonces minimizar el riesgo equivale a:</a:t>
                </a:r>
              </a:p>
              <a:p>
                <a:pPr marL="0" indent="0">
                  <a:buNone/>
                </a:pPr>
                <a14:m>
                  <m:oMathPara xmlns:m="http://schemas.openxmlformats.org/officeDocument/2006/math">
                    <m:oMath>
                      <m:limLow>
                        <m:limLowPr>
                          <m:ctrlPr>
                            <a:rPr lang="ar-AE"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max</m:t>
                              </m:r>
                            </m:fName>
                            <m:e>
                              <m:r>
                                <a:rPr lang="es-MX" sz="2400" b="0" i="1" smtClean="0">
                                  <a:latin typeface="Cambria Math" panose="02040503050406030204" pitchFamily="18" charset="0"/>
                                </a:rPr>
                                <m:t> </m:t>
                              </m:r>
                            </m:e>
                          </m:func>
                        </m:e>
                        <m:lim>
                          <m:r>
                            <a:rPr lang="ar-AE" sz="2400" i="1">
                              <a:latin typeface="Cambria Math" panose="02040503050406030204" pitchFamily="18" charset="0"/>
                            </a:rPr>
                            <m:t>𝑖</m:t>
                          </m:r>
                        </m:lim>
                      </m:limLow>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ar-AE" sz="240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A7B46B30-8051-8398-E24D-B6048C77ED26}"/>
                  </a:ext>
                </a:extLst>
              </p:cNvPr>
              <p:cNvSpPr>
                <a:spLocks noGrp="1" noRot="1" noChangeAspect="1" noMove="1" noResize="1" noEditPoints="1" noAdjustHandles="1" noChangeArrowheads="1" noChangeShapeType="1" noTextEdit="1"/>
              </p:cNvSpPr>
              <p:nvPr>
                <p:ph idx="1"/>
              </p:nvPr>
            </p:nvSpPr>
            <p:spPr>
              <a:xfrm>
                <a:off x="838200" y="698090"/>
                <a:ext cx="10515600" cy="5478873"/>
              </a:xfrm>
              <a:blipFill>
                <a:blip r:embed="rId2"/>
                <a:stretch>
                  <a:fillRect l="-928" t="-1448"/>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2FEC94A1-004B-EB06-508F-A36AFC663003}"/>
              </a:ext>
            </a:extLst>
          </p:cNvPr>
          <p:cNvSpPr>
            <a:spLocks noGrp="1"/>
          </p:cNvSpPr>
          <p:nvPr>
            <p:ph type="sldNum" sz="quarter" idx="12"/>
          </p:nvPr>
        </p:nvSpPr>
        <p:spPr/>
        <p:txBody>
          <a:bodyPr/>
          <a:lstStyle/>
          <a:p>
            <a:fld id="{01DE96D7-2428-4FB8-BC54-9541E69FDA26}" type="slidenum">
              <a:rPr lang="es-MX" smtClean="0"/>
              <a:t>26</a:t>
            </a:fld>
            <a:endParaRPr lang="es-MX" dirty="0"/>
          </a:p>
        </p:txBody>
      </p:sp>
    </p:spTree>
    <p:extLst>
      <p:ext uri="{BB962C8B-B14F-4D97-AF65-F5344CB8AC3E}">
        <p14:creationId xmlns:p14="http://schemas.microsoft.com/office/powerpoint/2010/main" val="1673615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1E44F0F7-6032-3244-59FE-0ADD660DDBCF}"/>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s-MX" sz="4800" kern="1200" noProof="0" dirty="0">
                <a:solidFill>
                  <a:srgbClr val="FFFFFF"/>
                </a:solidFill>
                <a:latin typeface="+mj-lt"/>
                <a:ea typeface="+mj-ea"/>
                <a:cs typeface="+mj-cs"/>
              </a:rPr>
              <a:t>Clasificación tipo Bayes y Bayes aplicado a patrones normales</a:t>
            </a: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E588BF86-F941-A3DD-4C3E-50DB0F0D25D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n-US"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27</a:t>
            </a:fld>
            <a:endParaRPr kumimoji="0" lang="en-US"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2819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4357CB0E-C92F-97A9-AC6E-C9F277576A93}"/>
              </a:ext>
            </a:extLst>
          </p:cNvPr>
          <p:cNvSpPr>
            <a:spLocks noGrp="1"/>
          </p:cNvSpPr>
          <p:nvPr>
            <p:ph type="title"/>
          </p:nvPr>
        </p:nvSpPr>
        <p:spPr>
          <a:xfrm>
            <a:off x="1136397" y="502021"/>
            <a:ext cx="9688296" cy="854831"/>
          </a:xfrm>
        </p:spPr>
        <p:txBody>
          <a:bodyPr anchor="b">
            <a:normAutofit/>
          </a:bodyPr>
          <a:lstStyle/>
          <a:p>
            <a:r>
              <a:rPr lang="es-MX" sz="4000" dirty="0"/>
              <a:t>Regla de Bayes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03D7294-D507-B43C-372E-4F941278D37C}"/>
                  </a:ext>
                </a:extLst>
              </p:cNvPr>
              <p:cNvSpPr>
                <a:spLocks noGrp="1"/>
              </p:cNvSpPr>
              <p:nvPr>
                <p:ph idx="1"/>
              </p:nvPr>
            </p:nvSpPr>
            <p:spPr>
              <a:xfrm>
                <a:off x="534875" y="1592264"/>
                <a:ext cx="11169445" cy="1914207"/>
              </a:xfrm>
            </p:spPr>
            <p:txBody>
              <a:bodyPr anchor="t">
                <a:normAutofit/>
              </a:bodyPr>
              <a:lstStyle/>
              <a:p>
                <a:pPr marL="0" indent="0">
                  <a:buNone/>
                </a:pPr>
                <a:r>
                  <a:rPr lang="es-MX" sz="2400" dirty="0"/>
                  <a:t>Expresa la probabilidad condicional de un evento aleatorio A dado B en términos de la distribución de probabilidad condicional del evento B dado A y la distribución de probabilidad marginal de solo A.</a:t>
                </a:r>
              </a:p>
              <a:p>
                <a:pPr marL="0" indent="0">
                  <a:buNone/>
                </a:pPr>
                <a14:m>
                  <m:oMathPara xmlns:m="http://schemas.openxmlformats.org/officeDocument/2006/math">
                    <m:oMath>
                      <m:r>
                        <m:rPr>
                          <m:sty m:val="p"/>
                        </m:rPr>
                        <a:rPr lang="es-MX" sz="2400" b="0" i="1">
                          <a:latin typeface="Cambria Math" panose="02040503050406030204" pitchFamily="18" charset="0"/>
                        </a:rPr>
                        <m:t>P</m:t>
                      </m:r>
                      <m:r>
                        <a:rPr lang="es-MX" sz="2400" b="0" i="1">
                          <a:latin typeface="Cambria Math" panose="02040503050406030204" pitchFamily="18" charset="0"/>
                        </a:rPr>
                        <m:t>(</m:t>
                      </m:r>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𝜔</m:t>
                          </m:r>
                        </m:e>
                        <m:sub>
                          <m:r>
                            <m:rPr>
                              <m:sty m:val="p"/>
                            </m:rPr>
                            <a:rPr lang="es-MX" sz="2400" b="0" i="1">
                              <a:latin typeface="Cambria Math" panose="02040503050406030204" pitchFamily="18" charset="0"/>
                            </a:rPr>
                            <m:t>i</m:t>
                          </m:r>
                        </m:sub>
                      </m:sSub>
                      <m:r>
                        <a:rPr lang="es-MX" sz="2400" b="0" i="1">
                          <a:latin typeface="Cambria Math" panose="02040503050406030204" pitchFamily="18" charset="0"/>
                        </a:rPr>
                        <m:t>|</m:t>
                      </m:r>
                      <m:r>
                        <m:rPr>
                          <m:sty m:val="p"/>
                        </m:rPr>
                        <a:rPr lang="es-MX" sz="2400" b="0" i="1">
                          <a:latin typeface="Cambria Math" panose="02040503050406030204" pitchFamily="18" charset="0"/>
                        </a:rPr>
                        <m:t>x</m:t>
                      </m:r>
                      <m:r>
                        <a:rPr lang="es-MX" sz="2400" b="0" i="1">
                          <a:latin typeface="Cambria Math" panose="02040503050406030204" pitchFamily="18" charset="0"/>
                        </a:rPr>
                        <m:t>)=</m:t>
                      </m:r>
                      <m:f>
                        <m:fPr>
                          <m:ctrlPr>
                            <a:rPr lang="es-MX" sz="2400" b="0" i="1">
                              <a:latin typeface="Cambria Math" panose="02040503050406030204" pitchFamily="18" charset="0"/>
                            </a:rPr>
                          </m:ctrlPr>
                        </m:fPr>
                        <m:num>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x</m:t>
                          </m:r>
                          <m:r>
                            <a:rPr lang="es-MX" sz="2400" b="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b="0" i="1">
                              <a:latin typeface="Cambria Math" panose="02040503050406030204" pitchFamily="18" charset="0"/>
                            </a:rPr>
                            <m:t>)</m:t>
                          </m:r>
                          <m:r>
                            <m:rPr>
                              <m:sty m:val="p"/>
                            </m:rPr>
                            <a:rPr lang="es-MX" sz="2400" b="0" i="1">
                              <a:latin typeface="Cambria Math" panose="02040503050406030204" pitchFamily="18" charset="0"/>
                            </a:rPr>
                            <m:t>P</m:t>
                          </m:r>
                          <m:r>
                            <a:rPr lang="es-MX" sz="2400" b="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b="0" i="1">
                              <a:latin typeface="Cambria Math" panose="02040503050406030204" pitchFamily="18" charset="0"/>
                            </a:rPr>
                            <m:t>)</m:t>
                          </m:r>
                        </m:num>
                        <m:den>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x</m:t>
                          </m:r>
                          <m:r>
                            <a:rPr lang="es-MX" sz="2400" b="0" i="1">
                              <a:latin typeface="Cambria Math" panose="02040503050406030204" pitchFamily="18" charset="0"/>
                            </a:rPr>
                            <m:t>)</m:t>
                          </m:r>
                        </m:den>
                      </m:f>
                    </m:oMath>
                  </m:oMathPara>
                </a14:m>
                <a:endParaRPr lang="es-MX" sz="2400" dirty="0"/>
              </a:p>
            </p:txBody>
          </p:sp>
        </mc:Choice>
        <mc:Fallback xmlns="">
          <p:sp>
            <p:nvSpPr>
              <p:cNvPr id="3" name="Marcador de contenido 2">
                <a:extLst>
                  <a:ext uri="{FF2B5EF4-FFF2-40B4-BE49-F238E27FC236}">
                    <a16:creationId xmlns:a16="http://schemas.microsoft.com/office/drawing/2014/main" id="{803D7294-D507-B43C-372E-4F941278D37C}"/>
                  </a:ext>
                </a:extLst>
              </p:cNvPr>
              <p:cNvSpPr>
                <a:spLocks noGrp="1" noRot="1" noChangeAspect="1" noMove="1" noResize="1" noEditPoints="1" noAdjustHandles="1" noChangeArrowheads="1" noChangeShapeType="1" noTextEdit="1"/>
              </p:cNvSpPr>
              <p:nvPr>
                <p:ph idx="1"/>
              </p:nvPr>
            </p:nvSpPr>
            <p:spPr>
              <a:xfrm>
                <a:off x="534875" y="1592264"/>
                <a:ext cx="11169445" cy="1914207"/>
              </a:xfrm>
              <a:blipFill>
                <a:blip r:embed="rId2"/>
                <a:stretch>
                  <a:fillRect l="-873" t="-4140" r="-764"/>
                </a:stretch>
              </a:blipFill>
            </p:spPr>
            <p:txBody>
              <a:bodyPr/>
              <a:lstStyle/>
              <a:p>
                <a:r>
                  <a:rPr lang="es-MX">
                    <a:noFill/>
                  </a:rPr>
                  <a:t> </a:t>
                </a:r>
              </a:p>
            </p:txBody>
          </p:sp>
        </mc:Fallback>
      </mc:AlternateContent>
      <p:sp>
        <p:nvSpPr>
          <p:cNvPr id="11"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31EB5BC1-FD2B-7B36-EA24-747B51A029B8}"/>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28</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12" name="Shape 2">
            <a:extLst>
              <a:ext uri="{FF2B5EF4-FFF2-40B4-BE49-F238E27FC236}">
                <a16:creationId xmlns:a16="http://schemas.microsoft.com/office/drawing/2014/main" id="{E1E94E46-A763-357E-F388-816CA43EDF15}"/>
              </a:ext>
            </a:extLst>
          </p:cNvPr>
          <p:cNvSpPr/>
          <p:nvPr/>
        </p:nvSpPr>
        <p:spPr>
          <a:xfrm>
            <a:off x="6297192" y="4057701"/>
            <a:ext cx="2203164" cy="1234511"/>
          </a:xfrm>
          <a:prstGeom prst="rect">
            <a:avLst/>
          </a:prstGeom>
          <a:solidFill>
            <a:srgbClr val="1D9E75"/>
          </a:solidFill>
          <a:ln w="12700">
            <a:solidFill>
              <a:srgbClr val="1D9E75"/>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4" name="Text 3">
                <a:extLst>
                  <a:ext uri="{FF2B5EF4-FFF2-40B4-BE49-F238E27FC236}">
                    <a16:creationId xmlns:a16="http://schemas.microsoft.com/office/drawing/2014/main" id="{BDED0BF7-58A1-CF22-792A-96EF34E08236}"/>
                  </a:ext>
                </a:extLst>
              </p:cNvPr>
              <p:cNvSpPr/>
              <p:nvPr/>
            </p:nvSpPr>
            <p:spPr>
              <a:xfrm>
                <a:off x="6297192" y="4057701"/>
                <a:ext cx="2203164" cy="1234511"/>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Priori</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
                </a:r>
                <a14:m>
                  <m:oMath xmlns:m="http://schemas.openxmlformats.org/officeDocument/2006/math">
                    <m:sSub>
                      <m:sSubPr>
                        <m:ctrlP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𝝎</m:t>
                        </m:r>
                      </m:e>
                      <m:sub>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oMath>
                </a14:m>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 name="Text 3">
                <a:extLst>
                  <a:ext uri="{FF2B5EF4-FFF2-40B4-BE49-F238E27FC236}">
                    <a16:creationId xmlns:a16="http://schemas.microsoft.com/office/drawing/2014/main" id="{BDED0BF7-58A1-CF22-792A-96EF34E08236}"/>
                  </a:ext>
                </a:extLst>
              </p:cNvPr>
              <p:cNvSpPr>
                <a:spLocks noRot="1" noChangeAspect="1" noMove="1" noResize="1" noEditPoints="1" noAdjustHandles="1" noChangeArrowheads="1" noChangeShapeType="1" noTextEdit="1"/>
              </p:cNvSpPr>
              <p:nvPr/>
            </p:nvSpPr>
            <p:spPr>
              <a:xfrm>
                <a:off x="6297192" y="4057701"/>
                <a:ext cx="2203164" cy="1234511"/>
              </a:xfrm>
              <a:prstGeom prst="rect">
                <a:avLst/>
              </a:prstGeom>
              <a:blipFill>
                <a:blip r:embed="rId3"/>
                <a:stretch>
                  <a:fillRect/>
                </a:stretch>
              </a:blipFill>
              <a:ln/>
            </p:spPr>
            <p:txBody>
              <a:bodyPr/>
              <a:lstStyle/>
              <a:p>
                <a:r>
                  <a:rPr lang="es-MX">
                    <a:noFill/>
                  </a:rPr>
                  <a:t> </a:t>
                </a:r>
              </a:p>
            </p:txBody>
          </p:sp>
        </mc:Fallback>
      </mc:AlternateContent>
      <p:sp>
        <p:nvSpPr>
          <p:cNvPr id="16" name="Shape 5">
            <a:extLst>
              <a:ext uri="{FF2B5EF4-FFF2-40B4-BE49-F238E27FC236}">
                <a16:creationId xmlns:a16="http://schemas.microsoft.com/office/drawing/2014/main" id="{76A4D309-FB27-BF2B-2B7D-1AFDEB077BE3}"/>
              </a:ext>
            </a:extLst>
          </p:cNvPr>
          <p:cNvSpPr/>
          <p:nvPr/>
        </p:nvSpPr>
        <p:spPr>
          <a:xfrm>
            <a:off x="3622081" y="4057701"/>
            <a:ext cx="2125243" cy="1234511"/>
          </a:xfrm>
          <a:prstGeom prst="rect">
            <a:avLst/>
          </a:prstGeom>
          <a:solidFill>
            <a:srgbClr val="534AB7"/>
          </a:solidFill>
          <a:ln w="12700">
            <a:solidFill>
              <a:srgbClr val="534AB7"/>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7" name="Text 6">
                <a:extLst>
                  <a:ext uri="{FF2B5EF4-FFF2-40B4-BE49-F238E27FC236}">
                    <a16:creationId xmlns:a16="http://schemas.microsoft.com/office/drawing/2014/main" id="{3419AD9E-23F3-D476-006D-7C31105F5C51}"/>
                  </a:ext>
                </a:extLst>
              </p:cNvPr>
              <p:cNvSpPr/>
              <p:nvPr/>
            </p:nvSpPr>
            <p:spPr>
              <a:xfrm>
                <a:off x="3622081" y="4057701"/>
                <a:ext cx="2125243" cy="1234511"/>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Verosimilitud</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s-MX" sz="20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𝑷</m:t>
                      </m:r>
                      <m:r>
                        <a:rPr kumimoji="0" lang="es-MX" sz="20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s-MX" sz="20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𝒙</m:t>
                      </m:r>
                      <m:r>
                        <a:rPr kumimoji="0" lang="es-MX" sz="20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sSub>
                        <m:sSubPr>
                          <m:ctrlP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𝝎</m:t>
                          </m:r>
                        </m:e>
                        <m:sub>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oMath>
                  </m:oMathPara>
                </a14:m>
                <a:endParaRPr kumimoji="0" lang="en-US" sz="2000" b="1" i="0" u="none" strike="noStrike" kern="1200" cap="none" spc="0" normalizeH="0" baseline="0" noProof="0" dirty="0">
                  <a:ln>
                    <a:noFill/>
                  </a:ln>
                  <a:solidFill>
                    <a:prstClr val="white"/>
                  </a:solidFill>
                  <a:effectLst/>
                  <a:uLnTx/>
                  <a:uFillTx/>
                  <a:latin typeface="Aptos" panose="02110004020202020204"/>
                  <a:ea typeface="+mn-ea"/>
                  <a:cs typeface="+mn-cs"/>
                </a:endParaRPr>
              </a:p>
            </p:txBody>
          </p:sp>
        </mc:Choice>
        <mc:Fallback xmlns="">
          <p:sp>
            <p:nvSpPr>
              <p:cNvPr id="17" name="Text 6">
                <a:extLst>
                  <a:ext uri="{FF2B5EF4-FFF2-40B4-BE49-F238E27FC236}">
                    <a16:creationId xmlns:a16="http://schemas.microsoft.com/office/drawing/2014/main" id="{3419AD9E-23F3-D476-006D-7C31105F5C51}"/>
                  </a:ext>
                </a:extLst>
              </p:cNvPr>
              <p:cNvSpPr>
                <a:spLocks noRot="1" noChangeAspect="1" noMove="1" noResize="1" noEditPoints="1" noAdjustHandles="1" noChangeArrowheads="1" noChangeShapeType="1" noTextEdit="1"/>
              </p:cNvSpPr>
              <p:nvPr/>
            </p:nvSpPr>
            <p:spPr>
              <a:xfrm>
                <a:off x="3622081" y="4057701"/>
                <a:ext cx="2125243" cy="1234511"/>
              </a:xfrm>
              <a:prstGeom prst="rect">
                <a:avLst/>
              </a:prstGeom>
              <a:blipFill>
                <a:blip r:embed="rId4"/>
                <a:stretch>
                  <a:fillRect/>
                </a:stretch>
              </a:blipFill>
              <a:ln/>
            </p:spPr>
            <p:txBody>
              <a:bodyPr/>
              <a:lstStyle/>
              <a:p>
                <a:r>
                  <a:rPr lang="es-MX">
                    <a:noFill/>
                  </a:rPr>
                  <a:t> </a:t>
                </a:r>
              </a:p>
            </p:txBody>
          </p:sp>
        </mc:Fallback>
      </mc:AlternateContent>
      <p:sp>
        <p:nvSpPr>
          <p:cNvPr id="19" name="Shape 8">
            <a:extLst>
              <a:ext uri="{FF2B5EF4-FFF2-40B4-BE49-F238E27FC236}">
                <a16:creationId xmlns:a16="http://schemas.microsoft.com/office/drawing/2014/main" id="{F3730A68-EB16-700C-2995-53A3594EAE4E}"/>
              </a:ext>
            </a:extLst>
          </p:cNvPr>
          <p:cNvSpPr/>
          <p:nvPr/>
        </p:nvSpPr>
        <p:spPr>
          <a:xfrm>
            <a:off x="9050224" y="4057701"/>
            <a:ext cx="2125243" cy="1234511"/>
          </a:xfrm>
          <a:prstGeom prst="rect">
            <a:avLst/>
          </a:prstGeom>
          <a:solidFill>
            <a:srgbClr val="BA7517"/>
          </a:solidFill>
          <a:ln w="12700">
            <a:solidFill>
              <a:srgbClr val="BA7517"/>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0" name="Text 9">
            <a:extLst>
              <a:ext uri="{FF2B5EF4-FFF2-40B4-BE49-F238E27FC236}">
                <a16:creationId xmlns:a16="http://schemas.microsoft.com/office/drawing/2014/main" id="{126B6A8C-1A5C-13E8-E408-101D2D6F4CF7}"/>
              </a:ext>
            </a:extLst>
          </p:cNvPr>
          <p:cNvSpPr/>
          <p:nvPr/>
        </p:nvSpPr>
        <p:spPr>
          <a:xfrm>
            <a:off x="9050224" y="4057701"/>
            <a:ext cx="2125243" cy="1234511"/>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Evidencia</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P(x)</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Shape 11">
            <a:extLst>
              <a:ext uri="{FF2B5EF4-FFF2-40B4-BE49-F238E27FC236}">
                <a16:creationId xmlns:a16="http://schemas.microsoft.com/office/drawing/2014/main" id="{993EFAE5-6FA9-BE2C-D568-FA40D3FE7831}"/>
              </a:ext>
            </a:extLst>
          </p:cNvPr>
          <p:cNvSpPr/>
          <p:nvPr/>
        </p:nvSpPr>
        <p:spPr>
          <a:xfrm>
            <a:off x="817552" y="4057701"/>
            <a:ext cx="2230448" cy="1234511"/>
          </a:xfrm>
          <a:prstGeom prst="rect">
            <a:avLst/>
          </a:prstGeom>
          <a:solidFill>
            <a:srgbClr val="D85A30"/>
          </a:solidFill>
          <a:ln w="12700">
            <a:solidFill>
              <a:srgbClr val="D85A30"/>
            </a:solidFill>
            <a:prstDash val="solid"/>
          </a:ln>
          <a:effectLst>
            <a:outerShdw blurRad="101600" dist="38100" dir="81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2000" b="0" i="0" u="none" strike="noStrike" kern="1200" cap="none" spc="0" normalizeH="0" baseline="0" noProof="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23" name="Text 12">
                <a:extLst>
                  <a:ext uri="{FF2B5EF4-FFF2-40B4-BE49-F238E27FC236}">
                    <a16:creationId xmlns:a16="http://schemas.microsoft.com/office/drawing/2014/main" id="{9DEE755A-4407-A7FD-018B-4212E90ED5C2}"/>
                  </a:ext>
                </a:extLst>
              </p:cNvPr>
              <p:cNvSpPr/>
              <p:nvPr/>
            </p:nvSpPr>
            <p:spPr>
              <a:xfrm>
                <a:off x="817552" y="4057701"/>
                <a:ext cx="2230448" cy="1234511"/>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Posterior</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
                </a:r>
                <a14:m>
                  <m:oMath xmlns:m="http://schemas.openxmlformats.org/officeDocument/2006/math">
                    <m:sSub>
                      <m:sSubPr>
                        <m:ctrlP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𝝎</m:t>
                        </m:r>
                      </m:e>
                      <m:sub>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r>
                      <a:rPr kumimoji="0" lang="es-MX" sz="20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oMath>
                </a14:m>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|x)</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3" name="Text 12">
                <a:extLst>
                  <a:ext uri="{FF2B5EF4-FFF2-40B4-BE49-F238E27FC236}">
                    <a16:creationId xmlns:a16="http://schemas.microsoft.com/office/drawing/2014/main" id="{9DEE755A-4407-A7FD-018B-4212E90ED5C2}"/>
                  </a:ext>
                </a:extLst>
              </p:cNvPr>
              <p:cNvSpPr>
                <a:spLocks noRot="1" noChangeAspect="1" noMove="1" noResize="1" noEditPoints="1" noAdjustHandles="1" noChangeArrowheads="1" noChangeShapeType="1" noTextEdit="1"/>
              </p:cNvSpPr>
              <p:nvPr/>
            </p:nvSpPr>
            <p:spPr>
              <a:xfrm>
                <a:off x="817552" y="4057701"/>
                <a:ext cx="2230448" cy="1234511"/>
              </a:xfrm>
              <a:prstGeom prst="rect">
                <a:avLst/>
              </a:prstGeom>
              <a:blipFill>
                <a:blip r:embed="rId5"/>
                <a:stretch>
                  <a:fillRect/>
                </a:stretch>
              </a:blipFill>
              <a:ln/>
            </p:spPr>
            <p:txBody>
              <a:bodyPr/>
              <a:lstStyle/>
              <a:p>
                <a:r>
                  <a:rPr lang="es-MX">
                    <a:noFill/>
                  </a:rPr>
                  <a:t> </a:t>
                </a:r>
              </a:p>
            </p:txBody>
          </p:sp>
        </mc:Fallback>
      </mc:AlternateContent>
    </p:spTree>
    <p:extLst>
      <p:ext uri="{BB962C8B-B14F-4D97-AF65-F5344CB8AC3E}">
        <p14:creationId xmlns:p14="http://schemas.microsoft.com/office/powerpoint/2010/main" val="2438731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3A75BA-8FA2-304F-2EDD-134BA9D729D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E5E081-8EF4-9546-B791-9D62DC2F9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BA1687D-8A52-5B33-E431-28936E807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E9E8FA9-20EB-258C-8158-EE1E97D3E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96D18DBD-3ACD-CABC-C36A-C9BB0BD165C3}"/>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29</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0" name="Marcador de contenido 2">
                <a:extLst>
                  <a:ext uri="{FF2B5EF4-FFF2-40B4-BE49-F238E27FC236}">
                    <a16:creationId xmlns:a16="http://schemas.microsoft.com/office/drawing/2014/main" id="{73DF53A1-3C73-FDF2-7CC2-A24731F2DA64}"/>
                  </a:ext>
                </a:extLst>
              </p:cNvPr>
              <p:cNvSpPr>
                <a:spLocks noGrp="1"/>
              </p:cNvSpPr>
              <p:nvPr>
                <p:ph idx="1"/>
              </p:nvPr>
            </p:nvSpPr>
            <p:spPr>
              <a:xfrm>
                <a:off x="838200" y="787886"/>
                <a:ext cx="10515600" cy="5282228"/>
              </a:xfrm>
            </p:spPr>
            <p:txBody>
              <a:bodyPr>
                <a:normAutofit/>
              </a:bodyPr>
              <a:lstStyle/>
              <a:p>
                <a:pPr marL="0" indent="0">
                  <a:buNone/>
                </a:pPr>
                <a:r>
                  <a:rPr lang="es-MX" sz="2400" dirty="0"/>
                  <a:t>Con base en esto se puede escribir:</a:t>
                </a:r>
              </a:p>
              <a:p>
                <a:pPr marL="0" indent="0">
                  <a:buNone/>
                </a:pPr>
                <a14:m>
                  <m:oMathPara xmlns:m="http://schemas.openxmlformats.org/officeDocument/2006/math">
                    <m:oMath>
                      <m:r>
                        <a:rPr lang="es-MX" sz="2400" i="1" smtClean="0">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m:t>
                          </m:r>
                          <m:r>
                            <a:rPr lang="ar-AE" sz="2400" i="1">
                              <a:latin typeface="Cambria Math" panose="02040503050406030204" pitchFamily="18" charset="0"/>
                            </a:rPr>
                            <m:t>1</m:t>
                          </m:r>
                        </m:sub>
                        <m:sup>
                          <m:r>
                            <a:rPr lang="ar-AE" sz="2400" i="1">
                              <a:latin typeface="Cambria Math" panose="02040503050406030204" pitchFamily="18" charset="0"/>
                            </a:rPr>
                            <m:t>𝑐</m:t>
                          </m:r>
                        </m:sup>
                        <m:e>
                          <m:r>
                            <a:rPr lang="ar-AE" sz="2400" i="1">
                              <a:latin typeface="Cambria Math" panose="02040503050406030204" pitchFamily="18" charset="0"/>
                            </a:rPr>
                            <m:t>𝜆</m:t>
                          </m:r>
                        </m:e>
                      </m:nary>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𝑗</m:t>
                              </m:r>
                            </m:sub>
                          </m:sSub>
                        </m:e>
                      </m:d>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den>
                      </m:f>
                    </m:oMath>
                  </m:oMathPara>
                </a14:m>
                <a:endParaRPr lang="es-MX" sz="2400" dirty="0"/>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m:t>
                          </m:r>
                          <m:r>
                            <a:rPr lang="ar-AE" sz="2400" i="1">
                              <a:latin typeface="Cambria Math" panose="02040503050406030204" pitchFamily="18" charset="0"/>
                            </a:rPr>
                            <m:t>1</m:t>
                          </m:r>
                        </m:sub>
                        <m:sup>
                          <m:r>
                            <a:rPr lang="ar-AE" sz="2400" i="1">
                              <a:latin typeface="Cambria Math" panose="02040503050406030204" pitchFamily="18" charset="0"/>
                            </a:rPr>
                            <m:t>𝑐</m:t>
                          </m:r>
                        </m:sup>
                        <m:e>
                          <m:r>
                            <a:rPr lang="ar-AE" sz="2400" i="1">
                              <a:latin typeface="Cambria Math" panose="02040503050406030204" pitchFamily="18" charset="0"/>
                            </a:rPr>
                            <m:t>𝜆</m:t>
                          </m:r>
                        </m:e>
                      </m:nary>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𝑗</m:t>
                              </m:r>
                            </m:sub>
                          </m:sSub>
                        </m:e>
                      </m:d>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oMath>
                  </m:oMathPara>
                </a14:m>
                <a:endParaRPr lang="es-MX" sz="2400" dirty="0"/>
              </a:p>
              <a:p>
                <a:pPr marL="0" indent="0">
                  <a:buNone/>
                </a:pPr>
                <a:r>
                  <a:rPr lang="es-MX" sz="2400" dirty="0"/>
                  <a:t>Cuando tenemos 2 clases:</a:t>
                </a:r>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es-MX" sz="2400" b="0" i="1" smtClean="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sSub>
                        <m:sSubPr>
                          <m:ctrlPr>
                            <a:rPr lang="ar-AE" sz="2400" i="1" smtClean="0">
                              <a:latin typeface="Cambria Math" panose="02040503050406030204" pitchFamily="18" charset="0"/>
                              <a:ea typeface="Cambria Math" panose="02040503050406030204" pitchFamily="18" charset="0"/>
                            </a:rPr>
                          </m:ctrlPr>
                        </m:sSubPr>
                        <m:e>
                          <m:r>
                            <a:rPr lang="ar-AE" sz="2400" i="1" smtClean="0">
                              <a:latin typeface="Cambria Math" panose="02040503050406030204" pitchFamily="18" charset="0"/>
                              <a:ea typeface="Cambria Math" panose="02040503050406030204" pitchFamily="18" charset="0"/>
                            </a:rPr>
                            <m:t>𝜆</m:t>
                          </m:r>
                        </m:e>
                        <m:sub>
                          <m:r>
                            <a:rPr lang="es-MX" sz="2400" b="0" i="1" smtClean="0">
                              <a:latin typeface="Cambria Math" panose="02040503050406030204" pitchFamily="18" charset="0"/>
                            </a:rPr>
                            <m:t>11</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b="0" i="1" smtClean="0">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b="0" i="1" smtClean="0">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a:rPr lang="es-MX" sz="2400" b="0" i="1" smtClean="0">
                          <a:latin typeface="Cambria Math" panose="02040503050406030204" pitchFamily="18" charset="0"/>
                        </a:rPr>
                        <m: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m:t>
                          </m:r>
                          <m:r>
                            <a:rPr lang="es-MX" sz="2400" b="0" i="1" smtClean="0">
                              <a:latin typeface="Cambria Math" panose="02040503050406030204" pitchFamily="18" charset="0"/>
                            </a:rPr>
                            <m:t>2</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b="0" i="1" smtClean="0">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b="0" i="1" smtClean="0">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oMath>
                  </m:oMathPara>
                </a14:m>
                <a:endParaRPr lang="es-MX" sz="2400" dirty="0"/>
              </a:p>
              <a:p>
                <a:pPr marL="0" indent="0">
                  <a:buNone/>
                </a:pPr>
                <a14:m>
                  <m:oMathPara xmlns:m="http://schemas.openxmlformats.org/officeDocument/2006/math">
                    <m:oMath>
                      <m:r>
                        <a:rPr lang="es-MX"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es-MX" sz="2400" b="0" i="1" smtClean="0">
                                  <a:latin typeface="Cambria Math" panose="02040503050406030204" pitchFamily="18" charset="0"/>
                                </a:rPr>
                                <m:t>2</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b="0" i="1" smtClean="0">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1</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b="0" i="1" smtClean="0">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2</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oMath>
                  </m:oMathPara>
                </a14:m>
                <a:endParaRPr lang="es-MX" sz="2400" dirty="0"/>
              </a:p>
              <a:p>
                <a:pPr marL="0" indent="0">
                  <a:buNone/>
                </a:pPr>
                <a:endParaRPr lang="es-MX" sz="2400" dirty="0"/>
              </a:p>
              <a:p>
                <a:pPr marL="0" indent="0">
                  <a:buNone/>
                </a:pPr>
                <a14:m>
                  <m:oMathPara xmlns:m="http://schemas.openxmlformats.org/officeDocument/2006/math">
                    <m:oMath>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11</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12</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a:rPr lang="es-MX" sz="2400" i="1" smtClean="0">
                          <a:latin typeface="Cambria Math" panose="02040503050406030204" pitchFamily="18" charset="0"/>
                          <a:ea typeface="Cambria Math" panose="02040503050406030204" pitchFamily="18" charset="0"/>
                        </a:rPr>
                        <m:t>&lt;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1</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sSub>
                        <m:sSubPr>
                          <m:ctrlPr>
                            <a:rPr lang="ar-AE" sz="2400" i="1">
                              <a:latin typeface="Cambria Math" panose="02040503050406030204" pitchFamily="18" charset="0"/>
                              <a:ea typeface="Cambria Math" panose="02040503050406030204" pitchFamily="18" charset="0"/>
                            </a:rPr>
                          </m:ctrlPr>
                        </m:sSubPr>
                        <m:e>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2</m:t>
                          </m:r>
                        </m:sub>
                      </m:sSub>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oMath>
                  </m:oMathPara>
                </a14:m>
                <a:endParaRPr lang="es-MX" sz="2400" dirty="0"/>
              </a:p>
              <a:p>
                <a:pPr marL="0" indent="0">
                  <a:buNone/>
                </a:pPr>
                <a14:m>
                  <m:oMathPara xmlns:m="http://schemas.openxmlformats.org/officeDocument/2006/math">
                    <m:oMath>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12</m:t>
                          </m:r>
                        </m:sub>
                      </m:sSub>
                      <m:r>
                        <a:rPr lang="es-MX" sz="2400" b="0" i="1" smtClean="0">
                          <a:latin typeface="Cambria Math" panose="02040503050406030204" pitchFamily="18" charset="0"/>
                        </a:rPr>
                        <m:t> −</m:t>
                      </m:r>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 </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2</m:t>
                          </m:r>
                        </m:sub>
                      </m:sSub>
                      <m:r>
                        <a:rPr lang="es-MX" sz="2400" b="0" i="1" smtClean="0">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r>
                        <a:rPr lang="es-MX" sz="2400" i="1">
                          <a:latin typeface="Cambria Math" panose="02040503050406030204" pitchFamily="18" charset="0"/>
                          <a:ea typeface="Cambria Math" panose="02040503050406030204" pitchFamily="18" charset="0"/>
                        </a:rPr>
                        <m:t>&lt;</m:t>
                      </m:r>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1</m:t>
                          </m:r>
                        </m:sub>
                      </m:sSub>
                      <m:r>
                        <a:rPr lang="es-MX" sz="2400" b="0" i="1" smtClean="0">
                          <a:latin typeface="Cambria Math" panose="02040503050406030204" pitchFamily="18" charset="0"/>
                        </a:rPr>
                        <m:t> −</m:t>
                      </m:r>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 </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11</m:t>
                          </m:r>
                        </m:sub>
                      </m:sSub>
                      <m:r>
                        <a:rPr lang="es-MX" sz="2400" b="0" i="1" smtClean="0">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oMath>
                  </m:oMathPara>
                </a14:m>
                <a:endParaRPr lang="es-MX" sz="2400" dirty="0"/>
              </a:p>
              <a:p>
                <a:pPr marL="0" indent="0">
                  <a:buNone/>
                </a:pPr>
                <a:endParaRPr lang="es-MX" sz="2400" dirty="0"/>
              </a:p>
              <a:p>
                <a:pPr marL="0" indent="0">
                  <a:buNone/>
                </a:pPr>
                <a:endParaRPr lang="es-MX" sz="2400" dirty="0"/>
              </a:p>
              <a:p>
                <a:pPr marL="0" indent="0">
                  <a:buNone/>
                </a:pPr>
                <a:endParaRPr lang="es-MX" sz="2400" dirty="0"/>
              </a:p>
            </p:txBody>
          </p:sp>
        </mc:Choice>
        <mc:Fallback xmlns="">
          <p:sp>
            <p:nvSpPr>
              <p:cNvPr id="10" name="Marcador de contenido 2">
                <a:extLst>
                  <a:ext uri="{FF2B5EF4-FFF2-40B4-BE49-F238E27FC236}">
                    <a16:creationId xmlns:a16="http://schemas.microsoft.com/office/drawing/2014/main" id="{73DF53A1-3C73-FDF2-7CC2-A24731F2DA64}"/>
                  </a:ext>
                </a:extLst>
              </p:cNvPr>
              <p:cNvSpPr>
                <a:spLocks noGrp="1" noRot="1" noChangeAspect="1" noMove="1" noResize="1" noEditPoints="1" noAdjustHandles="1" noChangeArrowheads="1" noChangeShapeType="1" noTextEdit="1"/>
              </p:cNvSpPr>
              <p:nvPr>
                <p:ph idx="1"/>
              </p:nvPr>
            </p:nvSpPr>
            <p:spPr>
              <a:xfrm>
                <a:off x="838200" y="787886"/>
                <a:ext cx="10515600" cy="5282228"/>
              </a:xfrm>
              <a:blipFill>
                <a:blip r:embed="rId2"/>
                <a:stretch>
                  <a:fillRect l="-928" t="-1499"/>
                </a:stretch>
              </a:blipFill>
            </p:spPr>
            <p:txBody>
              <a:bodyPr/>
              <a:lstStyle/>
              <a:p>
                <a:r>
                  <a:rPr lang="es-MX">
                    <a:noFill/>
                  </a:rPr>
                  <a:t> </a:t>
                </a:r>
              </a:p>
            </p:txBody>
          </p:sp>
        </mc:Fallback>
      </mc:AlternateContent>
    </p:spTree>
    <p:extLst>
      <p:ext uri="{BB962C8B-B14F-4D97-AF65-F5344CB8AC3E}">
        <p14:creationId xmlns:p14="http://schemas.microsoft.com/office/powerpoint/2010/main" val="644977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0FCAE7-6060-CDAF-A51D-1250A033C76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00D763-D9D0-7DAB-8FCB-D01B30991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D9351592-9704-25EC-3AC3-6C355C642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D10DAC3A-B05B-2B70-B355-0FE3650A4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DAA39C90-F704-1C3D-52C4-5A9E41F61994}"/>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0" name="Marcador de contenido 2">
                <a:extLst>
                  <a:ext uri="{FF2B5EF4-FFF2-40B4-BE49-F238E27FC236}">
                    <a16:creationId xmlns:a16="http://schemas.microsoft.com/office/drawing/2014/main" id="{A8D1CAA1-4B7E-3A0A-E6AC-9A4E6DD54D8D}"/>
                  </a:ext>
                </a:extLst>
              </p:cNvPr>
              <p:cNvSpPr>
                <a:spLocks noGrp="1"/>
              </p:cNvSpPr>
              <p:nvPr>
                <p:ph idx="1"/>
              </p:nvPr>
            </p:nvSpPr>
            <p:spPr>
              <a:xfrm>
                <a:off x="838200" y="787886"/>
                <a:ext cx="10515600" cy="5081972"/>
              </a:xfrm>
            </p:spPr>
            <p:txBody>
              <a:bodyPr>
                <a:normAutofit/>
              </a:bodyPr>
              <a:lstStyle/>
              <a:p>
                <a:pPr marL="0" indent="0">
                  <a:buNone/>
                </a:pPr>
                <a14:m>
                  <m:oMathPara xmlns:m="http://schemas.openxmlformats.org/officeDocument/2006/math">
                    <m:oMath>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den>
                      </m:f>
                      <m:r>
                        <a:rPr lang="es-MX" sz="2400" b="0" i="1" smtClean="0">
                          <a:latin typeface="Cambria Math" panose="02040503050406030204" pitchFamily="18" charset="0"/>
                        </a:rPr>
                        <m:t>&gt;</m:t>
                      </m:r>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2</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a:rPr lang="es-MX" sz="2400" i="1">
                                  <a:latin typeface="Cambria Math" panose="02040503050406030204" pitchFamily="18" charset="0"/>
                                </a:rPr>
                                <m:t>(</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12</m:t>
                              </m:r>
                            </m:sub>
                          </m:sSub>
                          <m:r>
                            <a:rPr lang="es-MX" sz="2400" i="1">
                              <a:latin typeface="Cambria Math" panose="02040503050406030204" pitchFamily="18" charset="0"/>
                            </a:rPr>
                            <m:t> −</m:t>
                          </m:r>
                          <m:sSub>
                            <m:sSubPr>
                              <m:ctrlPr>
                                <a:rPr lang="es-MX" sz="2400" i="1">
                                  <a:latin typeface="Cambria Math" panose="02040503050406030204" pitchFamily="18" charset="0"/>
                                </a:rPr>
                              </m:ctrlPr>
                            </m:sSubPr>
                            <m:e>
                              <m:r>
                                <a:rPr lang="es-MX" sz="2400" i="1">
                                  <a:latin typeface="Cambria Math" panose="02040503050406030204" pitchFamily="18" charset="0"/>
                                </a:rPr>
                                <m:t> </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2</m:t>
                              </m:r>
                            </m:sub>
                          </m:sSub>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a:rPr lang="es-MX" sz="2400" i="1">
                                  <a:latin typeface="Cambria Math" panose="02040503050406030204" pitchFamily="18" charset="0"/>
                                </a:rPr>
                                <m:t>(</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ea typeface="Cambria Math" panose="02040503050406030204" pitchFamily="18" charset="0"/>
                                </a:rPr>
                                <m:t>2</m:t>
                              </m:r>
                              <m:r>
                                <a:rPr lang="es-MX" sz="2400" i="1">
                                  <a:latin typeface="Cambria Math" panose="02040503050406030204" pitchFamily="18" charset="0"/>
                                </a:rPr>
                                <m:t>1</m:t>
                              </m:r>
                            </m:sub>
                          </m:sSub>
                          <m:r>
                            <a:rPr lang="es-MX" sz="2400" i="1">
                              <a:latin typeface="Cambria Math" panose="02040503050406030204" pitchFamily="18" charset="0"/>
                            </a:rPr>
                            <m:t> −</m:t>
                          </m:r>
                          <m:sSub>
                            <m:sSubPr>
                              <m:ctrlPr>
                                <a:rPr lang="es-MX" sz="2400" i="1">
                                  <a:latin typeface="Cambria Math" panose="02040503050406030204" pitchFamily="18" charset="0"/>
                                </a:rPr>
                              </m:ctrlPr>
                            </m:sSubPr>
                            <m:e>
                              <m:r>
                                <a:rPr lang="es-MX" sz="2400" i="1">
                                  <a:latin typeface="Cambria Math" panose="02040503050406030204" pitchFamily="18" charset="0"/>
                                </a:rPr>
                                <m:t> </m:t>
                              </m:r>
                              <m:r>
                                <a:rPr lang="ar-AE" sz="2400" i="1">
                                  <a:latin typeface="Cambria Math" panose="02040503050406030204" pitchFamily="18" charset="0"/>
                                  <a:ea typeface="Cambria Math" panose="02040503050406030204" pitchFamily="18" charset="0"/>
                                </a:rPr>
                                <m:t>𝜆</m:t>
                              </m:r>
                            </m:e>
                            <m:sub>
                              <m:r>
                                <a:rPr lang="es-MX" sz="2400" i="1">
                                  <a:latin typeface="Cambria Math" panose="02040503050406030204" pitchFamily="18" charset="0"/>
                                </a:rPr>
                                <m:t>11</m:t>
                              </m:r>
                            </m:sub>
                          </m:sSub>
                          <m:r>
                            <a:rPr lang="es-MX" sz="2400" i="1">
                              <a:latin typeface="Cambria Math" panose="02040503050406030204" pitchFamily="18" charset="0"/>
                            </a:rPr>
                            <m:t>)</m:t>
                          </m:r>
                        </m:den>
                      </m:f>
                    </m:oMath>
                  </m:oMathPara>
                </a14:m>
                <a:endParaRPr lang="es-MX" sz="2400" dirty="0"/>
              </a:p>
              <a:p>
                <a:pPr marL="0" indent="0">
                  <a:buNone/>
                </a:pPr>
                <a:endParaRPr lang="es-MX" sz="2400" dirty="0"/>
              </a:p>
              <a:p>
                <a:pPr marL="0" indent="0">
                  <a:buNone/>
                </a:pPr>
                <a:endParaRPr lang="es-MX" sz="2400" dirty="0"/>
              </a:p>
              <a:p>
                <a:pPr marL="0" indent="0">
                  <a:buNone/>
                </a:pPr>
                <a:endParaRPr lang="es-MX" sz="2400" dirty="0"/>
              </a:p>
              <a:p>
                <a:pPr marL="0" indent="0">
                  <a:buNone/>
                </a:pPr>
                <a:endParaRPr lang="es-MX" sz="2400" dirty="0"/>
              </a:p>
              <a:p>
                <a:pPr marL="0" indent="0">
                  <a:buNone/>
                </a:pPr>
                <a:endParaRPr lang="es-MX" sz="2400" dirty="0"/>
              </a:p>
              <a:p>
                <a:pPr marL="0" indent="0">
                  <a:buNone/>
                </a:pPr>
                <a:r>
                  <a:rPr lang="es-MX" sz="2400" dirty="0"/>
                  <a:t>Asignar x a </a:t>
                </a:r>
                <a14:m>
                  <m:oMath xmlns:m="http://schemas.openxmlformats.org/officeDocument/2006/math">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i="1">
                            <a:latin typeface="Cambria Math" panose="02040503050406030204" pitchFamily="18" charset="0"/>
                            <a:ea typeface="Cambria Math" panose="02040503050406030204" pitchFamily="18" charset="0"/>
                          </a:rPr>
                          <m:t>1</m:t>
                        </m:r>
                      </m:sub>
                    </m:sSub>
                  </m:oMath>
                </a14:m>
                <a:r>
                  <a:rPr lang="es-MX" sz="2400" dirty="0"/>
                  <a:t> si </a:t>
                </a:r>
                <a14:m>
                  <m:oMath xmlns:m="http://schemas.openxmlformats.org/officeDocument/2006/math">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l</m:t>
                        </m:r>
                      </m:e>
                      <m:sub>
                        <m:r>
                          <a:rPr lang="es-MX" sz="2400" i="1">
                            <a:latin typeface="Cambria Math" panose="02040503050406030204" pitchFamily="18" charset="0"/>
                          </a:rPr>
                          <m:t>12</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)&gt;</m:t>
                    </m:r>
                    <m:r>
                      <a:rPr lang="es-MX" sz="2400" i="1">
                        <a:latin typeface="Cambria Math" panose="02040503050406030204" pitchFamily="18" charset="0"/>
                      </a:rPr>
                      <m:t>𝜂</m:t>
                    </m:r>
                  </m:oMath>
                </a14:m>
                <a:endParaRPr lang="es-MX" sz="2400" dirty="0"/>
              </a:p>
              <a:p>
                <a:pPr marL="0" indent="0">
                  <a:buNone/>
                </a:pPr>
                <a:r>
                  <a:rPr lang="es-MX" sz="2400" dirty="0"/>
                  <a:t>Asignar x a </a:t>
                </a:r>
                <a14:m>
                  <m:oMath xmlns:m="http://schemas.openxmlformats.org/officeDocument/2006/math">
                    <m:sSub>
                      <m:sSubPr>
                        <m:ctrlPr>
                          <a:rPr lang="es-MX" sz="2400" i="1">
                            <a:latin typeface="Cambria Math" panose="02040503050406030204" pitchFamily="18" charset="0"/>
                            <a:ea typeface="Cambria Math" panose="02040503050406030204" pitchFamily="18" charset="0"/>
                          </a:rPr>
                        </m:ctrlPr>
                      </m:sSubPr>
                      <m:e>
                        <m:r>
                          <a:rPr lang="es-MX" sz="2400" i="1">
                            <a:latin typeface="Cambria Math" panose="02040503050406030204" pitchFamily="18" charset="0"/>
                            <a:ea typeface="Cambria Math" panose="02040503050406030204" pitchFamily="18" charset="0"/>
                          </a:rPr>
                          <m:t>𝜔</m:t>
                        </m:r>
                      </m:e>
                      <m:sub>
                        <m:r>
                          <a:rPr lang="es-MX" sz="2400" b="0" i="1" smtClean="0">
                            <a:latin typeface="Cambria Math" panose="02040503050406030204" pitchFamily="18" charset="0"/>
                            <a:ea typeface="Cambria Math" panose="02040503050406030204" pitchFamily="18" charset="0"/>
                          </a:rPr>
                          <m:t>2</m:t>
                        </m:r>
                      </m:sub>
                    </m:sSub>
                  </m:oMath>
                </a14:m>
                <a:r>
                  <a:rPr lang="es-MX" sz="2400" dirty="0"/>
                  <a:t> si </a:t>
                </a:r>
                <a14:m>
                  <m:oMath xmlns:m="http://schemas.openxmlformats.org/officeDocument/2006/math">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l</m:t>
                        </m:r>
                      </m:e>
                      <m:sub>
                        <m:r>
                          <a:rPr lang="es-MX" sz="2400" i="1">
                            <a:latin typeface="Cambria Math" panose="02040503050406030204" pitchFamily="18" charset="0"/>
                          </a:rPr>
                          <m:t>12</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)&lt;</m:t>
                    </m:r>
                    <m:r>
                      <a:rPr lang="es-MX" sz="2400" i="1">
                        <a:latin typeface="Cambria Math" panose="02040503050406030204" pitchFamily="18" charset="0"/>
                      </a:rPr>
                      <m:t>𝜂</m:t>
                    </m:r>
                  </m:oMath>
                </a14:m>
                <a:endParaRPr lang="es-MX" sz="2400" dirty="0"/>
              </a:p>
              <a:p>
                <a:pPr marL="0" indent="0">
                  <a:buNone/>
                </a:pPr>
                <a:r>
                  <a:rPr lang="es-MX" sz="2400" dirty="0"/>
                  <a:t>Tomar una decisión arbitraria si </a:t>
                </a:r>
                <a14:m>
                  <m:oMath xmlns:m="http://schemas.openxmlformats.org/officeDocument/2006/math">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l</m:t>
                        </m:r>
                      </m:e>
                      <m:sub>
                        <m:r>
                          <a:rPr lang="es-MX" sz="2400" i="1">
                            <a:latin typeface="Cambria Math" panose="02040503050406030204" pitchFamily="18" charset="0"/>
                          </a:rPr>
                          <m:t>12</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r>
                      <a:rPr lang="es-MX" sz="2400" i="1">
                        <a:latin typeface="Cambria Math" panose="02040503050406030204" pitchFamily="18" charset="0"/>
                      </a:rPr>
                      <m:t>𝜂</m:t>
                    </m:r>
                  </m:oMath>
                </a14:m>
                <a:endParaRPr lang="es-MX" sz="2400" dirty="0"/>
              </a:p>
              <a:p>
                <a:pPr marL="0" indent="0">
                  <a:buNone/>
                </a:pPr>
                <a:endParaRPr lang="es-MX" sz="2400" dirty="0"/>
              </a:p>
            </p:txBody>
          </p:sp>
        </mc:Choice>
        <mc:Fallback xmlns="">
          <p:sp>
            <p:nvSpPr>
              <p:cNvPr id="10" name="Marcador de contenido 2">
                <a:extLst>
                  <a:ext uri="{FF2B5EF4-FFF2-40B4-BE49-F238E27FC236}">
                    <a16:creationId xmlns:a16="http://schemas.microsoft.com/office/drawing/2014/main" id="{A8D1CAA1-4B7E-3A0A-E6AC-9A4E6DD54D8D}"/>
                  </a:ext>
                </a:extLst>
              </p:cNvPr>
              <p:cNvSpPr>
                <a:spLocks noGrp="1" noRot="1" noChangeAspect="1" noMove="1" noResize="1" noEditPoints="1" noAdjustHandles="1" noChangeArrowheads="1" noChangeShapeType="1" noTextEdit="1"/>
              </p:cNvSpPr>
              <p:nvPr>
                <p:ph idx="1"/>
              </p:nvPr>
            </p:nvSpPr>
            <p:spPr>
              <a:xfrm>
                <a:off x="838200" y="787886"/>
                <a:ext cx="10515600" cy="5081972"/>
              </a:xfrm>
              <a:blipFill>
                <a:blip r:embed="rId2"/>
                <a:stretch>
                  <a:fillRect l="-928"/>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EF513725-4806-F0F2-74CF-5631DD26B1A0}"/>
              </a:ext>
            </a:extLst>
          </p:cNvPr>
          <p:cNvSpPr txBox="1"/>
          <p:nvPr/>
        </p:nvSpPr>
        <p:spPr>
          <a:xfrm>
            <a:off x="2332644" y="3052257"/>
            <a:ext cx="221225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000" b="0" i="0" u="none" strike="noStrike" kern="1200" cap="none" spc="0" normalizeH="0" baseline="0" noProof="0" dirty="0" err="1">
                <a:ln>
                  <a:noFill/>
                </a:ln>
                <a:solidFill>
                  <a:prstClr val="black"/>
                </a:solidFill>
                <a:effectLst/>
                <a:uLnTx/>
                <a:uFillTx/>
                <a:latin typeface="Aptos" panose="02110004020202020204"/>
                <a:ea typeface="+mn-ea"/>
                <a:cs typeface="+mn-cs"/>
              </a:rPr>
              <a:t>Likelihood</a:t>
            </a:r>
            <a:r>
              <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rPr>
              <a:t> Ratio</a:t>
            </a:r>
          </a:p>
        </p:txBody>
      </p:sp>
      <p:sp>
        <p:nvSpPr>
          <p:cNvPr id="12" name="CuadroTexto 11">
            <a:extLst>
              <a:ext uri="{FF2B5EF4-FFF2-40B4-BE49-F238E27FC236}">
                <a16:creationId xmlns:a16="http://schemas.microsoft.com/office/drawing/2014/main" id="{E7CFA995-9FC1-2678-6900-DF6AFBCEC45E}"/>
              </a:ext>
            </a:extLst>
          </p:cNvPr>
          <p:cNvSpPr txBox="1"/>
          <p:nvPr/>
        </p:nvSpPr>
        <p:spPr>
          <a:xfrm>
            <a:off x="7128357" y="3052257"/>
            <a:ext cx="221225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000" b="0" i="0" u="none" strike="noStrike" kern="1200" cap="none" spc="0" normalizeH="0" baseline="0" noProof="0" dirty="0" err="1">
                <a:ln>
                  <a:noFill/>
                </a:ln>
                <a:solidFill>
                  <a:prstClr val="black"/>
                </a:solidFill>
                <a:effectLst/>
                <a:uLnTx/>
                <a:uFillTx/>
                <a:latin typeface="Aptos" panose="02110004020202020204"/>
                <a:ea typeface="+mn-ea"/>
                <a:cs typeface="+mn-cs"/>
              </a:rPr>
              <a:t>Threshold</a:t>
            </a:r>
            <a:endPar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031297CE-C736-A530-E831-C62CA5FA7B53}"/>
                  </a:ext>
                </a:extLst>
              </p:cNvPr>
              <p:cNvSpPr txBox="1"/>
              <p:nvPr/>
            </p:nvSpPr>
            <p:spPr>
              <a:xfrm>
                <a:off x="1248698" y="2186769"/>
                <a:ext cx="4011561" cy="861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m:t>
                          </m:r>
                        </m:e>
                        <m: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sub>
                      </m:sSub>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x</m:t>
                      </m:r>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P</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x</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P</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x</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en>
                      </m:f>
                    </m:oMath>
                  </m:oMathPara>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 name="CuadroTexto 13">
                <a:extLst>
                  <a:ext uri="{FF2B5EF4-FFF2-40B4-BE49-F238E27FC236}">
                    <a16:creationId xmlns:a16="http://schemas.microsoft.com/office/drawing/2014/main" id="{031297CE-C736-A530-E831-C62CA5FA7B53}"/>
                  </a:ext>
                </a:extLst>
              </p:cNvPr>
              <p:cNvSpPr txBox="1">
                <a:spLocks noRot="1" noChangeAspect="1" noMove="1" noResize="1" noEditPoints="1" noAdjustHandles="1" noChangeArrowheads="1" noChangeShapeType="1" noTextEdit="1"/>
              </p:cNvSpPr>
              <p:nvPr/>
            </p:nvSpPr>
            <p:spPr>
              <a:xfrm>
                <a:off x="1248698" y="2186769"/>
                <a:ext cx="4011561" cy="861326"/>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18E2A968-D15D-5E5F-C179-52AF31CF6564}"/>
                  </a:ext>
                </a:extLst>
              </p:cNvPr>
              <p:cNvSpPr txBox="1"/>
              <p:nvPr/>
            </p:nvSpPr>
            <p:spPr>
              <a:xfrm>
                <a:off x="5523330" y="2186769"/>
                <a:ext cx="4336026" cy="861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𝜂</m:t>
                      </m:r>
                      <m:r>
                        <a:rPr kumimoji="0" lang="es-MX"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P</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m:rPr>
                              <m:sty m:val="p"/>
                            </m:r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P</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b>
                            <m:sSubPr>
                              <m:ctrlP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ar-AE"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11</m:t>
                              </m:r>
                            </m:sub>
                          </m:sSub>
                          <m:r>
                            <a:rPr kumimoji="0" lang="es-MX"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en>
                      </m:f>
                    </m:oMath>
                  </m:oMathPara>
                </a14:m>
                <a:endParaRPr kumimoji="0" lang="es-MX"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5" name="CuadroTexto 14">
                <a:extLst>
                  <a:ext uri="{FF2B5EF4-FFF2-40B4-BE49-F238E27FC236}">
                    <a16:creationId xmlns:a16="http://schemas.microsoft.com/office/drawing/2014/main" id="{18E2A968-D15D-5E5F-C179-52AF31CF6564}"/>
                  </a:ext>
                </a:extLst>
              </p:cNvPr>
              <p:cNvSpPr txBox="1">
                <a:spLocks noRot="1" noChangeAspect="1" noMove="1" noResize="1" noEditPoints="1" noAdjustHandles="1" noChangeArrowheads="1" noChangeShapeType="1" noTextEdit="1"/>
              </p:cNvSpPr>
              <p:nvPr/>
            </p:nvSpPr>
            <p:spPr>
              <a:xfrm>
                <a:off x="5523330" y="2186769"/>
                <a:ext cx="4336026" cy="861326"/>
              </a:xfrm>
              <a:prstGeom prst="rect">
                <a:avLst/>
              </a:prstGeom>
              <a:blipFill>
                <a:blip r:embed="rId4"/>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586106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65234073-C98B-B079-787A-8D822EC2BEC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Recapitulando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0549833-41C4-55D1-F117-64A889BC3D52}"/>
                  </a:ext>
                </a:extLst>
              </p:cNvPr>
              <p:cNvSpPr>
                <a:spLocks noGrp="1"/>
              </p:cNvSpPr>
              <p:nvPr>
                <p:ph idx="1"/>
              </p:nvPr>
            </p:nvSpPr>
            <p:spPr>
              <a:xfrm>
                <a:off x="459350" y="1891970"/>
                <a:ext cx="11575333" cy="4489165"/>
              </a:xfrm>
            </p:spPr>
            <p:txBody>
              <a:bodyPr anchor="ctr">
                <a:normAutofit/>
              </a:bodyPr>
              <a:lstStyle/>
              <a:p>
                <a:pPr marL="0" indent="0">
                  <a:buNone/>
                </a:pPr>
                <a:r>
                  <a:rPr lang="es-MX" sz="2400" dirty="0"/>
                  <a:t>La regla de Bayes nos dice:</a:t>
                </a:r>
              </a:p>
              <a:p>
                <a:pPr marL="0" indent="0">
                  <a:buNone/>
                </a:pPr>
                <a14:m>
                  <m:oMathPara xmlns:m="http://schemas.openxmlformats.org/officeDocument/2006/math">
                    <m:oMath>
                      <m:r>
                        <a:rPr lang="es-MX"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num>
                        <m:den>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e>
                          </m:d>
                        </m:den>
                      </m:f>
                    </m:oMath>
                  </m:oMathPara>
                </a14:m>
                <a:endParaRPr lang="ar-AE" sz="2400" dirty="0"/>
              </a:p>
              <a:p>
                <a:pPr marL="0" indent="0">
                  <a:buNone/>
                </a:pPr>
                <a:r>
                  <a:rPr lang="es-MX" sz="2400" dirty="0"/>
                  <a:t>Como </a:t>
                </a:r>
                <a14:m>
                  <m:oMath xmlns:m="http://schemas.openxmlformats.org/officeDocument/2006/math">
                    <m:r>
                      <a:rPr lang="es-MX"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e>
                    </m:d>
                  </m:oMath>
                </a14:m>
                <a:r>
                  <a:rPr lang="es-MX" sz="2400" dirty="0"/>
                  <a:t>es común para todas las clases, se puede eliminar </a:t>
                </a:r>
                <a14:m>
                  <m:oMath xmlns:m="http://schemas.openxmlformats.org/officeDocument/2006/math">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e>
                    </m:d>
                  </m:oMath>
                </a14:m>
                <a:r>
                  <a:rPr lang="es-MX" sz="2400" dirty="0"/>
                  <a:t> de la formula y además se sabe que minimizar el riesgo condicional es maximizar la posterior: </a:t>
                </a:r>
              </a:p>
              <a:p>
                <a:pPr marL="0" indent="0">
                  <a:buNone/>
                </a:pPr>
                <a14:m>
                  <m:oMathPara xmlns:m="http://schemas.openxmlformats.org/officeDocument/2006/math">
                    <m:oMath>
                      <m:func>
                        <m:funcPr>
                          <m:ctrlPr>
                            <a:rPr lang="es-MX" sz="2400" b="0" i="1">
                              <a:latin typeface="Cambria Math" panose="02040503050406030204" pitchFamily="18" charset="0"/>
                            </a:rPr>
                          </m:ctrlPr>
                        </m:funcPr>
                        <m:fName>
                          <m:r>
                            <a:rPr lang="es-MX" sz="2400" b="0" i="1">
                              <a:latin typeface="Cambria Math" panose="02040503050406030204" pitchFamily="18" charset="0"/>
                            </a:rPr>
                            <m:t> </m:t>
                          </m:r>
                        </m:fName>
                        <m:e>
                          <m:limLow>
                            <m:limLowPr>
                              <m:ctrlPr>
                                <a:rPr lang="ar-AE"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min</m:t>
                                  </m:r>
                                </m:fName>
                                <m:e>
                                  <m:r>
                                    <a:rPr lang="es-MX" sz="2400" i="1">
                                      <a:latin typeface="Cambria Math" panose="02040503050406030204" pitchFamily="18" charset="0"/>
                                    </a:rPr>
                                    <m:t> </m:t>
                                  </m:r>
                                </m:e>
                              </m:func>
                            </m:e>
                            <m:lim>
                              <m:r>
                                <a:rPr lang="ar-AE" sz="2400" i="1">
                                  <a:latin typeface="Cambria Math" panose="02040503050406030204" pitchFamily="18" charset="0"/>
                                </a:rPr>
                                <m:t>𝑖</m:t>
                              </m:r>
                            </m:lim>
                          </m:limLow>
                        </m:e>
                      </m:func>
                      <m:r>
                        <a:rPr lang="ar-AE" sz="2400" i="1">
                          <a:latin typeface="Cambria Math" panose="02040503050406030204" pitchFamily="18" charset="0"/>
                        </a:rPr>
                        <m:t>𝑅</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es-MX" sz="2400" dirty="0"/>
              </a:p>
              <a:p>
                <a:pPr marL="0" indent="0">
                  <a:buNone/>
                </a:pPr>
                <a14:m>
                  <m:oMathPara xmlns:m="http://schemas.openxmlformats.org/officeDocument/2006/math">
                    <m:oMath>
                      <m:limLow>
                        <m:limLowPr>
                          <m:ctrlPr>
                            <a:rPr lang="ar-AE" sz="2400" i="1">
                              <a:latin typeface="Cambria Math" panose="02040503050406030204" pitchFamily="18" charset="0"/>
                            </a:rPr>
                          </m:ctrlPr>
                        </m:limLowPr>
                        <m:e>
                          <m:func>
                            <m:funcPr>
                              <m:ctrlPr>
                                <a:rPr lang="es-MX" sz="2400">
                                  <a:latin typeface="Cambria Math" panose="02040503050406030204" pitchFamily="18" charset="0"/>
                                </a:rPr>
                              </m:ctrlPr>
                            </m:funcPr>
                            <m:fName>
                              <m:r>
                                <m:rPr>
                                  <m:sty m:val="p"/>
                                </m:rPr>
                                <a:rPr lang="es-MX" sz="2400">
                                  <a:latin typeface="Cambria Math" panose="02040503050406030204" pitchFamily="18" charset="0"/>
                                </a:rPr>
                                <m:t>max</m:t>
                              </m:r>
                            </m:fName>
                            <m:e>
                              <m:r>
                                <a:rPr lang="es-MX" sz="2400" i="1">
                                  <a:latin typeface="Cambria Math" panose="02040503050406030204" pitchFamily="18" charset="0"/>
                                </a:rPr>
                                <m:t> </m:t>
                              </m:r>
                            </m:e>
                          </m:func>
                        </m:e>
                        <m:lim>
                          <m:r>
                            <a:rPr lang="ar-AE" sz="2400" i="1">
                              <a:latin typeface="Cambria Math" panose="02040503050406030204" pitchFamily="18" charset="0"/>
                            </a:rPr>
                            <m:t>𝑖</m:t>
                          </m:r>
                        </m:lim>
                      </m:limLow>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𝑥</m:t>
                          </m:r>
                        </m:e>
                      </m:d>
                    </m:oMath>
                  </m:oMathPara>
                </a14:m>
                <a:endParaRPr lang="es-MX" sz="2400" dirty="0"/>
              </a:p>
              <a:p>
                <a:pPr marL="0" indent="0">
                  <a:buNone/>
                </a:pPr>
                <a:r>
                  <a:rPr lang="es-MX" sz="2400" dirty="0"/>
                  <a:t>Se define entonces la función discriminante:</a:t>
                </a:r>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𝑔</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oMath>
                  </m:oMathPara>
                </a14:m>
                <a:endParaRPr lang="es-MX" sz="2400" dirty="0"/>
              </a:p>
              <a:p>
                <a:pPr marL="0" indent="0">
                  <a:buNone/>
                </a:pPr>
                <a:r>
                  <a:rPr lang="es-MX" sz="2400" dirty="0"/>
                  <a:t>La regla de decisión es:</a:t>
                </a:r>
              </a:p>
              <a:p>
                <a:pPr marL="0" indent="0">
                  <a:buNone/>
                </a:pPr>
                <a14:m>
                  <m:oMathPara xmlns:m="http://schemas.openxmlformats.org/officeDocument/2006/math">
                    <m:oMath>
                      <m:r>
                        <m:rPr>
                          <m:nor/>
                        </m:rPr>
                        <a:rPr lang="es-MX" sz="2400" b="0" i="0"/>
                        <m:t>decidir</m:t>
                      </m:r>
                      <m:r>
                        <m:rPr>
                          <m:nor/>
                        </m:rPr>
                        <a:rPr lang="es-MX" sz="2400" b="0" i="1"/>
                        <m:t> </m:t>
                      </m:r>
                      <m:sSub>
                        <m:sSubPr>
                          <m:ctrlPr>
                            <a:rPr lang="ar-AE" sz="2400" b="0" i="1">
                              <a:latin typeface="Cambria Math" panose="02040503050406030204" pitchFamily="18" charset="0"/>
                            </a:rPr>
                          </m:ctrlPr>
                        </m:sSubPr>
                        <m:e>
                          <m:r>
                            <a:rPr lang="ar-AE" sz="2400" b="0" i="1">
                              <a:latin typeface="Cambria Math" panose="02040503050406030204" pitchFamily="18" charset="0"/>
                            </a:rPr>
                            <m:t>𝜔</m:t>
                          </m:r>
                        </m:e>
                        <m:sub>
                          <m:r>
                            <a:rPr lang="ar-AE" sz="2400" b="0" i="1">
                              <a:latin typeface="Cambria Math" panose="02040503050406030204" pitchFamily="18" charset="0"/>
                            </a:rPr>
                            <m:t>𝑖</m:t>
                          </m:r>
                        </m:sub>
                      </m:sSub>
                      <m:r>
                        <a:rPr lang="ar-AE" sz="2400">
                          <a:latin typeface="Cambria Math" panose="02040503050406030204" pitchFamily="18" charset="0"/>
                        </a:rPr>
                        <m:t> </m:t>
                      </m:r>
                      <m:r>
                        <m:rPr>
                          <m:nor/>
                        </m:rPr>
                        <a:rPr lang="es-MX" sz="2400" i="1"/>
                        <m:t>si</m:t>
                      </m:r>
                      <m:r>
                        <a:rPr lang="es-MX" sz="2400">
                          <a:latin typeface="Cambria Math" panose="020405030504060302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𝑔</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&gt;</m:t>
                      </m:r>
                      <m:sSub>
                        <m:sSubPr>
                          <m:ctrlPr>
                            <a:rPr lang="ar-AE" sz="2400" i="1">
                              <a:latin typeface="Cambria Math" panose="02040503050406030204" pitchFamily="18" charset="0"/>
                            </a:rPr>
                          </m:ctrlPr>
                        </m:sSubPr>
                        <m:e>
                          <m:r>
                            <a:rPr lang="ar-AE" sz="2400" i="1">
                              <a:latin typeface="Cambria Math" panose="02040503050406030204" pitchFamily="18" charset="0"/>
                            </a:rPr>
                            <m:t>𝑔</m:t>
                          </m:r>
                        </m:e>
                        <m:sub>
                          <m:r>
                            <a:rPr lang="ar-AE" sz="2400" i="1">
                              <a:latin typeface="Cambria Math" panose="02040503050406030204" pitchFamily="18" charset="0"/>
                            </a:rPr>
                            <m:t>𝑗</m:t>
                          </m:r>
                        </m:sub>
                      </m:sSub>
                      <m:d>
                        <m:dPr>
                          <m:ctrlPr>
                            <a:rPr lang="ar-AE" sz="2400" i="1">
                              <a:latin typeface="Cambria Math" panose="02040503050406030204" pitchFamily="18" charset="0"/>
                            </a:rPr>
                          </m:ctrlPr>
                        </m:dPr>
                        <m:e>
                          <m:r>
                            <a:rPr lang="ar-AE" sz="2400" i="1">
                              <a:latin typeface="Cambria Math" panose="02040503050406030204" pitchFamily="18" charset="0"/>
                            </a:rPr>
                            <m:t>𝑥</m:t>
                          </m:r>
                        </m:e>
                      </m:d>
                    </m:oMath>
                  </m:oMathPara>
                </a14:m>
                <a:endParaRPr lang="ar-AE" sz="2400" dirty="0"/>
              </a:p>
              <a:p>
                <a:pPr marL="0" indent="0">
                  <a:buNone/>
                </a:pPr>
                <a:endParaRPr lang="es-MX" sz="1900" dirty="0"/>
              </a:p>
            </p:txBody>
          </p:sp>
        </mc:Choice>
        <mc:Fallback xmlns="">
          <p:sp>
            <p:nvSpPr>
              <p:cNvPr id="3" name="Marcador de contenido 2">
                <a:extLst>
                  <a:ext uri="{FF2B5EF4-FFF2-40B4-BE49-F238E27FC236}">
                    <a16:creationId xmlns:a16="http://schemas.microsoft.com/office/drawing/2014/main" id="{30549833-41C4-55D1-F117-64A889BC3D52}"/>
                  </a:ext>
                </a:extLst>
              </p:cNvPr>
              <p:cNvSpPr>
                <a:spLocks noGrp="1" noRot="1" noChangeAspect="1" noMove="1" noResize="1" noEditPoints="1" noAdjustHandles="1" noChangeArrowheads="1" noChangeShapeType="1" noTextEdit="1"/>
              </p:cNvSpPr>
              <p:nvPr>
                <p:ph idx="1"/>
              </p:nvPr>
            </p:nvSpPr>
            <p:spPr>
              <a:xfrm>
                <a:off x="459350" y="1891970"/>
                <a:ext cx="11575333" cy="4489165"/>
              </a:xfrm>
              <a:blipFill>
                <a:blip r:embed="rId2"/>
                <a:stretch>
                  <a:fillRect l="-790" t="-4613"/>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27DBD86B-0A24-AA98-AA06-C72B31744AE8}"/>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4059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E20F189-C62D-AE52-ABD0-E2246F6B159D}"/>
                  </a:ext>
                </a:extLst>
              </p:cNvPr>
              <p:cNvSpPr>
                <a:spLocks noGrp="1"/>
              </p:cNvSpPr>
              <p:nvPr>
                <p:ph idx="1"/>
              </p:nvPr>
            </p:nvSpPr>
            <p:spPr>
              <a:xfrm>
                <a:off x="1155559" y="813916"/>
                <a:ext cx="10339755" cy="5058851"/>
              </a:xfrm>
            </p:spPr>
            <p:txBody>
              <a:bodyPr anchor="t">
                <a:normAutofit/>
              </a:bodyPr>
              <a:lstStyle/>
              <a:p>
                <a:pPr marL="0" indent="0">
                  <a:buNone/>
                </a:pPr>
                <a:r>
                  <a:rPr lang="es-MX" sz="2400" dirty="0"/>
                  <a:t>Esto nos dice que para asignar un patrón a una clase solo se necesita la </a:t>
                </a:r>
                <a:r>
                  <a:rPr lang="es-MX" sz="2400" b="1" dirty="0"/>
                  <a:t>verosimilitud </a:t>
                </a:r>
                <a14:m>
                  <m:oMath xmlns:m="http://schemas.openxmlformats.org/officeDocument/2006/math">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oMath>
                </a14:m>
                <a:r>
                  <a:rPr lang="es-MX" sz="2400" dirty="0"/>
                  <a:t> y la </a:t>
                </a:r>
                <a:r>
                  <a:rPr lang="es-MX" sz="2400" b="1" dirty="0"/>
                  <a:t>priori</a:t>
                </a:r>
                <a:r>
                  <a:rPr lang="es-MX" sz="2400" dirty="0"/>
                  <a:t> </a:t>
                </a:r>
                <a14:m>
                  <m:oMath xmlns:m="http://schemas.openxmlformats.org/officeDocument/2006/math">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oMath>
                </a14:m>
                <a:r>
                  <a:rPr lang="es-MX" sz="2400" dirty="0"/>
                  <a:t>. Y la regla de decisión es:</a:t>
                </a:r>
              </a:p>
              <a:p>
                <a:pPr marL="0" indent="0">
                  <a:buNone/>
                </a:pPr>
                <a:endParaRPr lang="es-MX" sz="2400" dirty="0"/>
              </a:p>
              <a:p>
                <a:pPr marL="0" indent="0">
                  <a:buNone/>
                </a:pPr>
                <a14:m>
                  <m:oMathPara xmlns:m="http://schemas.openxmlformats.org/officeDocument/2006/math">
                    <m:oMath>
                      <m:limLow>
                        <m:limLowPr>
                          <m:ctrlPr>
                            <a:rPr lang="ar-AE" sz="2400" i="1">
                              <a:latin typeface="Cambria Math" panose="02040503050406030204" pitchFamily="18" charset="0"/>
                            </a:rPr>
                          </m:ctrlPr>
                        </m:limLowPr>
                        <m:e>
                          <m:func>
                            <m:funcPr>
                              <m:ctrlPr>
                                <a:rPr lang="es-MX" sz="2400" b="0" i="0">
                                  <a:latin typeface="Cambria Math" panose="02040503050406030204" pitchFamily="18" charset="0"/>
                                </a:rPr>
                              </m:ctrlPr>
                            </m:funcPr>
                            <m:fName>
                              <m:r>
                                <m:rPr>
                                  <m:sty m:val="p"/>
                                </m:rPr>
                                <a:rPr lang="es-MX" sz="2400" b="0" i="0">
                                  <a:latin typeface="Cambria Math" panose="02040503050406030204" pitchFamily="18" charset="0"/>
                                </a:rPr>
                                <m:t>arg</m:t>
                              </m:r>
                              <m:r>
                                <m:rPr>
                                  <m:sty m:val="p"/>
                                </m:rPr>
                                <a:rPr lang="es-MX" sz="2400">
                                  <a:latin typeface="Cambria Math" panose="02040503050406030204" pitchFamily="18" charset="0"/>
                                </a:rPr>
                                <m:t>max</m:t>
                              </m:r>
                            </m:fName>
                            <m:e>
                              <m:r>
                                <a:rPr lang="es-MX" sz="2400" i="1">
                                  <a:latin typeface="Cambria Math" panose="02040503050406030204" pitchFamily="18" charset="0"/>
                                </a:rPr>
                                <m:t> </m:t>
                              </m:r>
                            </m:e>
                          </m:func>
                        </m:e>
                        <m:lim>
                          <m:r>
                            <a:rPr lang="ar-AE" sz="2400" i="1">
                              <a:latin typeface="Cambria Math" panose="02040503050406030204" pitchFamily="18" charset="0"/>
                            </a:rPr>
                            <m:t>𝑖</m:t>
                          </m:r>
                        </m:lim>
                      </m:limLow>
                      <m:r>
                        <a:rPr lang="es-MX" sz="2400" b="0" i="1">
                          <a:latin typeface="Cambria Math" panose="02040503050406030204" pitchFamily="18" charset="0"/>
                        </a:rPr>
                        <m:t>[</m:t>
                      </m:r>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es-MX" sz="2400" b="0" i="1">
                          <a:latin typeface="Cambria Math" panose="02040503050406030204" pitchFamily="18" charset="0"/>
                        </a:rPr>
                        <m:t>]</m:t>
                      </m:r>
                    </m:oMath>
                  </m:oMathPara>
                </a14:m>
                <a:endParaRPr lang="es-MX" sz="2400" dirty="0"/>
              </a:p>
              <a:p>
                <a:pPr marL="0" indent="0">
                  <a:buNone/>
                </a:pPr>
                <a:endParaRPr lang="es-MX" sz="2400" dirty="0"/>
              </a:p>
              <a:p>
                <a:pPr marL="0" indent="0">
                  <a:buNone/>
                </a:pPr>
                <a:r>
                  <a:rPr lang="es-MX" sz="2400" dirty="0"/>
                  <a:t>Como el logaritmo es monótono creciente, el aplicarlo no cambia el </a:t>
                </a:r>
                <a:r>
                  <a:rPr lang="es-MX" sz="2400" dirty="0" err="1"/>
                  <a:t>argmax</a:t>
                </a:r>
                <a:r>
                  <a:rPr lang="es-MX" sz="2400" dirty="0"/>
                  <a:t>. Se define la función discriminante:</a:t>
                </a:r>
              </a:p>
              <a:p>
                <a:pPr marL="0" indent="0">
                  <a:buNone/>
                </a:pPr>
                <a:endParaRPr lang="es-MX" sz="2400" dirty="0"/>
              </a:p>
              <a:p>
                <a:pPr marL="0" indent="0">
                  <a:buNone/>
                </a:pPr>
                <a14:m>
                  <m:oMathPara xmlns:m="http://schemas.openxmlformats.org/officeDocument/2006/math">
                    <m:oMath>
                      <m:sSub>
                        <m:sSubPr>
                          <m:ctrlPr>
                            <a:rPr lang="ar-AE" sz="2400" i="1">
                              <a:latin typeface="Cambria Math" panose="02040503050406030204" pitchFamily="18" charset="0"/>
                            </a:rPr>
                          </m:ctrlPr>
                        </m:sSubPr>
                        <m:e>
                          <m:r>
                            <a:rPr lang="ar-AE" sz="2400" i="1">
                              <a:latin typeface="Cambria Math" panose="02040503050406030204" pitchFamily="18" charset="0"/>
                            </a:rPr>
                            <m:t>𝑔</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r>
                        <m:rPr>
                          <m:sty m:val="p"/>
                        </m:rPr>
                        <a:rPr lang="es-MX" sz="2400" b="0" i="1">
                          <a:latin typeface="Cambria Math" panose="02040503050406030204" pitchFamily="18" charset="0"/>
                        </a:rPr>
                        <m:t>ln</m:t>
                      </m:r>
                      <m:r>
                        <a:rPr lang="es-MX" sz="2400" b="0" i="1">
                          <a:latin typeface="Cambria Math" panose="02040503050406030204" pitchFamily="18" charset="0"/>
                        </a:rPr>
                        <m:t>(</m:t>
                      </m:r>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es-MX" sz="2400" b="0" i="1">
                          <a:latin typeface="Cambria Math" panose="02040503050406030204" pitchFamily="18" charset="0"/>
                        </a:rPr>
                        <m:t>)+</m:t>
                      </m:r>
                      <m:r>
                        <m:rPr>
                          <m:sty m:val="p"/>
                        </m:rPr>
                        <a:rPr lang="es-MX" sz="2400" b="0" i="1">
                          <a:latin typeface="Cambria Math" panose="02040503050406030204" pitchFamily="18" charset="0"/>
                        </a:rPr>
                        <m:t>ln</m:t>
                      </m:r>
                      <m:r>
                        <a:rPr lang="es-MX" sz="2400" b="0" i="1">
                          <a:latin typeface="Cambria Math" panose="02040503050406030204" pitchFamily="18" charset="0"/>
                        </a:rPr>
                        <m:t>(</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𝜔</m:t>
                              </m:r>
                            </m:e>
                            <m:sub>
                              <m:r>
                                <a:rPr lang="ar-AE" sz="2400" i="1">
                                  <a:latin typeface="Cambria Math" panose="02040503050406030204" pitchFamily="18" charset="0"/>
                                </a:rPr>
                                <m:t>𝑖</m:t>
                              </m:r>
                            </m:sub>
                          </m:sSub>
                        </m:e>
                      </m:d>
                      <m:r>
                        <a:rPr lang="es-MX" sz="2400" b="0" i="1">
                          <a:latin typeface="Cambria Math" panose="02040503050406030204" pitchFamily="18" charset="0"/>
                        </a:rPr>
                        <m:t>)</m:t>
                      </m:r>
                    </m:oMath>
                  </m:oMathPara>
                </a14:m>
                <a:endParaRPr lang="es-MX" sz="2400" dirty="0"/>
              </a:p>
            </p:txBody>
          </p:sp>
        </mc:Choice>
        <mc:Fallback xmlns="">
          <p:sp>
            <p:nvSpPr>
              <p:cNvPr id="3" name="Marcador de contenido 2">
                <a:extLst>
                  <a:ext uri="{FF2B5EF4-FFF2-40B4-BE49-F238E27FC236}">
                    <a16:creationId xmlns:a16="http://schemas.microsoft.com/office/drawing/2014/main" id="{AE20F189-C62D-AE52-ABD0-E2246F6B159D}"/>
                  </a:ext>
                </a:extLst>
              </p:cNvPr>
              <p:cNvSpPr>
                <a:spLocks noGrp="1" noRot="1" noChangeAspect="1" noMove="1" noResize="1" noEditPoints="1" noAdjustHandles="1" noChangeArrowheads="1" noChangeShapeType="1" noTextEdit="1"/>
              </p:cNvSpPr>
              <p:nvPr>
                <p:ph idx="1"/>
              </p:nvPr>
            </p:nvSpPr>
            <p:spPr>
              <a:xfrm>
                <a:off x="1155559" y="813916"/>
                <a:ext cx="10339755" cy="5058851"/>
              </a:xfrm>
              <a:blipFill>
                <a:blip r:embed="rId2"/>
                <a:stretch>
                  <a:fillRect l="-943" t="-1568"/>
                </a:stretch>
              </a:blipFill>
            </p:spPr>
            <p:txBody>
              <a:bodyPr/>
              <a:lstStyle/>
              <a:p>
                <a:r>
                  <a:rPr lang="es-MX">
                    <a:noFill/>
                  </a:rPr>
                  <a:t> </a:t>
                </a:r>
              </a:p>
            </p:txBody>
          </p:sp>
        </mc:Fallback>
      </mc:AlternateContent>
      <p:sp>
        <p:nvSpPr>
          <p:cNvPr id="11"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FD391D93-467B-CF5C-F495-39747C1BBDCB}"/>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32</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4868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CD45927-6E15-63BC-A6AF-5877D0AA5E7E}"/>
                  </a:ext>
                </a:extLst>
              </p:cNvPr>
              <p:cNvSpPr>
                <a:spLocks noGrp="1"/>
              </p:cNvSpPr>
              <p:nvPr>
                <p:ph idx="1"/>
              </p:nvPr>
            </p:nvSpPr>
            <p:spPr>
              <a:xfrm>
                <a:off x="459350" y="1897625"/>
                <a:ext cx="11274249" cy="4404851"/>
              </a:xfrm>
            </p:spPr>
            <p:txBody>
              <a:bodyPr anchor="ctr">
                <a:normAutofit/>
              </a:bodyPr>
              <a:lstStyle/>
              <a:p>
                <a:pPr>
                  <a:lnSpc>
                    <a:spcPct val="107000"/>
                  </a:lnSpc>
                  <a:spcAft>
                    <a:spcPts val="800"/>
                  </a:spcAft>
                </a:pPr>
                <a:r>
                  <a:rPr lang="es-MX" sz="2400" dirty="0"/>
                  <a:t>El principal problema es aproximar la verosimilitud, una forma de manejar esto es asumir que los patrones de cada clase siguen una distribución normal multivariada. </a:t>
                </a:r>
                <a:r>
                  <a:rPr lang="es-MX" sz="2400" dirty="0">
                    <a:ea typeface="Calibri" panose="020F0502020204030204" pitchFamily="34" charset="0"/>
                    <a:cs typeface="Arial" panose="020B0604020202020204" pitchFamily="34" charset="0"/>
                  </a:rPr>
                  <a:t>Partiendo de la definición de la regla de Bayes:</a:t>
                </a:r>
              </a:p>
              <a:p>
                <a:pPr marL="0" indent="0">
                  <a:lnSpc>
                    <a:spcPct val="107000"/>
                  </a:lnSpc>
                  <a:spcAft>
                    <a:spcPts val="800"/>
                  </a:spcAft>
                  <a:buNone/>
                </a:pPr>
                <a14:m>
                  <m:oMathPara xmlns:m="http://schemas.openxmlformats.org/officeDocument/2006/math">
                    <m:oMath>
                      <m:sSub>
                        <m:sSubPr>
                          <m:ctrlPr>
                            <a:rPr lang="es-MX" sz="2400" i="1">
                              <a:latin typeface="Cambria Math" panose="02040503050406030204" pitchFamily="18" charset="0"/>
                              <a:ea typeface="Calibri" panose="020F0502020204030204" pitchFamily="34" charset="0"/>
                              <a:cs typeface="Arial" panose="020B0604020202020204" pitchFamily="34" charset="0"/>
                            </a:rPr>
                          </m:ctrlPr>
                        </m:sSubPr>
                        <m:e>
                          <m:r>
                            <a:rPr lang="es-MX" sz="2400" i="1">
                              <a:latin typeface="Cambria Math" panose="02040503050406030204" pitchFamily="18" charset="0"/>
                              <a:ea typeface="Calibri" panose="020F0502020204030204" pitchFamily="34" charset="0"/>
                              <a:cs typeface="Arial" panose="020B0604020202020204" pitchFamily="34" charset="0"/>
                            </a:rPr>
                            <m:t>𝑌</m:t>
                          </m:r>
                        </m:e>
                        <m:sub>
                          <m:r>
                            <a:rPr lang="es-MX" sz="2400" i="1">
                              <a:latin typeface="Cambria Math" panose="02040503050406030204" pitchFamily="18" charset="0"/>
                              <a:ea typeface="Calibri" panose="020F0502020204030204" pitchFamily="34" charset="0"/>
                              <a:cs typeface="Arial" panose="020B0604020202020204" pitchFamily="34" charset="0"/>
                            </a:rPr>
                            <m:t>𝑘</m:t>
                          </m:r>
                        </m:sub>
                      </m:sSub>
                      <m:r>
                        <a:rPr lang="es-MX"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𝑃</m:t>
                      </m:r>
                      <m:r>
                        <a:rPr lang="en-US" sz="2400" i="1">
                          <a:latin typeface="Cambria Math" panose="02040503050406030204" pitchFamily="18" charset="0"/>
                          <a:ea typeface="Calibri" panose="020F0502020204030204" pitchFamily="34" charset="0"/>
                          <a:cs typeface="Arial" panose="020B0604020202020204" pitchFamily="34" charset="0"/>
                        </a:rPr>
                        <m:t>(</m:t>
                      </m:r>
                      <m:f>
                        <m:fPr>
                          <m:type m:val="lin"/>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𝑋</m:t>
                          </m:r>
                        </m:num>
                        <m:den>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𝐶</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den>
                      </m:f>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𝑃</m:t>
                      </m:r>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𝐶</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r>
                        <a:rPr lang="en-US" sz="24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400" dirty="0">
                  <a:ea typeface="Calibri" panose="020F0502020204030204" pitchFamily="34" charset="0"/>
                  <a:cs typeface="Arial" panose="020B0604020202020204" pitchFamily="34" charset="0"/>
                </a:endParaRPr>
              </a:p>
              <a:p>
                <a:pPr marL="0" indent="0">
                  <a:lnSpc>
                    <a:spcPct val="107000"/>
                  </a:lnSpc>
                  <a:spcAft>
                    <a:spcPts val="800"/>
                  </a:spcAft>
                  <a:buNone/>
                </a:pPr>
                <a14:m>
                  <m:oMathPara xmlns:m="http://schemas.openxmlformats.org/officeDocument/2006/math">
                    <m:oMath>
                      <m:r>
                        <a:rPr lang="es-MX" sz="2400" i="1">
                          <a:latin typeface="Cambria Math" panose="02040503050406030204" pitchFamily="18" charset="0"/>
                          <a:ea typeface="Calibri" panose="020F0502020204030204" pitchFamily="34" charset="0"/>
                          <a:cs typeface="Arial" panose="020B0604020202020204" pitchFamily="34" charset="0"/>
                        </a:rPr>
                        <m:t>𝐺</m:t>
                      </m:r>
                      <m:d>
                        <m:dPr>
                          <m:ctrlPr>
                            <a:rPr lang="es-MX" sz="2400" i="1">
                              <a:latin typeface="Cambria Math" panose="02040503050406030204" pitchFamily="18" charset="0"/>
                              <a:ea typeface="Calibri" panose="020F0502020204030204" pitchFamily="34" charset="0"/>
                              <a:cs typeface="Arial" panose="020B0604020202020204" pitchFamily="34" charset="0"/>
                            </a:rPr>
                          </m:ctrlPr>
                        </m:dPr>
                        <m:e>
                          <m:r>
                            <a:rPr lang="es-MX" sz="2400" i="1">
                              <a:latin typeface="Cambria Math" panose="02040503050406030204" pitchFamily="18" charset="0"/>
                              <a:ea typeface="Calibri" panose="020F0502020204030204" pitchFamily="34" charset="0"/>
                              <a:cs typeface="Arial" panose="020B0604020202020204" pitchFamily="34" charset="0"/>
                            </a:rPr>
                            <m:t>𝑥</m:t>
                          </m:r>
                        </m:e>
                      </m:d>
                      <m:r>
                        <a:rPr lang="es-MX" sz="2400" i="1">
                          <a:latin typeface="Cambria Math" panose="02040503050406030204" pitchFamily="18" charset="0"/>
                          <a:ea typeface="Calibri" panose="020F0502020204030204" pitchFamily="34" charset="0"/>
                          <a:cs typeface="Arial" panose="020B0604020202020204" pitchFamily="34" charset="0"/>
                        </a:rPr>
                        <m:t>=</m:t>
                      </m:r>
                      <m:f>
                        <m:fPr>
                          <m:ctrlPr>
                            <a:rPr lang="es-MX" sz="2400" i="1">
                              <a:latin typeface="Cambria Math" panose="02040503050406030204" pitchFamily="18" charset="0"/>
                              <a:ea typeface="Calibri" panose="020F0502020204030204" pitchFamily="34" charset="0"/>
                              <a:cs typeface="Arial" panose="020B0604020202020204" pitchFamily="34" charset="0"/>
                            </a:rPr>
                          </m:ctrlPr>
                        </m:fPr>
                        <m:num>
                          <m:r>
                            <a:rPr lang="es-MX" sz="2400" i="1">
                              <a:latin typeface="Cambria Math" panose="02040503050406030204" pitchFamily="18" charset="0"/>
                              <a:ea typeface="Calibri" panose="020F0502020204030204" pitchFamily="34" charset="0"/>
                              <a:cs typeface="Arial" panose="020B0604020202020204" pitchFamily="34" charset="0"/>
                            </a:rPr>
                            <m:t>1</m:t>
                          </m:r>
                        </m:num>
                        <m:den>
                          <m:r>
                            <a:rPr lang="es-MX" sz="2400" i="1">
                              <a:latin typeface="Cambria Math" panose="02040503050406030204" pitchFamily="18" charset="0"/>
                              <a:ea typeface="Calibri" panose="020F0502020204030204" pitchFamily="34" charset="0"/>
                              <a:cs typeface="Arial" panose="020B0604020202020204" pitchFamily="34" charset="0"/>
                            </a:rPr>
                            <m:t>𝜎</m:t>
                          </m:r>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rad>
                                <m:radPr>
                                  <m:degHide m:val="on"/>
                                  <m:ctrlPr>
                                    <a:rPr lang="es-MX" sz="2400" i="1">
                                      <a:latin typeface="Cambria Math" panose="02040503050406030204" pitchFamily="18" charset="0"/>
                                      <a:ea typeface="Calibri" panose="020F0502020204030204" pitchFamily="34" charset="0"/>
                                      <a:cs typeface="Arial" panose="020B0604020202020204" pitchFamily="34" charset="0"/>
                                    </a:rPr>
                                  </m:ctrlPr>
                                </m:radPr>
                                <m:deg/>
                                <m:e>
                                  <m:r>
                                    <a:rPr lang="es-MX" sz="2400" i="1">
                                      <a:latin typeface="Cambria Math" panose="02040503050406030204" pitchFamily="18" charset="0"/>
                                      <a:ea typeface="Calibri" panose="020F0502020204030204" pitchFamily="34" charset="0"/>
                                      <a:cs typeface="Arial" panose="020B0604020202020204" pitchFamily="34" charset="0"/>
                                    </a:rPr>
                                    <m:t>2</m:t>
                                  </m:r>
                                  <m:r>
                                    <a:rPr lang="es-MX" sz="2400" i="1">
                                      <a:latin typeface="Cambria Math" panose="02040503050406030204" pitchFamily="18" charset="0"/>
                                      <a:ea typeface="Calibri" panose="020F0502020204030204" pitchFamily="34" charset="0"/>
                                      <a:cs typeface="Arial" panose="020B0604020202020204" pitchFamily="34" charset="0"/>
                                    </a:rPr>
                                    <m:t>𝜋</m:t>
                                  </m:r>
                                </m:e>
                              </m:rad>
                            </m:e>
                            <m:sup>
                              <m:r>
                                <a:rPr lang="es-MX" sz="2400" b="0" i="1" smtClean="0">
                                  <a:latin typeface="Cambria Math" panose="02040503050406030204" pitchFamily="18" charset="0"/>
                                  <a:ea typeface="Calibri" panose="020F0502020204030204" pitchFamily="34" charset="0"/>
                                  <a:cs typeface="Arial" panose="020B0604020202020204" pitchFamily="34" charset="0"/>
                                </a:rPr>
                                <m:t> </m:t>
                              </m:r>
                            </m:sup>
                          </m:sSup>
                        </m:den>
                      </m:f>
                      <m:r>
                        <m:rPr>
                          <m:sty m:val="p"/>
                        </m:rPr>
                        <a:rPr lang="en-US" sz="2400">
                          <a:latin typeface="Cambria Math" panose="02040503050406030204" pitchFamily="18" charset="0"/>
                          <a:ea typeface="Calibri" panose="020F0502020204030204" pitchFamily="34" charset="0"/>
                          <a:cs typeface="Arial" panose="020B0604020202020204" pitchFamily="34" charset="0"/>
                        </a:rPr>
                        <m:t>exp</m:t>
                      </m:r>
                      <m:d>
                        <m:dPr>
                          <m:ctrlPr>
                            <a:rPr lang="es-MX" sz="2400" i="1">
                              <a:latin typeface="Cambria Math" panose="02040503050406030204" pitchFamily="18" charset="0"/>
                              <a:ea typeface="Calibri" panose="020F0502020204030204" pitchFamily="34" charset="0"/>
                              <a:cs typeface="Arial" panose="020B0604020202020204" pitchFamily="34" charset="0"/>
                            </a:rPr>
                          </m:ctrlPr>
                        </m:dPr>
                        <m:e>
                          <m:f>
                            <m:fPr>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m:t>
                              </m:r>
                              <m:sSup>
                                <m:sSupPr>
                                  <m:ctrlPr>
                                    <a:rPr lang="en-US" sz="2400" i="1">
                                      <a:latin typeface="Cambria Math" panose="02040503050406030204" pitchFamily="18" charset="0"/>
                                      <a:ea typeface="Calibri" panose="020F0502020204030204" pitchFamily="34" charset="0"/>
                                      <a:cs typeface="Arial" panose="020B0604020202020204" pitchFamily="34"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𝑥</m:t>
                                  </m:r>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𝜇</m:t>
                                  </m:r>
                                  <m:r>
                                    <a:rPr lang="en-US" sz="2400" i="1">
                                      <a:latin typeface="Cambria Math" panose="02040503050406030204" pitchFamily="18" charset="0"/>
                                      <a:ea typeface="Calibri" panose="020F0502020204030204" pitchFamily="34" charset="0"/>
                                      <a:cs typeface="Arial" panose="020B0604020202020204" pitchFamily="34" charset="0"/>
                                    </a:rPr>
                                    <m:t>)</m:t>
                                  </m:r>
                                </m:e>
                                <m:sup>
                                  <m:r>
                                    <a:rPr lang="en-US" sz="2400" i="1">
                                      <a:latin typeface="Cambria Math" panose="02040503050406030204" pitchFamily="18" charset="0"/>
                                      <a:ea typeface="Calibri" panose="020F0502020204030204" pitchFamily="34" charset="0"/>
                                      <a:cs typeface="Arial" panose="020B0604020202020204" pitchFamily="34" charset="0"/>
                                    </a:rPr>
                                    <m:t>2</m:t>
                                  </m:r>
                                </m:sup>
                              </m:sSup>
                            </m:num>
                            <m:den>
                              <m:r>
                                <a:rPr lang="en-US" sz="2400" i="1">
                                  <a:latin typeface="Cambria Math" panose="02040503050406030204" pitchFamily="18" charset="0"/>
                                  <a:ea typeface="Calibri" panose="020F0502020204030204" pitchFamily="34" charset="0"/>
                                  <a:cs typeface="Arial" panose="020B0604020202020204" pitchFamily="34" charset="0"/>
                                </a:rPr>
                                <m:t>2</m:t>
                              </m:r>
                              <m:sSup>
                                <m:sSupPr>
                                  <m:ctrlPr>
                                    <a:rPr lang="en-US" sz="2400" i="1">
                                      <a:latin typeface="Cambria Math" panose="02040503050406030204" pitchFamily="18" charset="0"/>
                                      <a:ea typeface="Calibri" panose="020F0502020204030204" pitchFamily="34" charset="0"/>
                                      <a:cs typeface="Arial" panose="020B0604020202020204" pitchFamily="34"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𝜎</m:t>
                                  </m:r>
                                </m:e>
                                <m:sup>
                                  <m:r>
                                    <a:rPr lang="en-US" sz="2400" i="1">
                                      <a:latin typeface="Cambria Math" panose="02040503050406030204" pitchFamily="18" charset="0"/>
                                      <a:ea typeface="Calibri" panose="020F0502020204030204" pitchFamily="34" charset="0"/>
                                      <a:cs typeface="Arial" panose="020B0604020202020204" pitchFamily="34" charset="0"/>
                                    </a:rPr>
                                    <m:t>2</m:t>
                                  </m:r>
                                </m:sup>
                              </m:sSup>
                            </m:den>
                          </m:f>
                        </m:e>
                      </m:d>
                    </m:oMath>
                  </m:oMathPara>
                </a14:m>
                <a:endParaRPr lang="es-MX" sz="2400" dirty="0">
                  <a:ea typeface="Calibri" panose="020F0502020204030204" pitchFamily="34" charset="0"/>
                  <a:cs typeface="Arial" panose="020B0604020202020204" pitchFamily="34" charset="0"/>
                </a:endParaRPr>
              </a:p>
              <a:p>
                <a:pPr marL="0" indent="0">
                  <a:lnSpc>
                    <a:spcPct val="107000"/>
                  </a:lnSpc>
                  <a:spcAft>
                    <a:spcPts val="800"/>
                  </a:spcAft>
                  <a:buNone/>
                </a:pPr>
                <a14:m>
                  <m:oMathPara xmlns:m="http://schemas.openxmlformats.org/officeDocument/2006/math">
                    <m:oMath>
                      <m:sSub>
                        <m:sSubPr>
                          <m:ctrlPr>
                            <a:rPr lang="es-MX" sz="2400" i="1">
                              <a:latin typeface="Cambria Math" panose="02040503050406030204" pitchFamily="18" charset="0"/>
                              <a:ea typeface="Calibri" panose="020F0502020204030204" pitchFamily="34" charset="0"/>
                              <a:cs typeface="Arial" panose="020B0604020202020204" pitchFamily="34" charset="0"/>
                            </a:rPr>
                          </m:ctrlPr>
                        </m:sSubPr>
                        <m:e>
                          <m:r>
                            <a:rPr lang="es-MX" sz="2400" i="1">
                              <a:latin typeface="Cambria Math" panose="02040503050406030204" pitchFamily="18" charset="0"/>
                              <a:ea typeface="Calibri" panose="020F0502020204030204" pitchFamily="34" charset="0"/>
                              <a:cs typeface="Arial" panose="020B0604020202020204" pitchFamily="34" charset="0"/>
                            </a:rPr>
                            <m:t>𝐺</m:t>
                          </m:r>
                        </m:e>
                        <m:sub>
                          <m:r>
                            <a:rPr lang="es-MX" sz="2400" i="1">
                              <a:latin typeface="Cambria Math" panose="02040503050406030204" pitchFamily="18" charset="0"/>
                              <a:ea typeface="Calibri" panose="020F0502020204030204" pitchFamily="34" charset="0"/>
                              <a:cs typeface="Arial" panose="020B0604020202020204" pitchFamily="34" charset="0"/>
                            </a:rPr>
                            <m:t>𝑁</m:t>
                          </m:r>
                        </m:sub>
                      </m:sSub>
                      <m:d>
                        <m:dPr>
                          <m:ctrlPr>
                            <a:rPr lang="es-MX" sz="2400" i="1">
                              <a:latin typeface="Cambria Math" panose="02040503050406030204" pitchFamily="18" charset="0"/>
                              <a:ea typeface="Calibri" panose="020F0502020204030204" pitchFamily="34" charset="0"/>
                              <a:cs typeface="Arial" panose="020B0604020202020204" pitchFamily="34" charset="0"/>
                            </a:rPr>
                          </m:ctrlPr>
                        </m:dPr>
                        <m:e>
                          <m:r>
                            <a:rPr lang="es-MX" sz="2400" i="1">
                              <a:latin typeface="Cambria Math" panose="02040503050406030204" pitchFamily="18" charset="0"/>
                              <a:ea typeface="Calibri" panose="020F0502020204030204" pitchFamily="34" charset="0"/>
                              <a:cs typeface="Arial" panose="020B0604020202020204" pitchFamily="34" charset="0"/>
                            </a:rPr>
                            <m:t>𝑋</m:t>
                          </m:r>
                        </m:e>
                      </m:d>
                      <m:r>
                        <a:rPr lang="es-MX" sz="2400" i="1">
                          <a:latin typeface="Cambria Math" panose="02040503050406030204" pitchFamily="18" charset="0"/>
                          <a:ea typeface="Calibri" panose="020F0502020204030204" pitchFamily="34" charset="0"/>
                          <a:cs typeface="Arial" panose="020B0604020202020204" pitchFamily="34" charset="0"/>
                        </a:rPr>
                        <m:t>=</m:t>
                      </m:r>
                      <m:f>
                        <m:fPr>
                          <m:ctrlPr>
                            <a:rPr lang="es-MX" sz="2400" i="1">
                              <a:latin typeface="Cambria Math" panose="02040503050406030204" pitchFamily="18" charset="0"/>
                              <a:ea typeface="Calibri" panose="020F0502020204030204" pitchFamily="34" charset="0"/>
                              <a:cs typeface="Arial" panose="020B0604020202020204" pitchFamily="34" charset="0"/>
                            </a:rPr>
                          </m:ctrlPr>
                        </m:fPr>
                        <m:num>
                          <m:r>
                            <a:rPr lang="es-MX" sz="2400" i="1">
                              <a:latin typeface="Cambria Math" panose="02040503050406030204" pitchFamily="18" charset="0"/>
                              <a:ea typeface="Calibri" panose="020F0502020204030204" pitchFamily="34" charset="0"/>
                              <a:cs typeface="Arial" panose="020B0604020202020204" pitchFamily="34" charset="0"/>
                            </a:rPr>
                            <m:t>1</m:t>
                          </m:r>
                        </m:num>
                        <m:den>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r>
                                <a:rPr lang="es-MX" sz="2400" i="1">
                                  <a:latin typeface="Cambria Math" panose="02040503050406030204" pitchFamily="18" charset="0"/>
                                  <a:ea typeface="Calibri" panose="020F0502020204030204" pitchFamily="34" charset="0"/>
                                  <a:cs typeface="Arial" panose="020B0604020202020204" pitchFamily="34" charset="0"/>
                                </a:rPr>
                                <m:t>2</m:t>
                              </m:r>
                              <m:r>
                                <a:rPr lang="es-MX" sz="2400" i="1">
                                  <a:latin typeface="Cambria Math" panose="02040503050406030204" pitchFamily="18" charset="0"/>
                                  <a:ea typeface="Calibri" panose="020F0502020204030204" pitchFamily="34" charset="0"/>
                                  <a:cs typeface="Arial" panose="020B0604020202020204" pitchFamily="34" charset="0"/>
                                </a:rPr>
                                <m:t>𝜋</m:t>
                              </m:r>
                            </m:e>
                            <m:sup>
                              <m:f>
                                <m:fPr>
                                  <m:ctrlPr>
                                    <a:rPr lang="es-MX" sz="2400" i="1">
                                      <a:latin typeface="Cambria Math" panose="02040503050406030204" pitchFamily="18" charset="0"/>
                                      <a:ea typeface="Calibri" panose="020F0502020204030204" pitchFamily="34" charset="0"/>
                                      <a:cs typeface="Arial" panose="020B0604020202020204" pitchFamily="34" charset="0"/>
                                    </a:rPr>
                                  </m:ctrlPr>
                                </m:fPr>
                                <m:num>
                                  <m:r>
                                    <a:rPr lang="es-MX" sz="2400" i="1">
                                      <a:latin typeface="Cambria Math" panose="02040503050406030204" pitchFamily="18" charset="0"/>
                                      <a:ea typeface="Calibri" panose="020F0502020204030204" pitchFamily="34" charset="0"/>
                                      <a:cs typeface="Arial" panose="020B0604020202020204" pitchFamily="34" charset="0"/>
                                    </a:rPr>
                                    <m:t>𝑁</m:t>
                                  </m:r>
                                </m:num>
                                <m:den>
                                  <m:r>
                                    <a:rPr lang="es-MX" sz="2400" i="1">
                                      <a:latin typeface="Cambria Math" panose="02040503050406030204" pitchFamily="18" charset="0"/>
                                      <a:ea typeface="Calibri" panose="020F0502020204030204" pitchFamily="34" charset="0"/>
                                      <a:cs typeface="Arial" panose="020B0604020202020204" pitchFamily="34" charset="0"/>
                                    </a:rPr>
                                    <m:t>2</m:t>
                                  </m:r>
                                </m:den>
                              </m:f>
                            </m:sup>
                          </m:sSup>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d>
                                <m:dPr>
                                  <m:begChr m:val="|"/>
                                  <m:endChr m:val="|"/>
                                  <m:ctrlPr>
                                    <a:rPr lang="es-MX" sz="2400" i="1">
                                      <a:latin typeface="Cambria Math" panose="02040503050406030204" pitchFamily="18" charset="0"/>
                                      <a:ea typeface="Calibri" panose="020F0502020204030204" pitchFamily="34" charset="0"/>
                                      <a:cs typeface="Arial" panose="020B0604020202020204" pitchFamily="34" charset="0"/>
                                    </a:rPr>
                                  </m:ctrlPr>
                                </m:dPr>
                                <m:e>
                                  <m:r>
                                    <a:rPr lang="es-MX" sz="2400" i="1">
                                      <a:latin typeface="Cambria Math" panose="02040503050406030204" pitchFamily="18" charset="0"/>
                                      <a:ea typeface="Calibri" panose="020F0502020204030204" pitchFamily="34" charset="0"/>
                                      <a:cs typeface="Arial" panose="020B0604020202020204" pitchFamily="34" charset="0"/>
                                    </a:rPr>
                                    <m:t>𝑆</m:t>
                                  </m:r>
                                </m:e>
                              </m:d>
                            </m:e>
                            <m:sup>
                              <m:f>
                                <m:fPr>
                                  <m:ctrlPr>
                                    <a:rPr lang="es-MX" sz="2400" i="1">
                                      <a:latin typeface="Cambria Math" panose="02040503050406030204" pitchFamily="18" charset="0"/>
                                      <a:ea typeface="Calibri" panose="020F0502020204030204" pitchFamily="34" charset="0"/>
                                      <a:cs typeface="Arial" panose="020B0604020202020204" pitchFamily="34" charset="0"/>
                                    </a:rPr>
                                  </m:ctrlPr>
                                </m:fPr>
                                <m:num>
                                  <m:r>
                                    <a:rPr lang="es-MX" sz="2400" i="1">
                                      <a:latin typeface="Cambria Math" panose="02040503050406030204" pitchFamily="18" charset="0"/>
                                      <a:ea typeface="Calibri" panose="020F0502020204030204" pitchFamily="34" charset="0"/>
                                      <a:cs typeface="Arial" panose="020B0604020202020204" pitchFamily="34" charset="0"/>
                                    </a:rPr>
                                    <m:t>1</m:t>
                                  </m:r>
                                </m:num>
                                <m:den>
                                  <m:r>
                                    <a:rPr lang="es-MX" sz="2400" i="1">
                                      <a:latin typeface="Cambria Math" panose="02040503050406030204" pitchFamily="18" charset="0"/>
                                      <a:ea typeface="Calibri" panose="020F0502020204030204" pitchFamily="34" charset="0"/>
                                      <a:cs typeface="Arial" panose="020B0604020202020204" pitchFamily="34" charset="0"/>
                                    </a:rPr>
                                    <m:t>2</m:t>
                                  </m:r>
                                </m:den>
                              </m:f>
                            </m:sup>
                          </m:sSup>
                        </m:den>
                      </m:f>
                      <m:func>
                        <m:funcPr>
                          <m:ctrlPr>
                            <a:rPr lang="en-US" sz="2400">
                              <a:latin typeface="Cambria Math" panose="02040503050406030204" pitchFamily="18" charset="0"/>
                              <a:ea typeface="Calibri" panose="020F0502020204030204" pitchFamily="34" charset="0"/>
                              <a:cs typeface="Arial" panose="020B0604020202020204" pitchFamily="34" charset="0"/>
                            </a:rPr>
                          </m:ctrlPr>
                        </m:funcPr>
                        <m:fName>
                          <m:r>
                            <m:rPr>
                              <m:sty m:val="p"/>
                            </m:rPr>
                            <a:rPr lang="en-US" sz="2400">
                              <a:latin typeface="Cambria Math" panose="02040503050406030204" pitchFamily="18" charset="0"/>
                              <a:ea typeface="Calibri" panose="020F0502020204030204" pitchFamily="34" charset="0"/>
                              <a:cs typeface="Arial" panose="020B0604020202020204" pitchFamily="34" charset="0"/>
                            </a:rPr>
                            <m:t>exp</m:t>
                          </m:r>
                        </m:fName>
                        <m:e>
                          <m:d>
                            <m:dPr>
                              <m:ctrlPr>
                                <a:rPr lang="es-MX" sz="2400" i="1">
                                  <a:latin typeface="Cambria Math" panose="02040503050406030204" pitchFamily="18" charset="0"/>
                                  <a:ea typeface="Calibri" panose="020F0502020204030204" pitchFamily="34" charset="0"/>
                                  <a:cs typeface="Arial" panose="020B0604020202020204" pitchFamily="34" charset="0"/>
                                </a:rPr>
                              </m:ctrlPr>
                            </m:dPr>
                            <m:e>
                              <m:f>
                                <m:fPr>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−1</m:t>
                                  </m:r>
                                </m:num>
                                <m:den>
                                  <m:r>
                                    <a:rPr lang="en-US" sz="2400" i="1">
                                      <a:latin typeface="Cambria Math" panose="02040503050406030204" pitchFamily="18" charset="0"/>
                                      <a:ea typeface="Calibri" panose="020F0502020204030204" pitchFamily="34" charset="0"/>
                                      <a:cs typeface="Arial" panose="020B0604020202020204" pitchFamily="34" charset="0"/>
                                    </a:rPr>
                                    <m:t>2</m:t>
                                  </m:r>
                                </m:den>
                              </m:f>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d>
                                    <m:dPr>
                                      <m:ctrlPr>
                                        <a:rPr lang="en-US" sz="2400" i="1">
                                          <a:latin typeface="Cambria Math" panose="02040503050406030204" pitchFamily="18" charset="0"/>
                                          <a:ea typeface="Calibri" panose="020F0502020204030204" pitchFamily="34" charset="0"/>
                                          <a:cs typeface="Arial" panose="020B0604020202020204" pitchFamily="34"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𝑋</m:t>
                                      </m:r>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b="1" i="1">
                                          <a:latin typeface="Cambria Math" panose="02040503050406030204" pitchFamily="18" charset="0"/>
                                          <a:ea typeface="Calibri" panose="020F0502020204030204" pitchFamily="34" charset="0"/>
                                          <a:cs typeface="Arial" panose="020B0604020202020204" pitchFamily="34" charset="0"/>
                                        </a:rPr>
                                        <m:t>𝝁</m:t>
                                      </m:r>
                                    </m:e>
                                  </m:d>
                                </m:e>
                                <m:sup>
                                  <m:r>
                                    <a:rPr lang="en-US" sz="2400" i="1">
                                      <a:latin typeface="Cambria Math" panose="02040503050406030204" pitchFamily="18" charset="0"/>
                                      <a:ea typeface="Calibri" panose="020F0502020204030204" pitchFamily="34" charset="0"/>
                                      <a:cs typeface="Arial" panose="020B0604020202020204" pitchFamily="34" charset="0"/>
                                    </a:rPr>
                                    <m:t>𝑇</m:t>
                                  </m:r>
                                </m:sup>
                              </m:sSup>
                              <m:sSup>
                                <m:sSupPr>
                                  <m:ctrlPr>
                                    <a:rPr lang="en-US" sz="2400" i="1">
                                      <a:latin typeface="Cambria Math" panose="02040503050406030204" pitchFamily="18" charset="0"/>
                                      <a:ea typeface="Calibri" panose="020F0502020204030204" pitchFamily="34" charset="0"/>
                                      <a:cs typeface="Arial" panose="020B0604020202020204" pitchFamily="34" charset="0"/>
                                    </a:rPr>
                                  </m:ctrlPr>
                                </m:sSupPr>
                                <m:e>
                                  <m:r>
                                    <a:rPr lang="en-US" sz="2400" i="1">
                                      <a:latin typeface="Cambria Math" panose="02040503050406030204" pitchFamily="18" charset="0"/>
                                      <a:ea typeface="Calibri" panose="020F0502020204030204" pitchFamily="34" charset="0"/>
                                      <a:cs typeface="Arial" panose="020B0604020202020204" pitchFamily="34" charset="0"/>
                                    </a:rPr>
                                    <m:t>𝑆</m:t>
                                  </m:r>
                                </m:e>
                                <m:sup>
                                  <m:r>
                                    <a:rPr lang="en-US" sz="2400" i="1">
                                      <a:latin typeface="Cambria Math" panose="02040503050406030204" pitchFamily="18" charset="0"/>
                                      <a:ea typeface="Calibri" panose="020F0502020204030204" pitchFamily="34" charset="0"/>
                                      <a:cs typeface="Arial" panose="020B0604020202020204" pitchFamily="34" charset="0"/>
                                    </a:rPr>
                                    <m:t>−1</m:t>
                                  </m:r>
                                </m:sup>
                              </m:sSup>
                              <m:d>
                                <m:dPr>
                                  <m:ctrlPr>
                                    <a:rPr lang="en-US" sz="2400" i="1">
                                      <a:latin typeface="Cambria Math" panose="02040503050406030204" pitchFamily="18" charset="0"/>
                                      <a:ea typeface="Calibri" panose="020F0502020204030204" pitchFamily="34" charset="0"/>
                                      <a:cs typeface="Arial" panose="020B0604020202020204" pitchFamily="34"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𝑋</m:t>
                                  </m:r>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b="1" i="1">
                                      <a:latin typeface="Cambria Math" panose="02040503050406030204" pitchFamily="18" charset="0"/>
                                      <a:ea typeface="Calibri" panose="020F0502020204030204" pitchFamily="34" charset="0"/>
                                      <a:cs typeface="Arial" panose="020B0604020202020204" pitchFamily="34" charset="0"/>
                                    </a:rPr>
                                    <m:t>𝝁</m:t>
                                  </m:r>
                                </m:e>
                              </m:d>
                            </m:e>
                          </m:d>
                        </m:e>
                      </m:func>
                    </m:oMath>
                  </m:oMathPara>
                </a14:m>
                <a:endParaRPr lang="es-MX" sz="1800" dirty="0">
                  <a:ea typeface="Calibri" panose="020F0502020204030204" pitchFamily="34" charset="0"/>
                  <a:cs typeface="Arial" panose="020B0604020202020204" pitchFamily="34" charset="0"/>
                </a:endParaRPr>
              </a:p>
              <a:p>
                <a:pPr>
                  <a:lnSpc>
                    <a:spcPct val="107000"/>
                  </a:lnSpc>
                  <a:spcAft>
                    <a:spcPts val="800"/>
                  </a:spcAft>
                </a:pPr>
                <a:endParaRPr lang="en-US" sz="2400" i="1" dirty="0">
                  <a:latin typeface="Cambria Math" panose="02040503050406030204" pitchFamily="18" charset="0"/>
                  <a:ea typeface="Calibri" panose="020F0502020204030204" pitchFamily="34" charset="0"/>
                  <a:cs typeface="Arial" panose="020B0604020202020204" pitchFamily="34" charset="0"/>
                </a:endParaRPr>
              </a:p>
            </p:txBody>
          </p:sp>
        </mc:Choice>
        <mc:Fallback xmlns="">
          <p:sp>
            <p:nvSpPr>
              <p:cNvPr id="3" name="Marcador de contenido 2">
                <a:extLst>
                  <a:ext uri="{FF2B5EF4-FFF2-40B4-BE49-F238E27FC236}">
                    <a16:creationId xmlns:a16="http://schemas.microsoft.com/office/drawing/2014/main" id="{6CD45927-6E15-63BC-A6AF-5877D0AA5E7E}"/>
                  </a:ext>
                </a:extLst>
              </p:cNvPr>
              <p:cNvSpPr>
                <a:spLocks noGrp="1" noRot="1" noChangeAspect="1" noMove="1" noResize="1" noEditPoints="1" noAdjustHandles="1" noChangeArrowheads="1" noChangeShapeType="1" noTextEdit="1"/>
              </p:cNvSpPr>
              <p:nvPr>
                <p:ph idx="1"/>
              </p:nvPr>
            </p:nvSpPr>
            <p:spPr>
              <a:xfrm>
                <a:off x="459350" y="1897625"/>
                <a:ext cx="11274249" cy="4404851"/>
              </a:xfrm>
              <a:blipFill>
                <a:blip r:embed="rId2"/>
                <a:stretch>
                  <a:fillRect l="-703" t="-1383"/>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D78FF030-A3D4-3CB2-2F5E-59E405E722CD}"/>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33</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5246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B3FA1AAC-C1ED-4F77-BFA4-BE80FC0AC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5C38781-C611-2D6B-B8E5-C5E224E9D4E5}"/>
                  </a:ext>
                </a:extLst>
              </p:cNvPr>
              <p:cNvSpPr>
                <a:spLocks noGrp="1"/>
              </p:cNvSpPr>
              <p:nvPr>
                <p:ph idx="1"/>
              </p:nvPr>
            </p:nvSpPr>
            <p:spPr>
              <a:xfrm>
                <a:off x="1388210" y="824249"/>
                <a:ext cx="10316110" cy="3837904"/>
              </a:xfrm>
            </p:spPr>
            <p:txBody>
              <a:bodyPr anchor="ctr">
                <a:normAutofit/>
              </a:bodyPr>
              <a:lstStyle/>
              <a:p>
                <a:pPr marL="0" indent="0">
                  <a:spcAft>
                    <a:spcPts val="800"/>
                  </a:spcAft>
                  <a:buNone/>
                </a:pPr>
                <a:r>
                  <a:rPr lang="es-MX" sz="2400" i="1" dirty="0">
                    <a:latin typeface="Cambria Math" panose="02040503050406030204" pitchFamily="18" charset="0"/>
                    <a:ea typeface="Calibri" panose="020F0502020204030204" pitchFamily="34" charset="0"/>
                    <a:cs typeface="Arial" panose="020B0604020202020204" pitchFamily="34" charset="0"/>
                  </a:rPr>
                  <a:t>La covarianza esta definida como:</a:t>
                </a:r>
                <a:endParaRPr lang="en-US" sz="2400" i="1" dirty="0">
                  <a:latin typeface="Cambria Math" panose="02040503050406030204" pitchFamily="18" charset="0"/>
                  <a:ea typeface="Calibri" panose="020F0502020204030204" pitchFamily="34" charset="0"/>
                  <a:cs typeface="Arial" panose="020B0604020202020204" pitchFamily="34" charset="0"/>
                </a:endParaRPr>
              </a:p>
              <a:p>
                <a:pPr marL="0" indent="0">
                  <a:spcAft>
                    <a:spcPts val="800"/>
                  </a:spcAft>
                  <a:buNone/>
                </a:pPr>
                <a14:m>
                  <m:oMathPara xmlns:m="http://schemas.openxmlformats.org/officeDocument/2006/math">
                    <m:oMath>
                      <m:r>
                        <a:rPr lang="en-US" sz="2400" i="1">
                          <a:latin typeface="Cambria Math" panose="02040503050406030204" pitchFamily="18" charset="0"/>
                          <a:ea typeface="Calibri" panose="020F0502020204030204" pitchFamily="34" charset="0"/>
                          <a:cs typeface="Arial" panose="020B0604020202020204" pitchFamily="34" charset="0"/>
                        </a:rPr>
                        <m:t>𝑆</m:t>
                      </m:r>
                      <m:r>
                        <a:rPr lang="en-US" sz="2400" i="1">
                          <a:latin typeface="Cambria Math" panose="02040503050406030204" pitchFamily="18" charset="0"/>
                          <a:ea typeface="Calibri" panose="020F0502020204030204" pitchFamily="34" charset="0"/>
                          <a:cs typeface="Arial" panose="020B0604020202020204" pitchFamily="34" charset="0"/>
                        </a:rPr>
                        <m:t>=</m:t>
                      </m:r>
                      <m:f>
                        <m:fPr>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1</m:t>
                          </m:r>
                        </m:num>
                        <m:den>
                          <m:r>
                            <a:rPr lang="en-US" sz="2400" i="1">
                              <a:latin typeface="Cambria Math" panose="02040503050406030204" pitchFamily="18" charset="0"/>
                              <a:ea typeface="Calibri" panose="020F0502020204030204" pitchFamily="34" charset="0"/>
                              <a:cs typeface="Arial" panose="020B0604020202020204" pitchFamily="34" charset="0"/>
                            </a:rPr>
                            <m:t>𝑁</m:t>
                          </m:r>
                        </m:den>
                      </m:f>
                      <m:nary>
                        <m:naryPr>
                          <m:chr m:val="∑"/>
                          <m:limLoc m:val="undOvr"/>
                          <m:ctrlPr>
                            <a:rPr lang="es-MX" sz="2400" i="1">
                              <a:latin typeface="Cambria Math" panose="02040503050406030204" pitchFamily="18" charset="0"/>
                              <a:ea typeface="Calibri" panose="020F0502020204030204" pitchFamily="34" charset="0"/>
                              <a:cs typeface="Arial" panose="020B0604020202020204" pitchFamily="34" charset="0"/>
                            </a:rPr>
                          </m:ctrlPr>
                        </m:naryPr>
                        <m:sub>
                          <m:r>
                            <m:rPr>
                              <m:brk/>
                            </m:rPr>
                            <a:rPr lang="es-MX" sz="2400" i="1">
                              <a:latin typeface="Cambria Math" panose="02040503050406030204" pitchFamily="18" charset="0"/>
                              <a:ea typeface="Calibri" panose="020F0502020204030204" pitchFamily="34" charset="0"/>
                              <a:cs typeface="Arial" panose="020B0604020202020204" pitchFamily="34" charset="0"/>
                            </a:rPr>
                            <m:t>𝑖</m:t>
                          </m:r>
                          <m:r>
                            <a:rPr lang="es-MX"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1</m:t>
                          </m:r>
                        </m:sub>
                        <m:sup>
                          <m:r>
                            <a:rPr lang="en-US" sz="2400" i="1">
                              <a:latin typeface="Cambria Math" panose="02040503050406030204" pitchFamily="18" charset="0"/>
                              <a:ea typeface="Calibri" panose="020F0502020204030204" pitchFamily="34" charset="0"/>
                              <a:cs typeface="Arial" panose="020B0604020202020204" pitchFamily="34" charset="0"/>
                            </a:rPr>
                            <m:t>𝑁</m:t>
                          </m:r>
                        </m:sup>
                        <m:e>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d>
                                <m:dPr>
                                  <m:ctrlPr>
                                    <a:rPr lang="es-MX" sz="24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𝑋</m:t>
                                      </m:r>
                                    </m:e>
                                    <m:sub>
                                      <m:r>
                                        <a:rPr lang="en-US" sz="2400" i="1">
                                          <a:latin typeface="Cambria Math" panose="02040503050406030204" pitchFamily="18" charset="0"/>
                                          <a:ea typeface="Calibri" panose="020F0502020204030204" pitchFamily="34" charset="0"/>
                                          <a:cs typeface="Arial" panose="020B0604020202020204" pitchFamily="34" charset="0"/>
                                        </a:rPr>
                                        <m:t>𝑖</m:t>
                                      </m:r>
                                    </m:sub>
                                  </m:sSub>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b="1" i="1">
                                      <a:latin typeface="Cambria Math" panose="02040503050406030204" pitchFamily="18" charset="0"/>
                                      <a:ea typeface="Calibri" panose="020F0502020204030204" pitchFamily="34" charset="0"/>
                                      <a:cs typeface="Arial" panose="020B0604020202020204" pitchFamily="34" charset="0"/>
                                    </a:rPr>
                                    <m:t>𝝁</m:t>
                                  </m:r>
                                </m:e>
                              </m:d>
                              <m:d>
                                <m:dPr>
                                  <m:ctrlPr>
                                    <a:rPr lang="es-MX" sz="24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𝑋</m:t>
                                      </m:r>
                                    </m:e>
                                    <m:sub>
                                      <m:r>
                                        <a:rPr lang="en-US" sz="2400" i="1">
                                          <a:latin typeface="Cambria Math" panose="02040503050406030204" pitchFamily="18" charset="0"/>
                                          <a:ea typeface="Calibri" panose="020F0502020204030204" pitchFamily="34" charset="0"/>
                                          <a:cs typeface="Arial" panose="020B0604020202020204" pitchFamily="34" charset="0"/>
                                        </a:rPr>
                                        <m:t>𝑖</m:t>
                                      </m:r>
                                    </m:sub>
                                  </m:sSub>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b="1" i="1">
                                      <a:latin typeface="Cambria Math" panose="02040503050406030204" pitchFamily="18" charset="0"/>
                                      <a:ea typeface="Calibri" panose="020F0502020204030204" pitchFamily="34" charset="0"/>
                                      <a:cs typeface="Arial" panose="020B0604020202020204" pitchFamily="34" charset="0"/>
                                    </a:rPr>
                                    <m:t>𝝁</m:t>
                                  </m:r>
                                </m:e>
                              </m:d>
                            </m:e>
                            <m:sup>
                              <m:r>
                                <a:rPr lang="en-US" sz="2400" i="1">
                                  <a:latin typeface="Cambria Math" panose="02040503050406030204" pitchFamily="18" charset="0"/>
                                  <a:ea typeface="Calibri" panose="020F0502020204030204" pitchFamily="34" charset="0"/>
                                  <a:cs typeface="Arial" panose="020B0604020202020204" pitchFamily="34" charset="0"/>
                                </a:rPr>
                                <m:t>𝑇</m:t>
                              </m:r>
                            </m:sup>
                          </m:sSup>
                        </m:e>
                      </m:nary>
                    </m:oMath>
                  </m:oMathPara>
                </a14:m>
                <a:endParaRPr lang="es-MX" sz="2400" dirty="0"/>
              </a:p>
              <a:p>
                <a:pPr>
                  <a:spcAft>
                    <a:spcPts val="800"/>
                  </a:spcAft>
                </a:pPr>
                <a:r>
                  <a:rPr lang="es-MX" sz="2400" dirty="0">
                    <a:latin typeface="Calibri" panose="020F0502020204030204" pitchFamily="34" charset="0"/>
                    <a:ea typeface="Calibri" panose="020F0502020204030204" pitchFamily="34" charset="0"/>
                    <a:cs typeface="Arial" panose="020B0604020202020204" pitchFamily="34" charset="0"/>
                  </a:rPr>
                  <a:t>Donde N es el numero de muestras, </a:t>
                </a:r>
                <a14:m>
                  <m:oMath xmlns:m="http://schemas.openxmlformats.org/officeDocument/2006/math">
                    <m:r>
                      <a:rPr lang="en-US" sz="2400" b="1" i="1">
                        <a:latin typeface="Cambria Math" panose="02040503050406030204" pitchFamily="18" charset="0"/>
                        <a:ea typeface="Calibri" panose="020F0502020204030204" pitchFamily="34" charset="0"/>
                        <a:cs typeface="Arial" panose="020B0604020202020204" pitchFamily="34" charset="0"/>
                      </a:rPr>
                      <m:t>𝝁</m:t>
                    </m:r>
                    <m:r>
                      <a:rPr lang="es-MX" sz="2400">
                        <a:latin typeface="Cambria Math" panose="02040503050406030204" pitchFamily="18" charset="0"/>
                        <a:ea typeface="Calibri" panose="020F0502020204030204" pitchFamily="34" charset="0"/>
                        <a:cs typeface="Arial" panose="020B0604020202020204" pitchFamily="34" charset="0"/>
                      </a:rPr>
                      <m:t> </m:t>
                    </m:r>
                    <m:r>
                      <m:rPr>
                        <m:sty m:val="p"/>
                      </m:rPr>
                      <a:rPr lang="es-MX" sz="2400">
                        <a:latin typeface="Cambria Math" panose="02040503050406030204" pitchFamily="18" charset="0"/>
                        <a:ea typeface="Calibri" panose="020F0502020204030204" pitchFamily="34" charset="0"/>
                        <a:cs typeface="Arial" panose="020B0604020202020204" pitchFamily="34" charset="0"/>
                      </a:rPr>
                      <m:t>es</m:t>
                    </m:r>
                  </m:oMath>
                </a14:m>
                <a:r>
                  <a:rPr lang="es-MX" sz="2400" dirty="0">
                    <a:latin typeface="Calibri" panose="020F0502020204030204" pitchFamily="34" charset="0"/>
                    <a:ea typeface="Calibri" panose="020F0502020204030204" pitchFamily="34" charset="0"/>
                    <a:cs typeface="Arial" panose="020B0604020202020204" pitchFamily="34" charset="0"/>
                  </a:rPr>
                  <a:t>  la media de los datos, </a:t>
                </a:r>
                <a14:m>
                  <m:oMath xmlns:m="http://schemas.openxmlformats.org/officeDocument/2006/math">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𝑋</m:t>
                        </m:r>
                      </m:e>
                      <m:sub>
                        <m:r>
                          <a:rPr lang="en-US" sz="2400" i="1">
                            <a:latin typeface="Cambria Math" panose="02040503050406030204" pitchFamily="18" charset="0"/>
                            <a:ea typeface="Calibri" panose="020F0502020204030204" pitchFamily="34" charset="0"/>
                            <a:cs typeface="Arial" panose="020B0604020202020204" pitchFamily="34" charset="0"/>
                          </a:rPr>
                          <m:t>𝑖</m:t>
                        </m:r>
                      </m:sub>
                    </m:sSub>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𝑒𝑠</m:t>
                    </m:r>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𝑢𝑛</m:t>
                    </m:r>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𝑣𝑒𝑐𝑡𝑜𝑟</m:t>
                    </m:r>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𝑐𝑜𝑛</m:t>
                    </m:r>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𝑙𝑎</m:t>
                    </m:r>
                    <m:r>
                      <a:rPr lang="es-MX" sz="2400" i="1">
                        <a:latin typeface="Cambria Math" panose="02040503050406030204" pitchFamily="18" charset="0"/>
                        <a:ea typeface="Calibri" panose="020F0502020204030204" pitchFamily="34" charset="0"/>
                        <a:cs typeface="Arial" panose="020B0604020202020204" pitchFamily="34" charset="0"/>
                      </a:rPr>
                      <m:t> </m:t>
                    </m:r>
                    <m:r>
                      <a:rPr lang="es-MX" sz="2400" i="1">
                        <a:latin typeface="Cambria Math" panose="02040503050406030204" pitchFamily="18" charset="0"/>
                        <a:ea typeface="Calibri" panose="020F0502020204030204" pitchFamily="34" charset="0"/>
                        <a:cs typeface="Arial" panose="020B0604020202020204" pitchFamily="34" charset="0"/>
                      </a:rPr>
                      <m:t>𝑖𝑛𝑓𝑜𝑟𝑚𝑎𝑐𝑖𝑜𝑛</m:t>
                    </m:r>
                    <m:r>
                      <a:rPr lang="es-MX" sz="2400" b="0" i="1">
                        <a:latin typeface="Cambria Math" panose="02040503050406030204" pitchFamily="18" charset="0"/>
                        <a:ea typeface="Calibri" panose="020F0502020204030204" pitchFamily="34" charset="0"/>
                        <a:cs typeface="Arial" panose="020B0604020202020204" pitchFamily="34" charset="0"/>
                      </a:rPr>
                      <m:t> </m:t>
                    </m:r>
                    <m:r>
                      <m:rPr>
                        <m:sty m:val="p"/>
                      </m:rPr>
                      <a:rPr lang="es-MX" sz="2400" b="0" i="1">
                        <a:latin typeface="Cambria Math" panose="02040503050406030204" pitchFamily="18" charset="0"/>
                        <a:ea typeface="Calibri" panose="020F0502020204030204" pitchFamily="34" charset="0"/>
                        <a:cs typeface="Arial" panose="020B0604020202020204" pitchFamily="34" charset="0"/>
                      </a:rPr>
                      <m:t>del</m:t>
                    </m:r>
                    <m:r>
                      <a:rPr lang="es-MX" sz="2400" b="0" i="1">
                        <a:latin typeface="Cambria Math" panose="02040503050406030204" pitchFamily="18" charset="0"/>
                        <a:ea typeface="Calibri" panose="020F0502020204030204" pitchFamily="34" charset="0"/>
                        <a:cs typeface="Arial" panose="020B0604020202020204" pitchFamily="34" charset="0"/>
                      </a:rPr>
                      <m:t> </m:t>
                    </m:r>
                    <m:r>
                      <m:rPr>
                        <m:sty m:val="p"/>
                      </m:rPr>
                      <a:rPr lang="es-MX" sz="2400" b="0" i="1">
                        <a:latin typeface="Cambria Math" panose="02040503050406030204" pitchFamily="18" charset="0"/>
                        <a:ea typeface="Calibri" panose="020F0502020204030204" pitchFamily="34" charset="0"/>
                        <a:cs typeface="Arial" panose="020B0604020202020204" pitchFamily="34" charset="0"/>
                      </a:rPr>
                      <m:t>patron</m:t>
                    </m:r>
                  </m:oMath>
                </a14:m>
                <a:endParaRPr lang="es-MX" sz="2400" dirty="0"/>
              </a:p>
            </p:txBody>
          </p:sp>
        </mc:Choice>
        <mc:Fallback xmlns="">
          <p:sp>
            <p:nvSpPr>
              <p:cNvPr id="3" name="Marcador de contenido 2">
                <a:extLst>
                  <a:ext uri="{FF2B5EF4-FFF2-40B4-BE49-F238E27FC236}">
                    <a16:creationId xmlns:a16="http://schemas.microsoft.com/office/drawing/2014/main" id="{A5C38781-C611-2D6B-B8E5-C5E224E9D4E5}"/>
                  </a:ext>
                </a:extLst>
              </p:cNvPr>
              <p:cNvSpPr>
                <a:spLocks noGrp="1" noRot="1" noChangeAspect="1" noMove="1" noResize="1" noEditPoints="1" noAdjustHandles="1" noChangeArrowheads="1" noChangeShapeType="1" noTextEdit="1"/>
              </p:cNvSpPr>
              <p:nvPr>
                <p:ph idx="1"/>
              </p:nvPr>
            </p:nvSpPr>
            <p:spPr>
              <a:xfrm>
                <a:off x="1388210" y="824249"/>
                <a:ext cx="10316110" cy="3837904"/>
              </a:xfrm>
              <a:blipFill>
                <a:blip r:embed="rId2"/>
                <a:stretch>
                  <a:fillRect l="-946"/>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3D21EA7D-E97F-99B2-A92A-04628580BDF4}"/>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34</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3930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20275D-3B8A-AFC1-3804-1B99B950B1FC}"/>
                  </a:ext>
                </a:extLst>
              </p:cNvPr>
              <p:cNvSpPr>
                <a:spLocks noGrp="1"/>
              </p:cNvSpPr>
              <p:nvPr>
                <p:ph idx="1"/>
              </p:nvPr>
            </p:nvSpPr>
            <p:spPr>
              <a:xfrm>
                <a:off x="816077" y="1590740"/>
                <a:ext cx="11021962" cy="5124691"/>
              </a:xfrm>
            </p:spPr>
            <p:txBody>
              <a:bodyPr anchor="ctr">
                <a:normAutofit/>
              </a:bodyPr>
              <a:lstStyle/>
              <a:p>
                <a:pPr marL="0" indent="0">
                  <a:buNone/>
                </a:pPr>
                <a14:m>
                  <m:oMathPara xmlns:m="http://schemas.openxmlformats.org/officeDocument/2006/math">
                    <m:oMath>
                      <m:d>
                        <m:dPr>
                          <m:begChr m:val=""/>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a:rPr lang="es-MX" sz="2400" i="1">
                                  <a:latin typeface="Cambria Math" panose="02040503050406030204" pitchFamily="18" charset="0"/>
                                </a:rPr>
                                <m:t>𝑌</m:t>
                              </m:r>
                            </m:e>
                            <m:sub>
                              <m:r>
                                <a:rPr lang="es-MX" sz="2400" i="1">
                                  <a:latin typeface="Cambria Math" panose="02040503050406030204" pitchFamily="18" charset="0"/>
                                </a:rPr>
                                <m:t>𝑘</m:t>
                              </m:r>
                            </m:sub>
                          </m:sSub>
                          <m:r>
                            <a:rPr lang="es-MX" sz="2400">
                              <a:latin typeface="Cambria Math" panose="02040503050406030204" pitchFamily="18" charset="0"/>
                            </a:rPr>
                            <m:t>=</m:t>
                          </m:r>
                          <m:r>
                            <a:rPr lang="es-MX" sz="2400" i="1">
                              <a:latin typeface="Cambria Math" panose="02040503050406030204" pitchFamily="18" charset="0"/>
                            </a:rPr>
                            <m:t>𝑃</m:t>
                          </m:r>
                          <m:r>
                            <a:rPr lang="es-MX" sz="2400">
                              <a:latin typeface="Cambria Math" panose="02040503050406030204" pitchFamily="18" charset="0"/>
                            </a:rPr>
                            <m:t>(</m:t>
                          </m:r>
                          <m:f>
                            <m:fPr>
                              <m:type m:val="lin"/>
                              <m:ctrlPr>
                                <a:rPr lang="es-MX" sz="2400" i="1">
                                  <a:latin typeface="Cambria Math" panose="02040503050406030204" pitchFamily="18" charset="0"/>
                                </a:rPr>
                              </m:ctrlPr>
                            </m:fPr>
                            <m:num>
                              <m:r>
                                <a:rPr lang="es-MX" sz="2400" i="1">
                                  <a:latin typeface="Cambria Math" panose="02040503050406030204" pitchFamily="18" charset="0"/>
                                </a:rPr>
                                <m:t>𝑋</m:t>
                              </m:r>
                            </m:num>
                            <m:den>
                              <m:sSub>
                                <m:sSubPr>
                                  <m:ctrlPr>
                                    <a:rPr lang="es-MX" sz="2400" i="1">
                                      <a:latin typeface="Cambria Math" panose="02040503050406030204" pitchFamily="18" charset="0"/>
                                    </a:rPr>
                                  </m:ctrlPr>
                                </m:sSubPr>
                                <m:e>
                                  <m:r>
                                    <a:rPr lang="es-MX" sz="2400" i="1">
                                      <a:latin typeface="Cambria Math" panose="02040503050406030204" pitchFamily="18" charset="0"/>
                                    </a:rPr>
                                    <m:t>𝐶</m:t>
                                  </m:r>
                                </m:e>
                                <m:sub>
                                  <m:r>
                                    <a:rPr lang="es-MX" sz="2400" i="1">
                                      <a:latin typeface="Cambria Math" panose="02040503050406030204" pitchFamily="18" charset="0"/>
                                    </a:rPr>
                                    <m:t>𝑘</m:t>
                                  </m:r>
                                </m:sub>
                              </m:sSub>
                            </m:den>
                          </m:f>
                          <m:r>
                            <a:rPr lang="es-MX" sz="2400">
                              <a:latin typeface="Cambria Math" panose="02040503050406030204" pitchFamily="18" charset="0"/>
                            </a:rPr>
                            <m:t>)</m:t>
                          </m:r>
                          <m:r>
                            <a:rPr lang="es-MX" sz="2400" i="1">
                              <a:latin typeface="Cambria Math" panose="02040503050406030204" pitchFamily="18" charset="0"/>
                            </a:rPr>
                            <m:t>𝑃</m:t>
                          </m:r>
                          <m:r>
                            <a:rPr lang="es-MX" sz="2400">
                              <a:latin typeface="Cambria Math" panose="02040503050406030204" pitchFamily="18" charset="0"/>
                            </a:rPr>
                            <m:t>(</m:t>
                          </m:r>
                          <m:sSub>
                            <m:sSubPr>
                              <m:ctrlPr>
                                <a:rPr lang="es-MX" sz="2400" i="1">
                                  <a:latin typeface="Cambria Math" panose="02040503050406030204" pitchFamily="18" charset="0"/>
                                </a:rPr>
                              </m:ctrlPr>
                            </m:sSubPr>
                            <m:e>
                              <m:r>
                                <a:rPr lang="es-MX" sz="2400" i="1">
                                  <a:latin typeface="Cambria Math" panose="02040503050406030204" pitchFamily="18" charset="0"/>
                                </a:rPr>
                                <m:t>𝐶</m:t>
                              </m:r>
                            </m:e>
                            <m:sub>
                              <m:r>
                                <a:rPr lang="es-MX" sz="2400" i="1">
                                  <a:latin typeface="Cambria Math" panose="02040503050406030204" pitchFamily="18" charset="0"/>
                                </a:rPr>
                                <m:t>𝑘</m:t>
                              </m:r>
                            </m:sub>
                          </m:sSub>
                        </m:e>
                      </m:d>
                    </m:oMath>
                  </m:oMathPara>
                </a14:m>
                <a:endParaRPr lang="es-MX" sz="2400" dirty="0"/>
              </a:p>
              <a:p>
                <a:pPr marL="0" indent="0">
                  <a:buNone/>
                </a:pPr>
                <a:endParaRPr lang="es-MX" sz="2400" dirty="0"/>
              </a:p>
              <a:p>
                <a:pPr marL="0" indent="0">
                  <a:spcAft>
                    <a:spcPts val="800"/>
                  </a:spcAft>
                  <a:buNone/>
                </a:pPr>
                <a14:m>
                  <m:oMathPara xmlns:m="http://schemas.openxmlformats.org/officeDocument/2006/math">
                    <m:oMath>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𝑌</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𝐺</m:t>
                          </m:r>
                        </m:e>
                        <m:sub>
                          <m:r>
                            <a:rPr lang="en-US" sz="2400" i="1">
                              <a:latin typeface="Cambria Math" panose="02040503050406030204" pitchFamily="18" charset="0"/>
                              <a:ea typeface="Calibri" panose="020F0502020204030204" pitchFamily="34" charset="0"/>
                              <a:cs typeface="Arial" panose="020B0604020202020204" pitchFamily="34" charset="0"/>
                            </a:rPr>
                            <m:t>𝑁</m:t>
                          </m:r>
                        </m:sub>
                      </m:sSub>
                      <m:r>
                        <a:rPr lang="en-US" sz="2400" i="1">
                          <a:latin typeface="Cambria Math" panose="02040503050406030204" pitchFamily="18" charset="0"/>
                          <a:ea typeface="Calibri" panose="020F0502020204030204" pitchFamily="34" charset="0"/>
                          <a:cs typeface="Arial" panose="020B0604020202020204" pitchFamily="34" charset="0"/>
                        </a:rPr>
                        <m:t>𝑃</m:t>
                      </m:r>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𝐶</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r>
                        <a:rPr lang="en-US" sz="24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400" dirty="0">
                  <a:ea typeface="Calibri" panose="020F0502020204030204" pitchFamily="34" charset="0"/>
                  <a:cs typeface="Arial" panose="020B0604020202020204" pitchFamily="34" charset="0"/>
                </a:endParaRPr>
              </a:p>
              <a:p>
                <a:pPr marL="0" indent="0">
                  <a:spcAft>
                    <a:spcPts val="800"/>
                  </a:spcAft>
                  <a:buNone/>
                </a:pPr>
                <a:endParaRPr lang="es-MX" sz="2400" dirty="0">
                  <a:ea typeface="Calibri" panose="020F0502020204030204" pitchFamily="34" charset="0"/>
                  <a:cs typeface="Arial" panose="020B0604020202020204" pitchFamily="34" charset="0"/>
                </a:endParaRPr>
              </a:p>
              <a:p>
                <a:pPr marL="0" indent="0">
                  <a:spcAft>
                    <a:spcPts val="800"/>
                  </a:spcAft>
                  <a:buNone/>
                </a:pPr>
                <a14:m>
                  <m:oMathPara xmlns:m="http://schemas.openxmlformats.org/officeDocument/2006/math">
                    <m:oMath>
                      <m:r>
                        <a:rPr lang="en-US" sz="2400" i="1">
                          <a:latin typeface="Cambria Math" panose="02040503050406030204" pitchFamily="18" charset="0"/>
                          <a:ea typeface="Calibri" panose="020F0502020204030204" pitchFamily="34" charset="0"/>
                          <a:cs typeface="Arial" panose="020B0604020202020204" pitchFamily="34" charset="0"/>
                        </a:rPr>
                        <m:t>𝑙𝑛</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𝑌</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𝑙𝑛</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𝐺</m:t>
                          </m:r>
                        </m:e>
                        <m:sub>
                          <m:r>
                            <a:rPr lang="en-US" sz="2400" i="1">
                              <a:latin typeface="Cambria Math" panose="02040503050406030204" pitchFamily="18" charset="0"/>
                              <a:ea typeface="Calibri" panose="020F0502020204030204" pitchFamily="34" charset="0"/>
                              <a:cs typeface="Arial" panose="020B0604020202020204" pitchFamily="34" charset="0"/>
                            </a:rPr>
                            <m:t>𝑁</m:t>
                          </m:r>
                        </m:sub>
                      </m:sSub>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𝑙𝑛𝑃</m:t>
                      </m:r>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𝐶</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r>
                        <a:rPr lang="en-US" sz="24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400" dirty="0">
                  <a:ea typeface="Calibri" panose="020F0502020204030204" pitchFamily="34" charset="0"/>
                  <a:cs typeface="Arial" panose="020B0604020202020204" pitchFamily="34" charset="0"/>
                </a:endParaRPr>
              </a:p>
              <a:p>
                <a:pPr marL="0" indent="0">
                  <a:spcAft>
                    <a:spcPts val="800"/>
                  </a:spcAft>
                  <a:buNone/>
                </a:pPr>
                <a14:m>
                  <m:oMathPara xmlns:m="http://schemas.openxmlformats.org/officeDocument/2006/math">
                    <m:oMath>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𝑌</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d>
                        <m:dPr>
                          <m:ctrlPr>
                            <a:rPr lang="en-US" sz="2400" i="1">
                              <a:latin typeface="Cambria Math" panose="02040503050406030204" pitchFamily="18" charset="0"/>
                              <a:ea typeface="Calibri" panose="020F0502020204030204" pitchFamily="34" charset="0"/>
                              <a:cs typeface="Arial" panose="020B0604020202020204" pitchFamily="34"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𝑋</m:t>
                          </m:r>
                        </m:e>
                      </m:d>
                      <m:r>
                        <a:rPr lang="en-US" sz="2400" i="1">
                          <a:latin typeface="Cambria Math" panose="02040503050406030204" pitchFamily="18" charset="0"/>
                          <a:ea typeface="Calibri" panose="020F0502020204030204" pitchFamily="34" charset="0"/>
                          <a:cs typeface="Arial" panose="020B0604020202020204" pitchFamily="34" charset="0"/>
                        </a:rPr>
                        <m:t>=</m:t>
                      </m:r>
                      <m:f>
                        <m:fPr>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−1</m:t>
                          </m:r>
                        </m:num>
                        <m:den>
                          <m:r>
                            <a:rPr lang="en-US" sz="2400" i="1">
                              <a:latin typeface="Cambria Math" panose="02040503050406030204" pitchFamily="18" charset="0"/>
                              <a:ea typeface="Calibri" panose="020F0502020204030204" pitchFamily="34" charset="0"/>
                              <a:cs typeface="Arial" panose="020B0604020202020204" pitchFamily="34" charset="0"/>
                            </a:rPr>
                            <m:t>2</m:t>
                          </m:r>
                        </m:den>
                      </m:f>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d>
                            <m:dPr>
                              <m:ctrlPr>
                                <a:rPr lang="en-US" sz="2400" i="1">
                                  <a:latin typeface="Cambria Math" panose="02040503050406030204" pitchFamily="18" charset="0"/>
                                  <a:ea typeface="Calibri" panose="020F0502020204030204" pitchFamily="34" charset="0"/>
                                  <a:cs typeface="Arial" panose="020B0604020202020204" pitchFamily="34"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𝑋</m:t>
                              </m:r>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b="1" i="1">
                                      <a:latin typeface="Cambria Math" panose="02040503050406030204" pitchFamily="18" charset="0"/>
                                      <a:ea typeface="Calibri" panose="020F0502020204030204" pitchFamily="34" charset="0"/>
                                      <a:cs typeface="Arial" panose="020B0604020202020204" pitchFamily="34" charset="0"/>
                                    </a:rPr>
                                  </m:ctrlPr>
                                </m:sSubPr>
                                <m:e>
                                  <m:r>
                                    <a:rPr lang="en-US" sz="2400" b="1" i="1">
                                      <a:latin typeface="Cambria Math" panose="02040503050406030204" pitchFamily="18" charset="0"/>
                                      <a:ea typeface="Calibri" panose="020F0502020204030204" pitchFamily="34" charset="0"/>
                                      <a:cs typeface="Arial" panose="020B0604020202020204" pitchFamily="34" charset="0"/>
                                    </a:rPr>
                                    <m:t>𝝁</m:t>
                                  </m:r>
                                </m:e>
                                <m:sub>
                                  <m:r>
                                    <a:rPr lang="en-US" sz="2400" b="1" i="1">
                                      <a:latin typeface="Cambria Math" panose="02040503050406030204" pitchFamily="18" charset="0"/>
                                      <a:ea typeface="Calibri" panose="020F0502020204030204" pitchFamily="34" charset="0"/>
                                      <a:cs typeface="Arial" panose="020B0604020202020204" pitchFamily="34" charset="0"/>
                                    </a:rPr>
                                    <m:t>𝒌</m:t>
                                  </m:r>
                                </m:sub>
                              </m:sSub>
                            </m:e>
                          </m:d>
                        </m:e>
                        <m:sup>
                          <m:r>
                            <a:rPr lang="en-US" sz="2400" i="1">
                              <a:latin typeface="Cambria Math" panose="02040503050406030204" pitchFamily="18" charset="0"/>
                              <a:ea typeface="Calibri" panose="020F0502020204030204" pitchFamily="34" charset="0"/>
                              <a:cs typeface="Arial" panose="020B0604020202020204" pitchFamily="34" charset="0"/>
                            </a:rPr>
                            <m:t>𝑇</m:t>
                          </m:r>
                        </m:sup>
                      </m:sSup>
                      <m:sSup>
                        <m:sSupPr>
                          <m:ctrlPr>
                            <a:rPr lang="es-MX" sz="2400" i="1">
                              <a:latin typeface="Cambria Math" panose="02040503050406030204" pitchFamily="18" charset="0"/>
                              <a:ea typeface="Calibri" panose="020F0502020204030204" pitchFamily="34" charset="0"/>
                              <a:cs typeface="Arial" panose="020B0604020202020204" pitchFamily="34" charset="0"/>
                            </a:rPr>
                          </m:ctrlPr>
                        </m:sSupPr>
                        <m:e>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𝑆</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e>
                        <m:sup>
                          <m:r>
                            <a:rPr lang="en-US" sz="2400" i="1">
                              <a:latin typeface="Cambria Math" panose="02040503050406030204" pitchFamily="18" charset="0"/>
                              <a:ea typeface="Calibri" panose="020F0502020204030204" pitchFamily="34" charset="0"/>
                              <a:cs typeface="Arial" panose="020B0604020202020204" pitchFamily="34" charset="0"/>
                            </a:rPr>
                            <m:t>−1</m:t>
                          </m:r>
                        </m:sup>
                      </m:sSup>
                      <m:d>
                        <m:dPr>
                          <m:ctrlPr>
                            <a:rPr lang="en-US" sz="2400" i="1">
                              <a:latin typeface="Cambria Math" panose="02040503050406030204" pitchFamily="18" charset="0"/>
                              <a:ea typeface="Calibri" panose="020F0502020204030204" pitchFamily="34" charset="0"/>
                              <a:cs typeface="Arial" panose="020B0604020202020204" pitchFamily="34" charset="0"/>
                            </a:rPr>
                          </m:ctrlPr>
                        </m:dPr>
                        <m:e>
                          <m:r>
                            <a:rPr lang="en-US" sz="2400" i="1">
                              <a:latin typeface="Cambria Math" panose="02040503050406030204" pitchFamily="18" charset="0"/>
                              <a:ea typeface="Calibri" panose="020F0502020204030204" pitchFamily="34" charset="0"/>
                              <a:cs typeface="Arial" panose="020B0604020202020204" pitchFamily="34" charset="0"/>
                            </a:rPr>
                            <m:t>𝑋</m:t>
                          </m:r>
                          <m:r>
                            <a:rPr lang="en-US" sz="2400" i="1">
                              <a:latin typeface="Cambria Math" panose="02040503050406030204" pitchFamily="18" charset="0"/>
                              <a:ea typeface="Calibri" panose="020F0502020204030204" pitchFamily="34" charset="0"/>
                              <a:cs typeface="Arial" panose="020B0604020202020204" pitchFamily="34" charset="0"/>
                            </a:rPr>
                            <m:t>−</m:t>
                          </m:r>
                          <m:sSub>
                            <m:sSubPr>
                              <m:ctrlPr>
                                <a:rPr lang="en-US" sz="2400" b="1" i="1">
                                  <a:latin typeface="Cambria Math" panose="02040503050406030204" pitchFamily="18" charset="0"/>
                                  <a:ea typeface="Calibri" panose="020F0502020204030204" pitchFamily="34" charset="0"/>
                                  <a:cs typeface="Arial" panose="020B0604020202020204" pitchFamily="34" charset="0"/>
                                </a:rPr>
                              </m:ctrlPr>
                            </m:sSubPr>
                            <m:e>
                              <m:r>
                                <a:rPr lang="en-US" sz="2400" b="1" i="1">
                                  <a:latin typeface="Cambria Math" panose="02040503050406030204" pitchFamily="18" charset="0"/>
                                  <a:ea typeface="Calibri" panose="020F0502020204030204" pitchFamily="34" charset="0"/>
                                  <a:cs typeface="Arial" panose="020B0604020202020204" pitchFamily="34" charset="0"/>
                                </a:rPr>
                                <m:t>𝝁</m:t>
                              </m:r>
                            </m:e>
                            <m:sub>
                              <m:r>
                                <a:rPr lang="en-US" sz="2400" b="1" i="1">
                                  <a:latin typeface="Cambria Math" panose="02040503050406030204" pitchFamily="18" charset="0"/>
                                  <a:ea typeface="Calibri" panose="020F0502020204030204" pitchFamily="34" charset="0"/>
                                  <a:cs typeface="Arial" panose="020B0604020202020204" pitchFamily="34" charset="0"/>
                                </a:rPr>
                                <m:t>𝒌</m:t>
                              </m:r>
                            </m:sub>
                          </m:sSub>
                        </m:e>
                      </m:d>
                      <m:r>
                        <a:rPr lang="en-US" sz="2400" i="1">
                          <a:latin typeface="Cambria Math" panose="02040503050406030204" pitchFamily="18" charset="0"/>
                          <a:ea typeface="Calibri" panose="020F0502020204030204" pitchFamily="34" charset="0"/>
                          <a:cs typeface="Arial" panose="020B0604020202020204" pitchFamily="34" charset="0"/>
                        </a:rPr>
                        <m:t>−</m:t>
                      </m:r>
                      <m:f>
                        <m:fPr>
                          <m:ctrlPr>
                            <a:rPr lang="en-US" sz="2400" i="1">
                              <a:latin typeface="Cambria Math" panose="02040503050406030204" pitchFamily="18" charset="0"/>
                              <a:ea typeface="Calibri" panose="020F0502020204030204" pitchFamily="34" charset="0"/>
                              <a:cs typeface="Arial" panose="020B0604020202020204" pitchFamily="34" charset="0"/>
                            </a:rPr>
                          </m:ctrlPr>
                        </m:fPr>
                        <m:num>
                          <m:r>
                            <a:rPr lang="en-US" sz="2400" i="1">
                              <a:latin typeface="Cambria Math" panose="02040503050406030204" pitchFamily="18" charset="0"/>
                              <a:ea typeface="Calibri" panose="020F0502020204030204" pitchFamily="34" charset="0"/>
                              <a:cs typeface="Arial" panose="020B0604020202020204" pitchFamily="34" charset="0"/>
                            </a:rPr>
                            <m:t>1</m:t>
                          </m:r>
                        </m:num>
                        <m:den>
                          <m:r>
                            <a:rPr lang="en-US" sz="2400" i="1">
                              <a:latin typeface="Cambria Math" panose="02040503050406030204" pitchFamily="18" charset="0"/>
                              <a:ea typeface="Calibri" panose="020F0502020204030204" pitchFamily="34" charset="0"/>
                              <a:cs typeface="Arial" panose="020B0604020202020204" pitchFamily="34" charset="0"/>
                            </a:rPr>
                            <m:t>2</m:t>
                          </m:r>
                        </m:den>
                      </m:f>
                      <m:r>
                        <a:rPr lang="en-US" sz="2400" i="1">
                          <a:latin typeface="Cambria Math" panose="02040503050406030204" pitchFamily="18" charset="0"/>
                          <a:ea typeface="Calibri" panose="020F0502020204030204" pitchFamily="34" charset="0"/>
                          <a:cs typeface="Arial" panose="020B0604020202020204" pitchFamily="34" charset="0"/>
                        </a:rPr>
                        <m:t>𝑙𝑛</m:t>
                      </m:r>
                      <m:d>
                        <m:dPr>
                          <m:begChr m:val="|"/>
                          <m:endChr m:val="|"/>
                          <m:ctrlPr>
                            <a:rPr lang="es-MX" sz="24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𝑆</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e>
                      </m:d>
                      <m:r>
                        <a:rPr lang="en-US" sz="2400" i="1">
                          <a:latin typeface="Cambria Math" panose="02040503050406030204" pitchFamily="18" charset="0"/>
                          <a:ea typeface="Calibri" panose="020F0502020204030204" pitchFamily="34" charset="0"/>
                          <a:cs typeface="Arial" panose="020B0604020202020204" pitchFamily="34" charset="0"/>
                        </a:rPr>
                        <m:t>+</m:t>
                      </m:r>
                      <m:r>
                        <a:rPr lang="en-US" sz="2400" i="1">
                          <a:latin typeface="Cambria Math" panose="02040503050406030204" pitchFamily="18" charset="0"/>
                          <a:ea typeface="Calibri" panose="020F0502020204030204" pitchFamily="34" charset="0"/>
                          <a:cs typeface="Arial" panose="020B0604020202020204" pitchFamily="34" charset="0"/>
                        </a:rPr>
                        <m:t>𝑙𝑛𝑃</m:t>
                      </m:r>
                      <m:d>
                        <m:dPr>
                          <m:ctrlPr>
                            <a:rPr lang="es-MX" sz="24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𝐶</m:t>
                              </m:r>
                            </m:e>
                            <m:sub>
                              <m:r>
                                <a:rPr lang="en-US" sz="2400" i="1">
                                  <a:latin typeface="Cambria Math" panose="02040503050406030204" pitchFamily="18" charset="0"/>
                                  <a:ea typeface="Calibri" panose="020F0502020204030204" pitchFamily="34" charset="0"/>
                                  <a:cs typeface="Arial" panose="020B0604020202020204" pitchFamily="34" charset="0"/>
                                </a:rPr>
                                <m:t>𝑘</m:t>
                              </m:r>
                            </m:sub>
                          </m:sSub>
                        </m:e>
                      </m:d>
                    </m:oMath>
                  </m:oMathPara>
                </a14:m>
                <a:endParaRPr lang="es-MX" sz="2400" dirty="0"/>
              </a:p>
              <a:p>
                <a:pPr marL="0" indent="0">
                  <a:spcAft>
                    <a:spcPts val="800"/>
                  </a:spcAft>
                  <a:buNone/>
                </a:pPr>
                <a:endParaRPr lang="es-MX" sz="2400" dirty="0"/>
              </a:p>
              <a:p>
                <a:pPr marL="0" indent="0">
                  <a:spcAft>
                    <a:spcPts val="800"/>
                  </a:spcAft>
                  <a:buNone/>
                </a:pPr>
                <a14:m>
                  <m:oMathPara xmlns:m="http://schemas.openxmlformats.org/officeDocument/2006/math">
                    <m:oMath>
                      <m:r>
                        <m:rPr>
                          <m:sty m:val="p"/>
                        </m:rPr>
                        <a:rPr lang="es-MX" sz="2400">
                          <a:latin typeface="Cambria Math" panose="02040503050406030204" pitchFamily="18" charset="0"/>
                          <a:ea typeface="TimesNewRomanPSMT"/>
                          <a:cs typeface="TimesNewRomanPSMT"/>
                        </a:rPr>
                        <m:t>un</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patron</m:t>
                      </m:r>
                      <m:r>
                        <a:rPr lang="es-MX" sz="2400">
                          <a:latin typeface="Cambria Math" panose="02040503050406030204" pitchFamily="18" charset="0"/>
                          <a:ea typeface="TimesNewRomanPSMT"/>
                          <a:cs typeface="TimesNewRomanPSMT"/>
                        </a:rPr>
                        <m:t> </m:t>
                      </m:r>
                      <m:r>
                        <a:rPr lang="es-MX" sz="2400" b="1" i="1">
                          <a:latin typeface="Cambria Math" panose="02040503050406030204" pitchFamily="18" charset="0"/>
                          <a:ea typeface="TimesNewRomanPSMT"/>
                          <a:cs typeface="TimesNewRomanPS-BoldItalicMT"/>
                        </a:rPr>
                        <m:t>𝒙</m:t>
                      </m:r>
                      <m:r>
                        <a:rPr lang="es-MX" sz="2400" b="1" i="1">
                          <a:latin typeface="Cambria Math" panose="02040503050406030204" pitchFamily="18" charset="0"/>
                          <a:ea typeface="TimesNewRomanPSMT"/>
                          <a:cs typeface="TimesNewRomanPS-BoldItalicMT"/>
                        </a:rPr>
                        <m:t> </m:t>
                      </m:r>
                      <m:r>
                        <m:rPr>
                          <m:sty m:val="p"/>
                        </m:rPr>
                        <a:rPr lang="es-MX" sz="2400">
                          <a:latin typeface="Cambria Math" panose="02040503050406030204" pitchFamily="18" charset="0"/>
                          <a:ea typeface="TimesNewRomanPSMT"/>
                          <a:cs typeface="TimesNewRomanPSMT"/>
                        </a:rPr>
                        <m:t>a</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la</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clase</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k</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si</m:t>
                      </m:r>
                      <m:r>
                        <a:rPr lang="es-MX" sz="2400">
                          <a:latin typeface="Cambria Math" panose="02040503050406030204" pitchFamily="18" charset="0"/>
                          <a:ea typeface="TimesNewRomanPSMT"/>
                          <a:cs typeface="TimesNewRomanPSMT"/>
                        </a:rPr>
                        <m:t> </m:t>
                      </m:r>
                      <m:r>
                        <m:rPr>
                          <m:sty m:val="p"/>
                        </m:rPr>
                        <a:rPr lang="es-MX" sz="2400">
                          <a:latin typeface="Cambria Math" panose="02040503050406030204" pitchFamily="18" charset="0"/>
                          <a:ea typeface="TimesNewRomanPSMT"/>
                          <a:cs typeface="TimesNewRomanPSMT"/>
                        </a:rPr>
                        <m:t>Yk</m:t>
                      </m:r>
                      <m:r>
                        <a:rPr lang="es-MX" sz="2400">
                          <a:latin typeface="Cambria Math" panose="02040503050406030204" pitchFamily="18" charset="0"/>
                          <a:ea typeface="TimesNewRomanPSMT"/>
                          <a:cs typeface="TimesNewRomanPSMT"/>
                        </a:rPr>
                        <m:t> (</m:t>
                      </m:r>
                      <m:r>
                        <a:rPr lang="es-MX" sz="2400" b="1" i="1">
                          <a:latin typeface="Cambria Math" panose="02040503050406030204" pitchFamily="18" charset="0"/>
                          <a:ea typeface="TimesNewRomanPSMT"/>
                          <a:cs typeface="TimesNewRomanPS-BoldItalicMT"/>
                        </a:rPr>
                        <m:t>𝒙</m:t>
                      </m:r>
                      <m:r>
                        <a:rPr lang="es-MX" sz="2400">
                          <a:latin typeface="Cambria Math" panose="02040503050406030204" pitchFamily="18" charset="0"/>
                          <a:ea typeface="TimesNewRomanPSMT"/>
                          <a:cs typeface="TimesNewRomanPSMT"/>
                        </a:rPr>
                        <m:t>) &gt;</m:t>
                      </m:r>
                      <m:r>
                        <m:rPr>
                          <m:sty m:val="p"/>
                        </m:rPr>
                        <a:rPr lang="es-MX" sz="2400">
                          <a:latin typeface="Cambria Math" panose="02040503050406030204" pitchFamily="18" charset="0"/>
                          <a:ea typeface="TimesNewRomanPSMT"/>
                          <a:cs typeface="TimesNewRomanPSMT"/>
                        </a:rPr>
                        <m:t>Yj</m:t>
                      </m:r>
                      <m:r>
                        <a:rPr lang="es-MX" sz="2400">
                          <a:latin typeface="Cambria Math" panose="02040503050406030204" pitchFamily="18" charset="0"/>
                          <a:ea typeface="TimesNewRomanPSMT"/>
                          <a:cs typeface="TimesNewRomanPSMT"/>
                        </a:rPr>
                        <m:t> (</m:t>
                      </m:r>
                      <m:r>
                        <a:rPr lang="es-MX" sz="2400" b="1" i="1">
                          <a:latin typeface="Cambria Math" panose="02040503050406030204" pitchFamily="18" charset="0"/>
                          <a:ea typeface="TimesNewRomanPSMT"/>
                          <a:cs typeface="TimesNewRomanPS-BoldItalicMT"/>
                        </a:rPr>
                        <m:t>𝒙</m:t>
                      </m:r>
                      <m:r>
                        <a:rPr lang="es-MX" sz="2400">
                          <a:latin typeface="Cambria Math" panose="02040503050406030204" pitchFamily="18" charset="0"/>
                          <a:ea typeface="TimesNewRomanPSMT"/>
                          <a:cs typeface="TimesNewRomanPSMT"/>
                        </a:rPr>
                        <m:t>)</m:t>
                      </m:r>
                    </m:oMath>
                  </m:oMathPara>
                </a14:m>
                <a:endParaRPr lang="es-MX" sz="2400" dirty="0">
                  <a:ea typeface="Calibri" panose="020F0502020204030204" pitchFamily="34" charset="0"/>
                  <a:cs typeface="Arial" panose="020B0604020202020204" pitchFamily="34" charset="0"/>
                </a:endParaRPr>
              </a:p>
              <a:p>
                <a:pPr marL="0" indent="0">
                  <a:spcAft>
                    <a:spcPts val="800"/>
                  </a:spcAft>
                  <a:buNone/>
                </a:pPr>
                <a:r>
                  <a:rPr lang="es-MX" sz="2400" dirty="0">
                    <a:ea typeface="Calibri" panose="020F0502020204030204" pitchFamily="34" charset="0"/>
                    <a:cs typeface="Arial" panose="020B0604020202020204" pitchFamily="34" charset="0"/>
                  </a:rPr>
                  <a:t>			</a:t>
                </a:r>
                <a:r>
                  <a:rPr lang="es-MX" sz="2400" i="1" dirty="0">
                    <a:ea typeface="Calibri" panose="020F0502020204030204" pitchFamily="34" charset="0"/>
                    <a:cs typeface="Times New Roman" panose="02020603050405020304" pitchFamily="18" charset="0"/>
                  </a:rPr>
                  <a:t>Para j=1, 2, ..n </a:t>
                </a:r>
                <a:r>
                  <a:rPr lang="es-MX" sz="2400" dirty="0">
                    <a:ea typeface="Calibri" panose="020F0502020204030204" pitchFamily="34" charset="0"/>
                    <a:cs typeface="Arial" panose="020B0604020202020204" pitchFamily="34" charset="0"/>
                  </a:rPr>
                  <a:t>regiones o clases</a:t>
                </a:r>
              </a:p>
              <a:p>
                <a:pPr marL="0" indent="0">
                  <a:spcAft>
                    <a:spcPts val="800"/>
                  </a:spcAft>
                  <a:buNone/>
                </a:pPr>
                <a:endParaRPr lang="es-MX" sz="2000" dirty="0"/>
              </a:p>
            </p:txBody>
          </p:sp>
        </mc:Choice>
        <mc:Fallback xmlns="">
          <p:sp>
            <p:nvSpPr>
              <p:cNvPr id="3" name="Marcador de contenido 2">
                <a:extLst>
                  <a:ext uri="{FF2B5EF4-FFF2-40B4-BE49-F238E27FC236}">
                    <a16:creationId xmlns:a16="http://schemas.microsoft.com/office/drawing/2014/main" id="{5120275D-3B8A-AFC1-3804-1B99B950B1FC}"/>
                  </a:ext>
                </a:extLst>
              </p:cNvPr>
              <p:cNvSpPr>
                <a:spLocks noGrp="1" noRot="1" noChangeAspect="1" noMove="1" noResize="1" noEditPoints="1" noAdjustHandles="1" noChangeArrowheads="1" noChangeShapeType="1" noTextEdit="1"/>
              </p:cNvSpPr>
              <p:nvPr>
                <p:ph idx="1"/>
              </p:nvPr>
            </p:nvSpPr>
            <p:spPr>
              <a:xfrm>
                <a:off x="816077" y="1590740"/>
                <a:ext cx="11021962" cy="5124691"/>
              </a:xfrm>
              <a:blipFill>
                <a:blip r:embed="rId2"/>
                <a:stretch>
                  <a:fillRect t="-10939"/>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49E3C419-A639-5C1A-849C-EA9B36322FF0}"/>
              </a:ext>
            </a:extLst>
          </p:cNvPr>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35</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28810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Freeform: Shape 1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83ADD86-6350-945A-F5EF-C2E2A8C0EFB3}"/>
              </a:ext>
            </a:extLst>
          </p:cNvPr>
          <p:cNvSpPr>
            <a:spLocks noGrp="1"/>
          </p:cNvSpPr>
          <p:nvPr>
            <p:ph type="title"/>
          </p:nvPr>
        </p:nvSpPr>
        <p:spPr>
          <a:xfrm>
            <a:off x="604371" y="1096298"/>
            <a:ext cx="3602736" cy="1522918"/>
          </a:xfrm>
        </p:spPr>
        <p:txBody>
          <a:bodyPr>
            <a:normAutofit/>
          </a:bodyPr>
          <a:lstStyle/>
          <a:p>
            <a:r>
              <a:rPr lang="es-MX" sz="4000" dirty="0"/>
              <a:t>Recordando</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46ED87F-1BFC-96A4-D27F-AC44C7532270}"/>
                  </a:ext>
                </a:extLst>
              </p:cNvPr>
              <p:cNvSpPr>
                <a:spLocks noGrp="1"/>
              </p:cNvSpPr>
              <p:nvPr>
                <p:ph idx="1"/>
              </p:nvPr>
            </p:nvSpPr>
            <p:spPr>
              <a:xfrm>
                <a:off x="5434149" y="932688"/>
                <a:ext cx="6610367" cy="4992624"/>
              </a:xfrm>
            </p:spPr>
            <p:txBody>
              <a:bodyPr anchor="ctr">
                <a:normAutofit/>
              </a:bodyPr>
              <a:lstStyle/>
              <a:p>
                <a:r>
                  <a:rPr lang="es-MX" sz="2000" dirty="0"/>
                  <a:t>Bayes</a:t>
                </a:r>
              </a:p>
              <a:p>
                <a:pPr marL="0" indent="0">
                  <a:buNone/>
                </a:pPr>
                <a14:m>
                  <m:oMathPara xmlns:m="http://schemas.openxmlformats.org/officeDocument/2006/math">
                    <m:oMath>
                      <m:r>
                        <m:rPr>
                          <m:sty m:val="p"/>
                        </m:rPr>
                        <a:rPr lang="es-MX" sz="2000" i="1">
                          <a:latin typeface="Cambria Math" panose="02040503050406030204" pitchFamily="18" charset="0"/>
                        </a:rPr>
                        <m:t>P</m:t>
                      </m:r>
                      <m:r>
                        <a:rPr lang="es-MX" sz="2000" i="1">
                          <a:latin typeface="Cambria Math" panose="02040503050406030204" pitchFamily="18" charset="0"/>
                        </a:rPr>
                        <m:t>(</m:t>
                      </m:r>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Cambria Math" panose="02040503050406030204" pitchFamily="18" charset="0"/>
                            </a:rPr>
                            <m:t>𝜔</m:t>
                          </m:r>
                        </m:e>
                        <m:sub>
                          <m:r>
                            <m:rPr>
                              <m:sty m:val="p"/>
                            </m:rPr>
                            <a:rPr lang="es-MX" sz="2000" i="1">
                              <a:latin typeface="Cambria Math" panose="02040503050406030204" pitchFamily="18" charset="0"/>
                            </a:rPr>
                            <m:t>i</m:t>
                          </m:r>
                        </m:sub>
                      </m:sSub>
                      <m:r>
                        <a:rPr lang="es-MX" sz="2000" i="1">
                          <a:latin typeface="Cambria Math" panose="02040503050406030204" pitchFamily="18" charset="0"/>
                        </a:rPr>
                        <m:t>|</m:t>
                      </m:r>
                      <m:r>
                        <m:rPr>
                          <m:sty m:val="p"/>
                        </m:rPr>
                        <a:rPr lang="es-MX" sz="2000" i="1">
                          <a:latin typeface="Cambria Math" panose="02040503050406030204" pitchFamily="18" charset="0"/>
                        </a:rPr>
                        <m:t>x</m:t>
                      </m:r>
                      <m:r>
                        <a:rPr lang="es-MX" sz="2000" i="1">
                          <a:latin typeface="Cambria Math" panose="02040503050406030204" pitchFamily="18" charset="0"/>
                        </a:rPr>
                        <m:t>)=</m:t>
                      </m:r>
                      <m:f>
                        <m:fPr>
                          <m:ctrlPr>
                            <a:rPr lang="es-MX" sz="2000" i="1">
                              <a:latin typeface="Cambria Math" panose="02040503050406030204" pitchFamily="18" charset="0"/>
                            </a:rPr>
                          </m:ctrlPr>
                        </m:fPr>
                        <m:num>
                          <m:r>
                            <m:rPr>
                              <m:sty m:val="p"/>
                            </m:rPr>
                            <a:rPr lang="es-MX" sz="2000" i="1">
                              <a:latin typeface="Cambria Math" panose="02040503050406030204" pitchFamily="18" charset="0"/>
                            </a:rPr>
                            <m:t>P</m:t>
                          </m:r>
                          <m:r>
                            <a:rPr lang="es-MX" sz="2000" i="1">
                              <a:latin typeface="Cambria Math" panose="02040503050406030204" pitchFamily="18" charset="0"/>
                            </a:rPr>
                            <m:t>(</m:t>
                          </m:r>
                          <m:r>
                            <m:rPr>
                              <m:sty m:val="p"/>
                            </m:rPr>
                            <a:rPr lang="es-MX" sz="2000" i="1">
                              <a:latin typeface="Cambria Math" panose="02040503050406030204" pitchFamily="18" charset="0"/>
                            </a:rPr>
                            <m:t>x</m:t>
                          </m:r>
                          <m:r>
                            <a:rPr lang="es-MX" sz="2000" i="1">
                              <a:latin typeface="Cambria Math" panose="02040503050406030204" pitchFamily="18" charset="0"/>
                            </a:rPr>
                            <m:t>|</m:t>
                          </m:r>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Cambria Math" panose="02040503050406030204" pitchFamily="18" charset="0"/>
                                </a:rPr>
                                <m:t>𝜔</m:t>
                              </m:r>
                            </m:e>
                            <m:sub>
                              <m:r>
                                <m:rPr>
                                  <m:sty m:val="p"/>
                                </m:rPr>
                                <a:rPr lang="es-MX" sz="2000" i="1">
                                  <a:latin typeface="Cambria Math" panose="02040503050406030204" pitchFamily="18" charset="0"/>
                                </a:rPr>
                                <m:t>i</m:t>
                              </m:r>
                            </m:sub>
                          </m:sSub>
                          <m:r>
                            <a:rPr lang="es-MX" sz="2000" i="1">
                              <a:latin typeface="Cambria Math" panose="02040503050406030204" pitchFamily="18" charset="0"/>
                            </a:rPr>
                            <m:t>)</m:t>
                          </m:r>
                          <m:r>
                            <m:rPr>
                              <m:sty m:val="p"/>
                            </m:rPr>
                            <a:rPr lang="es-MX" sz="2000" i="1">
                              <a:latin typeface="Cambria Math" panose="02040503050406030204" pitchFamily="18" charset="0"/>
                            </a:rPr>
                            <m:t>P</m:t>
                          </m:r>
                          <m:r>
                            <a:rPr lang="es-MX" sz="2000" i="1">
                              <a:latin typeface="Cambria Math" panose="02040503050406030204" pitchFamily="18" charset="0"/>
                            </a:rPr>
                            <m:t>(</m:t>
                          </m:r>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Cambria Math" panose="02040503050406030204" pitchFamily="18" charset="0"/>
                                </a:rPr>
                                <m:t>𝜔</m:t>
                              </m:r>
                            </m:e>
                            <m:sub>
                              <m:r>
                                <m:rPr>
                                  <m:sty m:val="p"/>
                                </m:rPr>
                                <a:rPr lang="es-MX" sz="2000" i="1">
                                  <a:latin typeface="Cambria Math" panose="02040503050406030204" pitchFamily="18" charset="0"/>
                                </a:rPr>
                                <m:t>i</m:t>
                              </m:r>
                            </m:sub>
                          </m:sSub>
                          <m:r>
                            <a:rPr lang="es-MX" sz="2000" i="1">
                              <a:latin typeface="Cambria Math" panose="02040503050406030204" pitchFamily="18" charset="0"/>
                            </a:rPr>
                            <m:t>)</m:t>
                          </m:r>
                        </m:num>
                        <m:den>
                          <m:r>
                            <m:rPr>
                              <m:sty m:val="p"/>
                            </m:rPr>
                            <a:rPr lang="es-MX" sz="2000" i="1">
                              <a:latin typeface="Cambria Math" panose="02040503050406030204" pitchFamily="18" charset="0"/>
                            </a:rPr>
                            <m:t>P</m:t>
                          </m:r>
                          <m:r>
                            <a:rPr lang="es-MX" sz="2000" i="1">
                              <a:latin typeface="Cambria Math" panose="02040503050406030204" pitchFamily="18" charset="0"/>
                            </a:rPr>
                            <m:t>(</m:t>
                          </m:r>
                          <m:r>
                            <m:rPr>
                              <m:sty m:val="p"/>
                            </m:rPr>
                            <a:rPr lang="es-MX" sz="2000" i="1">
                              <a:latin typeface="Cambria Math" panose="02040503050406030204" pitchFamily="18" charset="0"/>
                            </a:rPr>
                            <m:t>x</m:t>
                          </m:r>
                          <m:r>
                            <a:rPr lang="es-MX" sz="2000" i="1">
                              <a:latin typeface="Cambria Math" panose="02040503050406030204" pitchFamily="18" charset="0"/>
                            </a:rPr>
                            <m:t>)</m:t>
                          </m:r>
                        </m:den>
                      </m:f>
                    </m:oMath>
                  </m:oMathPara>
                </a14:m>
                <a:endParaRPr lang="es-MX" sz="2000" dirty="0"/>
              </a:p>
              <a:p>
                <a:pPr marL="0" indent="0">
                  <a:buNone/>
                </a:pPr>
                <a:endParaRPr lang="es-MX" sz="2000" dirty="0"/>
              </a:p>
              <a:p>
                <a:pPr marL="0" indent="0">
                  <a:buNone/>
                </a:pPr>
                <a14:m>
                  <m:oMathPara xmlns:m="http://schemas.openxmlformats.org/officeDocument/2006/math">
                    <m:oMath>
                      <m:sSub>
                        <m:sSubPr>
                          <m:ctrlPr>
                            <a:rPr lang="es-MX" sz="2000" i="1">
                              <a:latin typeface="Cambria Math" panose="02040503050406030204" pitchFamily="18" charset="0"/>
                              <a:ea typeface="Calibri" panose="020F0502020204030204" pitchFamily="34" charset="0"/>
                              <a:cs typeface="Arial" panose="020B0604020202020204" pitchFamily="34" charset="0"/>
                            </a:rPr>
                          </m:ctrlPr>
                        </m:sSubPr>
                        <m:e>
                          <m:r>
                            <a:rPr lang="es-MX" sz="2000" i="1">
                              <a:latin typeface="Cambria Math" panose="02040503050406030204" pitchFamily="18" charset="0"/>
                              <a:ea typeface="Calibri" panose="020F0502020204030204" pitchFamily="34" charset="0"/>
                              <a:cs typeface="Arial" panose="020B0604020202020204" pitchFamily="34" charset="0"/>
                            </a:rPr>
                            <m:t>𝑌</m:t>
                          </m:r>
                        </m:e>
                        <m:sub>
                          <m:r>
                            <a:rPr lang="es-MX" sz="2000" i="1">
                              <a:latin typeface="Cambria Math" panose="02040503050406030204" pitchFamily="18" charset="0"/>
                              <a:ea typeface="Calibri" panose="020F0502020204030204" pitchFamily="34" charset="0"/>
                              <a:cs typeface="Arial" panose="020B0604020202020204" pitchFamily="34" charset="0"/>
                            </a:rPr>
                            <m:t>𝑘</m:t>
                          </m:r>
                        </m:sub>
                      </m:sSub>
                      <m:r>
                        <a:rPr lang="es-MX" sz="2000" i="1">
                          <a:latin typeface="Cambria Math" panose="02040503050406030204" pitchFamily="18" charset="0"/>
                          <a:ea typeface="Calibri" panose="020F0502020204030204" pitchFamily="34" charset="0"/>
                          <a:cs typeface="Arial" panose="020B0604020202020204" pitchFamily="34" charset="0"/>
                        </a:rPr>
                        <m:t>=</m:t>
                      </m:r>
                      <m:r>
                        <a:rPr lang="en-US" sz="2000" i="1">
                          <a:latin typeface="Cambria Math" panose="02040503050406030204" pitchFamily="18" charset="0"/>
                          <a:ea typeface="Calibri" panose="020F0502020204030204" pitchFamily="34" charset="0"/>
                          <a:cs typeface="Arial" panose="020B0604020202020204" pitchFamily="34" charset="0"/>
                        </a:rPr>
                        <m:t>𝑃</m:t>
                      </m:r>
                      <m:r>
                        <a:rPr lang="en-US" sz="2000" i="1">
                          <a:latin typeface="Cambria Math" panose="02040503050406030204" pitchFamily="18" charset="0"/>
                          <a:ea typeface="Calibri" panose="020F0502020204030204" pitchFamily="34" charset="0"/>
                          <a:cs typeface="Arial" panose="020B0604020202020204" pitchFamily="34" charset="0"/>
                        </a:rPr>
                        <m:t>(</m:t>
                      </m:r>
                      <m:f>
                        <m:fPr>
                          <m:type m:val="lin"/>
                          <m:ctrlPr>
                            <a:rPr lang="es-MX" sz="2000" b="0" i="1" smtClean="0">
                              <a:latin typeface="Cambria Math" panose="02040503050406030204" pitchFamily="18" charset="0"/>
                              <a:ea typeface="Calibri" panose="020F0502020204030204" pitchFamily="34" charset="0"/>
                              <a:cs typeface="Arial" panose="020B0604020202020204" pitchFamily="34" charset="0"/>
                            </a:rPr>
                          </m:ctrlPr>
                        </m:fPr>
                        <m:num>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x</m:t>
                          </m:r>
                        </m:num>
                        <m:den>
                          <m:sSub>
                            <m:sSubPr>
                              <m:ctrlPr>
                                <a:rPr lang="es-MX" sz="2000" i="1" smtClean="0">
                                  <a:latin typeface="Cambria Math" panose="02040503050406030204" pitchFamily="18" charset="0"/>
                                  <a:ea typeface="Cambria Math" panose="02040503050406030204" pitchFamily="18" charset="0"/>
                                  <a:cs typeface="Arial" panose="020B0604020202020204" pitchFamily="34" charset="0"/>
                                </a:rPr>
                              </m:ctrlPr>
                            </m:sSubPr>
                            <m:e>
                              <m:r>
                                <a:rPr lang="es-MX" sz="2000" i="1" smtClean="0">
                                  <a:latin typeface="Cambria Math" panose="02040503050406030204" pitchFamily="18" charset="0"/>
                                  <a:ea typeface="Cambria Math" panose="02040503050406030204" pitchFamily="18" charset="0"/>
                                  <a:cs typeface="Arial" panose="020B0604020202020204" pitchFamily="34" charset="0"/>
                                </a:rPr>
                                <m:t>𝜔</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den>
                      </m:f>
                      <m:r>
                        <a:rPr lang="en-US" sz="2000" i="1">
                          <a:latin typeface="Cambria Math" panose="02040503050406030204" pitchFamily="18" charset="0"/>
                          <a:ea typeface="Calibri" panose="020F0502020204030204" pitchFamily="34" charset="0"/>
                          <a:cs typeface="Arial" panose="020B0604020202020204" pitchFamily="34" charset="0"/>
                        </a:rPr>
                        <m:t>)</m:t>
                      </m:r>
                      <m:r>
                        <a:rPr lang="en-US" sz="2000" i="1">
                          <a:latin typeface="Cambria Math" panose="02040503050406030204" pitchFamily="18" charset="0"/>
                          <a:ea typeface="Calibri" panose="020F0502020204030204" pitchFamily="34" charset="0"/>
                          <a:cs typeface="Arial" panose="020B0604020202020204" pitchFamily="34" charset="0"/>
                        </a:rPr>
                        <m:t>𝑃</m:t>
                      </m:r>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s-MX" sz="2000" i="1">
                              <a:latin typeface="Cambria Math" panose="02040503050406030204" pitchFamily="18" charset="0"/>
                              <a:ea typeface="Calibri" panose="020F0502020204030204" pitchFamily="34" charset="0"/>
                              <a:cs typeface="Arial" panose="020B0604020202020204" pitchFamily="34" charset="0"/>
                            </a:rPr>
                          </m:ctrlPr>
                        </m:sSubPr>
                        <m:e>
                          <m:r>
                            <a:rPr lang="es-MX" sz="2000" i="1">
                              <a:latin typeface="Cambria Math" panose="02040503050406030204" pitchFamily="18" charset="0"/>
                              <a:ea typeface="Calibri" panose="020F0502020204030204" pitchFamily="34" charset="0"/>
                              <a:cs typeface="Arial" panose="020B0604020202020204" pitchFamily="34" charset="0"/>
                            </a:rPr>
                            <m:t>𝜔</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r>
                        <a:rPr lang="en-US" sz="20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000" dirty="0">
                  <a:ea typeface="Calibri" panose="020F0502020204030204" pitchFamily="34" charset="0"/>
                  <a:cs typeface="Arial" panose="020B0604020202020204" pitchFamily="34" charset="0"/>
                </a:endParaRPr>
              </a:p>
              <a:p>
                <a:pPr marL="0" indent="0">
                  <a:buNone/>
                </a:pPr>
                <a:endParaRPr lang="es-MX" sz="2000" dirty="0">
                  <a:ea typeface="Calibri" panose="020F0502020204030204" pitchFamily="34" charset="0"/>
                  <a:cs typeface="Arial" panose="020B0604020202020204" pitchFamily="34" charset="0"/>
                </a:endParaRPr>
              </a:p>
              <a:p>
                <a:r>
                  <a:rPr lang="es-MX" sz="2000" dirty="0"/>
                  <a:t>Normal multivariada</a:t>
                </a:r>
              </a:p>
              <a:p>
                <a:pPr marL="0" indent="0">
                  <a:buNone/>
                </a:pPr>
                <a14:m>
                  <m:oMathPara xmlns:m="http://schemas.openxmlformats.org/officeDocument/2006/math">
                    <m:oMath>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𝑌</m:t>
                          </m:r>
                        </m:e>
                        <m:sub>
                          <m:r>
                            <a:rPr lang="en-US" sz="2000" i="1">
                              <a:latin typeface="Cambria Math" panose="02040503050406030204" pitchFamily="18" charset="0"/>
                              <a:ea typeface="Calibri" panose="020F0502020204030204" pitchFamily="34" charset="0"/>
                              <a:cs typeface="Arial" panose="020B0604020202020204" pitchFamily="34" charset="0"/>
                            </a:rPr>
                            <m:t>𝑘</m:t>
                          </m:r>
                        </m:sub>
                      </m:sSub>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𝐺</m:t>
                          </m:r>
                        </m:e>
                        <m:sub>
                          <m:r>
                            <a:rPr lang="en-US" sz="2000" i="1">
                              <a:latin typeface="Cambria Math" panose="02040503050406030204" pitchFamily="18" charset="0"/>
                              <a:ea typeface="Calibri" panose="020F0502020204030204" pitchFamily="34" charset="0"/>
                              <a:cs typeface="Arial" panose="020B0604020202020204" pitchFamily="34" charset="0"/>
                            </a:rPr>
                            <m:t>𝑁</m:t>
                          </m:r>
                        </m:sub>
                      </m:sSub>
                      <m:r>
                        <a:rPr lang="es-MX" sz="2000" b="0" i="1" smtClean="0">
                          <a:latin typeface="Cambria Math" panose="02040503050406030204" pitchFamily="18" charset="0"/>
                          <a:ea typeface="Calibri" panose="020F0502020204030204" pitchFamily="34" charset="0"/>
                          <a:cs typeface="Arial" panose="020B0604020202020204" pitchFamily="34" charset="0"/>
                        </a:rPr>
                        <m:t>(</m:t>
                      </m:r>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x</m:t>
                      </m:r>
                      <m:r>
                        <a:rPr lang="es-MX" sz="2000" b="0" i="1" smtClean="0">
                          <a:latin typeface="Cambria Math" panose="02040503050406030204" pitchFamily="18" charset="0"/>
                          <a:ea typeface="Calibri" panose="020F0502020204030204" pitchFamily="34" charset="0"/>
                          <a:cs typeface="Arial" panose="020B0604020202020204" pitchFamily="34" charset="0"/>
                        </a:rPr>
                        <m:t>) </m:t>
                      </m:r>
                      <m:r>
                        <a:rPr lang="en-US" sz="2000" i="1">
                          <a:latin typeface="Cambria Math" panose="02040503050406030204" pitchFamily="18" charset="0"/>
                          <a:ea typeface="Calibri" panose="020F0502020204030204" pitchFamily="34" charset="0"/>
                          <a:cs typeface="Arial" panose="020B0604020202020204" pitchFamily="34" charset="0"/>
                        </a:rPr>
                        <m:t>𝑃</m:t>
                      </m:r>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s-MX" sz="2000" i="1" smtClean="0">
                              <a:latin typeface="Cambria Math" panose="02040503050406030204" pitchFamily="18" charset="0"/>
                              <a:ea typeface="Cambria Math" panose="02040503050406030204" pitchFamily="18" charset="0"/>
                              <a:cs typeface="Arial" panose="020B0604020202020204" pitchFamily="34" charset="0"/>
                            </a:rPr>
                          </m:ctrlPr>
                        </m:sSubPr>
                        <m:e>
                          <m:r>
                            <a:rPr lang="es-MX" sz="2000" i="1" smtClean="0">
                              <a:latin typeface="Cambria Math" panose="02040503050406030204" pitchFamily="18" charset="0"/>
                              <a:ea typeface="Cambria Math" panose="02040503050406030204" pitchFamily="18" charset="0"/>
                              <a:cs typeface="Arial" panose="020B0604020202020204" pitchFamily="34" charset="0"/>
                            </a:rPr>
                            <m:t>𝜔</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r>
                        <a:rPr lang="en-US" sz="20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000" dirty="0">
                  <a:ea typeface="Calibri" panose="020F0502020204030204" pitchFamily="34" charset="0"/>
                  <a:cs typeface="Arial" panose="020B0604020202020204" pitchFamily="34" charset="0"/>
                </a:endParaRPr>
              </a:p>
              <a:p>
                <a:pPr marL="0" indent="0">
                  <a:buNone/>
                </a:pPr>
                <a:endParaRPr lang="es-MX" sz="2000" dirty="0">
                  <a:ea typeface="Calibri" panose="020F0502020204030204" pitchFamily="34" charset="0"/>
                  <a:cs typeface="Arial" panose="020B0604020202020204" pitchFamily="34" charset="0"/>
                </a:endParaRPr>
              </a:p>
              <a:p>
                <a:pPr marL="0" indent="0">
                  <a:spcAft>
                    <a:spcPts val="800"/>
                  </a:spcAft>
                  <a:buNone/>
                </a:pPr>
                <a14:m>
                  <m:oMathPara xmlns:m="http://schemas.openxmlformats.org/officeDocument/2006/math">
                    <m:oMath>
                      <m:r>
                        <a:rPr lang="en-US" sz="2000" i="1">
                          <a:latin typeface="Cambria Math" panose="02040503050406030204" pitchFamily="18" charset="0"/>
                          <a:ea typeface="Calibri" panose="020F0502020204030204" pitchFamily="34" charset="0"/>
                          <a:cs typeface="Arial" panose="020B0604020202020204" pitchFamily="34" charset="0"/>
                        </a:rPr>
                        <m:t>𝑙𝑛</m:t>
                      </m:r>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𝑌</m:t>
                          </m:r>
                        </m:e>
                        <m:sub>
                          <m:r>
                            <a:rPr lang="en-US" sz="2000" i="1">
                              <a:latin typeface="Cambria Math" panose="02040503050406030204" pitchFamily="18" charset="0"/>
                              <a:ea typeface="Calibri" panose="020F0502020204030204" pitchFamily="34" charset="0"/>
                              <a:cs typeface="Arial" panose="020B0604020202020204" pitchFamily="34" charset="0"/>
                            </a:rPr>
                            <m:t>𝑘</m:t>
                          </m:r>
                        </m:sub>
                      </m:sSub>
                      <m:r>
                        <a:rPr lang="en-US" sz="2000" i="1">
                          <a:latin typeface="Cambria Math" panose="02040503050406030204" pitchFamily="18" charset="0"/>
                          <a:ea typeface="Calibri" panose="020F0502020204030204" pitchFamily="34" charset="0"/>
                          <a:cs typeface="Arial" panose="020B0604020202020204" pitchFamily="34" charset="0"/>
                        </a:rPr>
                        <m:t>=</m:t>
                      </m:r>
                      <m:r>
                        <a:rPr lang="en-US" sz="2000" i="1">
                          <a:latin typeface="Cambria Math" panose="02040503050406030204" pitchFamily="18" charset="0"/>
                          <a:ea typeface="Calibri" panose="020F0502020204030204" pitchFamily="34" charset="0"/>
                          <a:cs typeface="Arial" panose="020B0604020202020204" pitchFamily="34" charset="0"/>
                        </a:rPr>
                        <m:t>𝑙𝑛</m:t>
                      </m:r>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𝐺</m:t>
                          </m:r>
                        </m:e>
                        <m:sub>
                          <m:r>
                            <a:rPr lang="en-US" sz="2000" i="1">
                              <a:latin typeface="Cambria Math" panose="02040503050406030204" pitchFamily="18" charset="0"/>
                              <a:ea typeface="Calibri" panose="020F0502020204030204" pitchFamily="34" charset="0"/>
                              <a:cs typeface="Arial" panose="020B0604020202020204" pitchFamily="34" charset="0"/>
                            </a:rPr>
                            <m:t>𝑁</m:t>
                          </m:r>
                        </m:sub>
                      </m:sSub>
                      <m:r>
                        <a:rPr lang="en-US" sz="2000" i="1">
                          <a:latin typeface="Cambria Math" panose="02040503050406030204" pitchFamily="18" charset="0"/>
                          <a:ea typeface="Calibri" panose="020F0502020204030204" pitchFamily="34" charset="0"/>
                          <a:cs typeface="Arial" panose="020B0604020202020204" pitchFamily="34" charset="0"/>
                        </a:rPr>
                        <m:t>+</m:t>
                      </m:r>
                      <m:r>
                        <a:rPr lang="en-US" sz="2000" i="1">
                          <a:latin typeface="Cambria Math" panose="02040503050406030204" pitchFamily="18" charset="0"/>
                          <a:ea typeface="Calibri" panose="020F0502020204030204" pitchFamily="34" charset="0"/>
                          <a:cs typeface="Arial" panose="020B0604020202020204" pitchFamily="34" charset="0"/>
                        </a:rPr>
                        <m:t>𝑙𝑛𝑃</m:t>
                      </m:r>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𝐶</m:t>
                          </m:r>
                        </m:e>
                        <m:sub>
                          <m:r>
                            <a:rPr lang="en-US" sz="2000" i="1">
                              <a:latin typeface="Cambria Math" panose="02040503050406030204" pitchFamily="18" charset="0"/>
                              <a:ea typeface="Calibri" panose="020F0502020204030204" pitchFamily="34" charset="0"/>
                              <a:cs typeface="Arial" panose="020B0604020202020204" pitchFamily="34" charset="0"/>
                            </a:rPr>
                            <m:t>𝑘</m:t>
                          </m:r>
                        </m:sub>
                      </m:sSub>
                      <m:r>
                        <a:rPr lang="en-US" sz="2000" i="1">
                          <a:latin typeface="Cambria Math" panose="02040503050406030204" pitchFamily="18" charset="0"/>
                          <a:ea typeface="Calibri" panose="020F0502020204030204" pitchFamily="34" charset="0"/>
                          <a:cs typeface="Arial" panose="020B0604020202020204" pitchFamily="34" charset="0"/>
                        </a:rPr>
                        <m:t>)</m:t>
                      </m:r>
                    </m:oMath>
                  </m:oMathPara>
                </a14:m>
                <a:endParaRPr lang="es-MX" sz="2000" dirty="0">
                  <a:ea typeface="Calibri" panose="020F0502020204030204" pitchFamily="34" charset="0"/>
                  <a:cs typeface="Arial" panose="020B0604020202020204" pitchFamily="34" charset="0"/>
                </a:endParaRPr>
              </a:p>
              <a:p>
                <a:pPr marL="0" indent="0">
                  <a:spcAft>
                    <a:spcPts val="800"/>
                  </a:spcAft>
                  <a:buNone/>
                </a:pPr>
                <a14:m>
                  <m:oMathPara xmlns:m="http://schemas.openxmlformats.org/officeDocument/2006/math">
                    <m:oMath>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𝑌</m:t>
                          </m:r>
                        </m:e>
                        <m:sub>
                          <m:r>
                            <a:rPr lang="en-US" sz="2000" i="1">
                              <a:latin typeface="Cambria Math" panose="02040503050406030204" pitchFamily="18" charset="0"/>
                              <a:ea typeface="Calibri" panose="020F0502020204030204" pitchFamily="34" charset="0"/>
                              <a:cs typeface="Arial" panose="020B0604020202020204" pitchFamily="34" charset="0"/>
                            </a:rPr>
                            <m:t>𝑘</m:t>
                          </m:r>
                        </m:sub>
                      </m:sSub>
                      <m:d>
                        <m:dPr>
                          <m:ctrlPr>
                            <a:rPr lang="en-US" sz="2000" i="1">
                              <a:latin typeface="Cambria Math" panose="02040503050406030204" pitchFamily="18" charset="0"/>
                              <a:ea typeface="Calibri" panose="020F0502020204030204" pitchFamily="34" charset="0"/>
                              <a:cs typeface="Arial" panose="020B0604020202020204" pitchFamily="34" charset="0"/>
                            </a:rPr>
                          </m:ctrlPr>
                        </m:dPr>
                        <m:e>
                          <m:r>
                            <a:rPr lang="en-US" sz="2000" i="1">
                              <a:latin typeface="Cambria Math" panose="02040503050406030204" pitchFamily="18" charset="0"/>
                              <a:ea typeface="Calibri" panose="020F0502020204030204" pitchFamily="34" charset="0"/>
                              <a:cs typeface="Arial" panose="020B0604020202020204" pitchFamily="34" charset="0"/>
                            </a:rPr>
                            <m:t>𝑋</m:t>
                          </m:r>
                        </m:e>
                      </m:d>
                      <m:r>
                        <a:rPr lang="en-US" sz="2000" i="1">
                          <a:latin typeface="Cambria Math" panose="02040503050406030204" pitchFamily="18" charset="0"/>
                          <a:ea typeface="Calibri" panose="020F0502020204030204" pitchFamily="34" charset="0"/>
                          <a:cs typeface="Arial" panose="020B0604020202020204" pitchFamily="34" charset="0"/>
                        </a:rPr>
                        <m:t>=</m:t>
                      </m:r>
                      <m:r>
                        <a:rPr lang="es-MX" sz="2000" b="0" i="1" smtClean="0">
                          <a:latin typeface="Cambria Math" panose="02040503050406030204" pitchFamily="18" charset="0"/>
                          <a:ea typeface="Calibri" panose="020F0502020204030204" pitchFamily="34" charset="0"/>
                          <a:cs typeface="Arial" panose="020B0604020202020204" pitchFamily="34" charset="0"/>
                        </a:rPr>
                        <m:t>−</m:t>
                      </m:r>
                      <m:f>
                        <m:fPr>
                          <m:ctrlPr>
                            <a:rPr lang="en-US" sz="2000" i="1">
                              <a:latin typeface="Cambria Math" panose="02040503050406030204" pitchFamily="18" charset="0"/>
                              <a:ea typeface="Calibri" panose="020F0502020204030204" pitchFamily="34" charset="0"/>
                              <a:cs typeface="Arial" panose="020B0604020202020204" pitchFamily="34" charset="0"/>
                            </a:rPr>
                          </m:ctrlPr>
                        </m:fPr>
                        <m:num>
                          <m:r>
                            <a:rPr lang="en-US" sz="2000" i="1">
                              <a:latin typeface="Cambria Math" panose="02040503050406030204" pitchFamily="18" charset="0"/>
                              <a:ea typeface="Calibri" panose="020F0502020204030204" pitchFamily="34" charset="0"/>
                              <a:cs typeface="Arial" panose="020B0604020202020204" pitchFamily="34" charset="0"/>
                            </a:rPr>
                            <m:t>1</m:t>
                          </m:r>
                        </m:num>
                        <m:den>
                          <m:r>
                            <a:rPr lang="en-US" sz="2000" i="1">
                              <a:latin typeface="Cambria Math" panose="02040503050406030204" pitchFamily="18" charset="0"/>
                              <a:ea typeface="Calibri" panose="020F0502020204030204" pitchFamily="34" charset="0"/>
                              <a:cs typeface="Arial" panose="020B0604020202020204" pitchFamily="34" charset="0"/>
                            </a:rPr>
                            <m:t>2</m:t>
                          </m:r>
                        </m:den>
                      </m:f>
                      <m:sSup>
                        <m:sSupPr>
                          <m:ctrlPr>
                            <a:rPr lang="es-MX" sz="2000" i="1">
                              <a:latin typeface="Cambria Math" panose="02040503050406030204" pitchFamily="18" charset="0"/>
                              <a:ea typeface="Calibri" panose="020F0502020204030204" pitchFamily="34" charset="0"/>
                              <a:cs typeface="Arial" panose="020B0604020202020204" pitchFamily="34" charset="0"/>
                            </a:rPr>
                          </m:ctrlPr>
                        </m:sSupPr>
                        <m:e>
                          <m:d>
                            <m:dPr>
                              <m:ctrlPr>
                                <a:rPr lang="en-US" sz="2000" i="1">
                                  <a:latin typeface="Cambria Math" panose="02040503050406030204" pitchFamily="18" charset="0"/>
                                  <a:ea typeface="Calibri" panose="020F0502020204030204" pitchFamily="34" charset="0"/>
                                  <a:cs typeface="Arial" panose="020B0604020202020204" pitchFamily="34" charset="0"/>
                                </a:rPr>
                              </m:ctrlPr>
                            </m:dPr>
                            <m:e>
                              <m:r>
                                <a:rPr lang="en-US" sz="2000" i="1">
                                  <a:latin typeface="Cambria Math" panose="02040503050406030204" pitchFamily="18" charset="0"/>
                                  <a:ea typeface="Calibri" panose="020F0502020204030204" pitchFamily="34" charset="0"/>
                                  <a:cs typeface="Arial" panose="020B0604020202020204" pitchFamily="34" charset="0"/>
                                </a:rPr>
                                <m:t>𝑋</m:t>
                              </m:r>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n-US" sz="2000" b="1" i="1">
                                      <a:latin typeface="Cambria Math" panose="02040503050406030204" pitchFamily="18" charset="0"/>
                                      <a:ea typeface="Calibri" panose="020F0502020204030204" pitchFamily="34" charset="0"/>
                                      <a:cs typeface="Arial" panose="020B0604020202020204" pitchFamily="34" charset="0"/>
                                    </a:rPr>
                                  </m:ctrlPr>
                                </m:sSubPr>
                                <m:e>
                                  <m:r>
                                    <a:rPr lang="en-US" sz="2000" b="1" i="1">
                                      <a:latin typeface="Cambria Math" panose="02040503050406030204" pitchFamily="18" charset="0"/>
                                      <a:ea typeface="Calibri" panose="020F0502020204030204" pitchFamily="34" charset="0"/>
                                      <a:cs typeface="Arial" panose="020B0604020202020204" pitchFamily="34" charset="0"/>
                                    </a:rPr>
                                    <m:t>𝝁</m:t>
                                  </m:r>
                                </m:e>
                                <m:sub>
                                  <m:r>
                                    <m:rPr>
                                      <m:sty m:val="p"/>
                                    </m:rPr>
                                    <a:rPr lang="es-MX" sz="2000" b="1" i="1" smtClean="0">
                                      <a:latin typeface="Cambria Math" panose="02040503050406030204" pitchFamily="18" charset="0"/>
                                      <a:ea typeface="Calibri" panose="020F0502020204030204" pitchFamily="34" charset="0"/>
                                      <a:cs typeface="Arial" panose="020B0604020202020204" pitchFamily="34" charset="0"/>
                                    </a:rPr>
                                    <m:t>i</m:t>
                                  </m:r>
                                </m:sub>
                              </m:sSub>
                            </m:e>
                          </m:d>
                        </m:e>
                        <m:sup>
                          <m:r>
                            <a:rPr lang="en-US" sz="2000" i="1">
                              <a:latin typeface="Cambria Math" panose="02040503050406030204" pitchFamily="18" charset="0"/>
                              <a:ea typeface="Calibri" panose="020F0502020204030204" pitchFamily="34" charset="0"/>
                              <a:cs typeface="Arial" panose="020B0604020202020204" pitchFamily="34" charset="0"/>
                            </a:rPr>
                            <m:t>𝑇</m:t>
                          </m:r>
                        </m:sup>
                      </m:sSup>
                      <m:sSup>
                        <m:sSupPr>
                          <m:ctrlPr>
                            <a:rPr lang="es-MX" sz="2000" i="1">
                              <a:latin typeface="Cambria Math" panose="02040503050406030204" pitchFamily="18" charset="0"/>
                              <a:ea typeface="Calibri" panose="020F0502020204030204" pitchFamily="34" charset="0"/>
                              <a:cs typeface="Arial" panose="020B0604020202020204" pitchFamily="34" charset="0"/>
                            </a:rPr>
                          </m:ctrlPr>
                        </m:sSupPr>
                        <m:e>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𝑆</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e>
                        <m:sup>
                          <m:r>
                            <a:rPr lang="en-US" sz="2000" i="1">
                              <a:latin typeface="Cambria Math" panose="02040503050406030204" pitchFamily="18" charset="0"/>
                              <a:ea typeface="Calibri" panose="020F0502020204030204" pitchFamily="34" charset="0"/>
                              <a:cs typeface="Arial" panose="020B0604020202020204" pitchFamily="34" charset="0"/>
                            </a:rPr>
                            <m:t>−1</m:t>
                          </m:r>
                        </m:sup>
                      </m:sSup>
                      <m:d>
                        <m:dPr>
                          <m:ctrlPr>
                            <a:rPr lang="en-US" sz="2000" i="1">
                              <a:latin typeface="Cambria Math" panose="02040503050406030204" pitchFamily="18" charset="0"/>
                              <a:ea typeface="Calibri" panose="020F0502020204030204" pitchFamily="34" charset="0"/>
                              <a:cs typeface="Arial" panose="020B0604020202020204" pitchFamily="34" charset="0"/>
                            </a:rPr>
                          </m:ctrlPr>
                        </m:dPr>
                        <m:e>
                          <m:r>
                            <a:rPr lang="en-US" sz="2000" i="1">
                              <a:latin typeface="Cambria Math" panose="02040503050406030204" pitchFamily="18" charset="0"/>
                              <a:ea typeface="Calibri" panose="020F0502020204030204" pitchFamily="34" charset="0"/>
                              <a:cs typeface="Arial" panose="020B0604020202020204" pitchFamily="34" charset="0"/>
                            </a:rPr>
                            <m:t>𝑋</m:t>
                          </m:r>
                          <m:r>
                            <a:rPr lang="en-US" sz="2000" i="1">
                              <a:latin typeface="Cambria Math" panose="02040503050406030204" pitchFamily="18" charset="0"/>
                              <a:ea typeface="Calibri" panose="020F0502020204030204" pitchFamily="34" charset="0"/>
                              <a:cs typeface="Arial" panose="020B0604020202020204" pitchFamily="34" charset="0"/>
                            </a:rPr>
                            <m:t>−</m:t>
                          </m:r>
                          <m:sSub>
                            <m:sSubPr>
                              <m:ctrlPr>
                                <a:rPr lang="en-US" sz="2000" b="1" i="1">
                                  <a:latin typeface="Cambria Math" panose="02040503050406030204" pitchFamily="18" charset="0"/>
                                  <a:ea typeface="Calibri" panose="020F0502020204030204" pitchFamily="34" charset="0"/>
                                  <a:cs typeface="Arial" panose="020B0604020202020204" pitchFamily="34" charset="0"/>
                                </a:rPr>
                              </m:ctrlPr>
                            </m:sSubPr>
                            <m:e>
                              <m:r>
                                <a:rPr lang="en-US" sz="2000" b="1" i="1">
                                  <a:latin typeface="Cambria Math" panose="02040503050406030204" pitchFamily="18" charset="0"/>
                                  <a:ea typeface="Calibri" panose="020F0502020204030204" pitchFamily="34" charset="0"/>
                                  <a:cs typeface="Arial" panose="020B0604020202020204" pitchFamily="34" charset="0"/>
                                </a:rPr>
                                <m:t>𝝁</m:t>
                              </m:r>
                            </m:e>
                            <m:sub>
                              <m:r>
                                <m:rPr>
                                  <m:sty m:val="p"/>
                                </m:rPr>
                                <a:rPr lang="es-MX" sz="2000" b="1" i="1" smtClean="0">
                                  <a:latin typeface="Cambria Math" panose="02040503050406030204" pitchFamily="18" charset="0"/>
                                  <a:ea typeface="Calibri" panose="020F0502020204030204" pitchFamily="34" charset="0"/>
                                  <a:cs typeface="Arial" panose="020B0604020202020204" pitchFamily="34" charset="0"/>
                                </a:rPr>
                                <m:t>i</m:t>
                              </m:r>
                            </m:sub>
                          </m:sSub>
                        </m:e>
                      </m:d>
                      <m:r>
                        <a:rPr lang="en-US" sz="2000" i="1">
                          <a:latin typeface="Cambria Math" panose="02040503050406030204" pitchFamily="18" charset="0"/>
                          <a:ea typeface="Calibri" panose="020F0502020204030204" pitchFamily="34" charset="0"/>
                          <a:cs typeface="Arial" panose="020B0604020202020204" pitchFamily="34" charset="0"/>
                        </a:rPr>
                        <m:t>−</m:t>
                      </m:r>
                      <m:f>
                        <m:fPr>
                          <m:ctrlPr>
                            <a:rPr lang="en-US" sz="2000" i="1">
                              <a:latin typeface="Cambria Math" panose="02040503050406030204" pitchFamily="18" charset="0"/>
                              <a:ea typeface="Calibri" panose="020F0502020204030204" pitchFamily="34" charset="0"/>
                              <a:cs typeface="Arial" panose="020B0604020202020204" pitchFamily="34" charset="0"/>
                            </a:rPr>
                          </m:ctrlPr>
                        </m:fPr>
                        <m:num>
                          <m:r>
                            <a:rPr lang="en-US" sz="2000" i="1">
                              <a:latin typeface="Cambria Math" panose="02040503050406030204" pitchFamily="18" charset="0"/>
                              <a:ea typeface="Calibri" panose="020F0502020204030204" pitchFamily="34" charset="0"/>
                              <a:cs typeface="Arial" panose="020B0604020202020204" pitchFamily="34" charset="0"/>
                            </a:rPr>
                            <m:t>1</m:t>
                          </m:r>
                        </m:num>
                        <m:den>
                          <m:r>
                            <a:rPr lang="en-US" sz="2000" i="1">
                              <a:latin typeface="Cambria Math" panose="02040503050406030204" pitchFamily="18" charset="0"/>
                              <a:ea typeface="Calibri" panose="020F0502020204030204" pitchFamily="34" charset="0"/>
                              <a:cs typeface="Arial" panose="020B0604020202020204" pitchFamily="34" charset="0"/>
                            </a:rPr>
                            <m:t>2</m:t>
                          </m:r>
                        </m:den>
                      </m:f>
                      <m:r>
                        <a:rPr lang="en-US" sz="2000" i="1">
                          <a:latin typeface="Cambria Math" panose="02040503050406030204" pitchFamily="18" charset="0"/>
                          <a:ea typeface="Calibri" panose="020F0502020204030204" pitchFamily="34" charset="0"/>
                          <a:cs typeface="Arial" panose="020B0604020202020204" pitchFamily="34" charset="0"/>
                        </a:rPr>
                        <m:t>𝑙𝑛</m:t>
                      </m:r>
                      <m:d>
                        <m:dPr>
                          <m:begChr m:val="|"/>
                          <m:endChr m:val="|"/>
                          <m:ctrlPr>
                            <a:rPr lang="es-MX" sz="20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000" i="1">
                                  <a:latin typeface="Cambria Math" panose="02040503050406030204" pitchFamily="18" charset="0"/>
                                  <a:ea typeface="Calibri" panose="020F0502020204030204" pitchFamily="34" charset="0"/>
                                  <a:cs typeface="Arial" panose="020B0604020202020204" pitchFamily="34" charset="0"/>
                                </a:rPr>
                              </m:ctrlPr>
                            </m:sSubPr>
                            <m:e>
                              <m:r>
                                <a:rPr lang="en-US" sz="2000" i="1">
                                  <a:latin typeface="Cambria Math" panose="02040503050406030204" pitchFamily="18" charset="0"/>
                                  <a:ea typeface="Calibri" panose="020F0502020204030204" pitchFamily="34" charset="0"/>
                                  <a:cs typeface="Arial" panose="020B0604020202020204" pitchFamily="34" charset="0"/>
                                </a:rPr>
                                <m:t>𝑆</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e>
                      </m:d>
                      <m:r>
                        <a:rPr lang="en-US" sz="2000" i="1">
                          <a:latin typeface="Cambria Math" panose="02040503050406030204" pitchFamily="18" charset="0"/>
                          <a:ea typeface="Calibri" panose="020F0502020204030204" pitchFamily="34" charset="0"/>
                          <a:cs typeface="Arial" panose="020B0604020202020204" pitchFamily="34" charset="0"/>
                        </a:rPr>
                        <m:t>+</m:t>
                      </m:r>
                      <m:r>
                        <a:rPr lang="en-US" sz="2000" i="1">
                          <a:latin typeface="Cambria Math" panose="02040503050406030204" pitchFamily="18" charset="0"/>
                          <a:ea typeface="Calibri" panose="020F0502020204030204" pitchFamily="34" charset="0"/>
                          <a:cs typeface="Arial" panose="020B0604020202020204" pitchFamily="34" charset="0"/>
                        </a:rPr>
                        <m:t>𝑙𝑛𝑃</m:t>
                      </m:r>
                      <m:d>
                        <m:dPr>
                          <m:ctrlPr>
                            <a:rPr lang="es-MX" sz="2000" i="1">
                              <a:latin typeface="Cambria Math" panose="02040503050406030204" pitchFamily="18" charset="0"/>
                              <a:ea typeface="Calibri" panose="020F0502020204030204" pitchFamily="34" charset="0"/>
                              <a:cs typeface="Arial" panose="020B0604020202020204" pitchFamily="34" charset="0"/>
                            </a:rPr>
                          </m:ctrlPr>
                        </m:dPr>
                        <m:e>
                          <m:sSub>
                            <m:sSubPr>
                              <m:ctrlPr>
                                <a:rPr lang="es-MX" sz="2000" i="1" smtClean="0">
                                  <a:latin typeface="Cambria Math" panose="02040503050406030204" pitchFamily="18" charset="0"/>
                                  <a:ea typeface="Cambria Math" panose="02040503050406030204" pitchFamily="18" charset="0"/>
                                  <a:cs typeface="Arial" panose="020B0604020202020204" pitchFamily="34" charset="0"/>
                                </a:rPr>
                              </m:ctrlPr>
                            </m:sSubPr>
                            <m:e>
                              <m:r>
                                <a:rPr lang="es-MX" sz="2000" i="1" smtClean="0">
                                  <a:latin typeface="Cambria Math" panose="02040503050406030204" pitchFamily="18" charset="0"/>
                                  <a:ea typeface="Cambria Math" panose="02040503050406030204" pitchFamily="18" charset="0"/>
                                  <a:cs typeface="Arial" panose="020B0604020202020204" pitchFamily="34" charset="0"/>
                                </a:rPr>
                                <m:t>𝜔</m:t>
                              </m:r>
                            </m:e>
                            <m:sub>
                              <m:r>
                                <m:rPr>
                                  <m:sty m:val="p"/>
                                </m:rPr>
                                <a:rPr lang="es-MX" sz="2000" b="0" i="1" smtClean="0">
                                  <a:latin typeface="Cambria Math" panose="02040503050406030204" pitchFamily="18" charset="0"/>
                                  <a:ea typeface="Calibri" panose="020F0502020204030204" pitchFamily="34" charset="0"/>
                                  <a:cs typeface="Arial" panose="020B0604020202020204" pitchFamily="34" charset="0"/>
                                </a:rPr>
                                <m:t>i</m:t>
                              </m:r>
                            </m:sub>
                          </m:sSub>
                        </m:e>
                      </m:d>
                    </m:oMath>
                  </m:oMathPara>
                </a14:m>
                <a:endParaRPr lang="es-MX" sz="2000" dirty="0"/>
              </a:p>
              <a:p>
                <a:pPr marL="0" indent="0">
                  <a:buNone/>
                </a:pPr>
                <a:endParaRPr lang="es-MX" sz="2000" dirty="0"/>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146ED87F-1BFC-96A4-D27F-AC44C7532270}"/>
                  </a:ext>
                </a:extLst>
              </p:cNvPr>
              <p:cNvSpPr>
                <a:spLocks noGrp="1" noRot="1" noChangeAspect="1" noMove="1" noResize="1" noEditPoints="1" noAdjustHandles="1" noChangeArrowheads="1" noChangeShapeType="1" noTextEdit="1"/>
              </p:cNvSpPr>
              <p:nvPr>
                <p:ph idx="1"/>
              </p:nvPr>
            </p:nvSpPr>
            <p:spPr>
              <a:xfrm>
                <a:off x="5434149" y="932688"/>
                <a:ext cx="6610367" cy="4992624"/>
              </a:xfrm>
              <a:blipFill>
                <a:blip r:embed="rId2"/>
                <a:stretch>
                  <a:fillRect l="-829" t="-122"/>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47A42972-A411-93FC-DE4F-27D3189C0B09}"/>
              </a:ext>
            </a:extLst>
          </p:cNvPr>
          <p:cNvSpPr>
            <a:spLocks noGrp="1"/>
          </p:cNvSpPr>
          <p:nvPr>
            <p:ph type="sldNum" sz="quarter" idx="12"/>
          </p:nvPr>
        </p:nvSpPr>
        <p:spPr>
          <a:xfrm>
            <a:off x="10351362" y="6356350"/>
            <a:ext cx="1002437"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CD192DBE-B6B5-8B37-9B70-2E8C542AD321}"/>
                  </a:ext>
                </a:extLst>
              </p:cNvPr>
              <p:cNvSpPr txBox="1">
                <a:spLocks/>
              </p:cNvSpPr>
              <p:nvPr/>
            </p:nvSpPr>
            <p:spPr>
              <a:xfrm>
                <a:off x="598165" y="2599973"/>
                <a:ext cx="3743164" cy="316172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rPr>
                  <a:t>La idea general 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14:m>
                  <m:oMathPara xmlns:m="http://schemas.openxmlformats.org/officeDocument/2006/math">
                    <m:oMath>
                      <m:r>
                        <m:rPr>
                          <m:nor/>
                        </m:rPr>
                        <a:rPr kumimoji="0" lang="es-MX" sz="2000" b="0" i="0" u="none" strike="noStrike" kern="1200" cap="none" spc="0" normalizeH="0" baseline="0" noProof="0">
                          <a:ln>
                            <a:noFill/>
                          </a:ln>
                          <a:solidFill>
                            <a:prstClr val="black"/>
                          </a:solidFill>
                          <a:effectLst/>
                          <a:uLnTx/>
                          <a:uFillTx/>
                          <a:latin typeface="Aptos" panose="02110004020202020204"/>
                          <a:ea typeface="+mn-ea"/>
                          <a:cs typeface="+mn-cs"/>
                        </a:rPr>
                        <m:t>Asignar</m:t>
                      </m:r>
                      <m:r>
                        <m:rPr>
                          <m:nor/>
                        </m:rPr>
                        <a:rPr kumimoji="0" lang="es-MX" sz="2000" b="0" i="1" u="none" strike="noStrike" kern="1200" cap="none" spc="0" normalizeH="0" baseline="0" noProof="0">
                          <a:ln>
                            <a:noFill/>
                          </a:ln>
                          <a:solidFill>
                            <a:prstClr val="black"/>
                          </a:solidFill>
                          <a:effectLst/>
                          <a:uLnTx/>
                          <a:uFillTx/>
                          <a:latin typeface="Aptos" panose="02110004020202020204"/>
                          <a:ea typeface="+mn-ea"/>
                          <a:cs typeface="+mn-cs"/>
                        </a:rPr>
                        <m:t> </m:t>
                      </m:r>
                      <m:r>
                        <a:rPr kumimoji="0" lang="es-MX"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s-MX" sz="20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𝜔</m:t>
                          </m:r>
                        </m:e>
                        <m:sub>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𝑖</m:t>
                          </m:r>
                        </m:sub>
                      </m:sSub>
                      <m:r>
                        <m:rPr>
                          <m:nor/>
                        </m:rPr>
                        <a:rPr kumimoji="0" lang="ar-AE" sz="2000" b="0" i="1"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rPr>
                        <m:t> </m:t>
                      </m:r>
                      <m:r>
                        <m:rPr>
                          <m:nor/>
                        </m:rPr>
                        <a:rPr kumimoji="0" lang="es-MX" sz="2000" b="0" i="1" u="none" strike="noStrike" kern="1200" cap="none" spc="0" normalizeH="0" baseline="0" noProof="0">
                          <a:ln>
                            <a:noFill/>
                          </a:ln>
                          <a:solidFill>
                            <a:prstClr val="black"/>
                          </a:solidFill>
                          <a:effectLst/>
                          <a:uLnTx/>
                          <a:uFillTx/>
                          <a:latin typeface="Aptos" panose="02110004020202020204"/>
                          <a:ea typeface="+mn-ea"/>
                          <a:cs typeface="+mn-cs"/>
                        </a:rPr>
                        <m:t>si </m:t>
                      </m:r>
                      <m:sSub>
                        <m:sSub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𝑔</m:t>
                          </m:r>
                        </m:e>
                        <m:sub>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𝑖</m:t>
                          </m:r>
                        </m:sub>
                      </m:sSub>
                      <m:d>
                        <m:d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r>
                        <a:rPr kumimoji="0" lang="ar-AE" sz="2000" b="0" i="0" u="none" strike="noStrike" kern="1200" cap="none" spc="0" normalizeH="0" baseline="0" noProof="0">
                          <a:ln>
                            <a:noFill/>
                          </a:ln>
                          <a:solidFill>
                            <a:prstClr val="black"/>
                          </a:solidFill>
                          <a:effectLst/>
                          <a:uLnTx/>
                          <a:uFillTx/>
                          <a:latin typeface="Cambria Math" panose="02040503050406030204" pitchFamily="18" charset="0"/>
                          <a:ea typeface="+mn-ea"/>
                        </a:rPr>
                        <m:t>&gt;</m:t>
                      </m:r>
                      <m:sSub>
                        <m:sSub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𝑔</m:t>
                          </m:r>
                        </m:e>
                        <m:sub>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𝑗</m:t>
                          </m:r>
                        </m:sub>
                      </m:sSub>
                      <m:d>
                        <m:d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oMath>
                  </m:oMathPara>
                </a14:m>
                <a:endPar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rPr>
                  <a:t>donde </a:t>
                </a:r>
                <a14:m>
                  <m:oMath xmlns:m="http://schemas.openxmlformats.org/officeDocument/2006/math">
                    <m:sSub>
                      <m:sSub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sSub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𝑔</m:t>
                        </m:r>
                      </m:e>
                      <m:sub>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𝑖</m:t>
                        </m:r>
                      </m:sub>
                    </m:sSub>
                    <m:d>
                      <m:d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t>𝑥</m:t>
                        </m:r>
                      </m:e>
                    </m:d>
                  </m:oMath>
                </a14:m>
                <a:r>
                  <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rPr>
                  <a:t>es una función discriminante o de similitud.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MX"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 name="Marcador de contenido 2">
                <a:extLst>
                  <a:ext uri="{FF2B5EF4-FFF2-40B4-BE49-F238E27FC236}">
                    <a16:creationId xmlns:a16="http://schemas.microsoft.com/office/drawing/2014/main" id="{CD192DBE-B6B5-8B37-9B70-2E8C542AD321}"/>
                  </a:ext>
                </a:extLst>
              </p:cNvPr>
              <p:cNvSpPr txBox="1">
                <a:spLocks noRot="1" noChangeAspect="1" noMove="1" noResize="1" noEditPoints="1" noAdjustHandles="1" noChangeArrowheads="1" noChangeShapeType="1" noTextEdit="1"/>
              </p:cNvSpPr>
              <p:nvPr/>
            </p:nvSpPr>
            <p:spPr>
              <a:xfrm>
                <a:off x="598165" y="2599973"/>
                <a:ext cx="3743164" cy="3161729"/>
              </a:xfrm>
              <a:prstGeom prst="rect">
                <a:avLst/>
              </a:prstGeom>
              <a:blipFill>
                <a:blip r:embed="rId3"/>
                <a:stretch>
                  <a:fillRect l="-1629"/>
                </a:stretch>
              </a:blipFill>
            </p:spPr>
            <p:txBody>
              <a:bodyPr/>
              <a:lstStyle/>
              <a:p>
                <a:r>
                  <a:rPr lang="es-MX">
                    <a:noFill/>
                  </a:rPr>
                  <a:t> </a:t>
                </a:r>
              </a:p>
            </p:txBody>
          </p:sp>
        </mc:Fallback>
      </mc:AlternateContent>
    </p:spTree>
    <p:extLst>
      <p:ext uri="{BB962C8B-B14F-4D97-AF65-F5344CB8AC3E}">
        <p14:creationId xmlns:p14="http://schemas.microsoft.com/office/powerpoint/2010/main" val="1287360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795C12D-0C7D-180B-EAA7-A30417F69C35}"/>
              </a:ext>
            </a:extLst>
          </p:cNvPr>
          <p:cNvSpPr>
            <a:spLocks noGrp="1"/>
          </p:cNvSpPr>
          <p:nvPr>
            <p:ph type="title"/>
          </p:nvPr>
        </p:nvSpPr>
        <p:spPr>
          <a:xfrm>
            <a:off x="1115568" y="548640"/>
            <a:ext cx="10168128" cy="1179576"/>
          </a:xfrm>
        </p:spPr>
        <p:txBody>
          <a:bodyPr>
            <a:normAutofit/>
          </a:bodyPr>
          <a:lstStyle/>
          <a:p>
            <a:r>
              <a:rPr lang="es-MX" sz="4000"/>
              <a:t>Clasificador Gaussiano de Bayes</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0677C27-A24B-7B46-93A4-548463A33080}"/>
                  </a:ext>
                </a:extLst>
              </p:cNvPr>
              <p:cNvSpPr>
                <a:spLocks noGrp="1"/>
              </p:cNvSpPr>
              <p:nvPr>
                <p:ph idx="1"/>
              </p:nvPr>
            </p:nvSpPr>
            <p:spPr>
              <a:xfrm>
                <a:off x="1115568" y="2481943"/>
                <a:ext cx="10168128" cy="802031"/>
              </a:xfrm>
              <a:solidFill>
                <a:schemeClr val="accent1">
                  <a:lumMod val="20000"/>
                  <a:lumOff val="80000"/>
                </a:schemeClr>
              </a:solidFill>
              <a:ln>
                <a:solidFill>
                  <a:schemeClr val="accent1"/>
                </a:solidFill>
              </a:ln>
            </p:spPr>
            <p:txBody>
              <a:bodyPr>
                <a:normAutofit/>
              </a:bodyPr>
              <a:lstStyle/>
              <a:p>
                <a:pPr marL="0" indent="0">
                  <a:buNone/>
                </a:pPr>
                <a14:m>
                  <m:oMathPara xmlns:m="http://schemas.openxmlformats.org/officeDocument/2006/math">
                    <m:oMath>
                      <m:sSub>
                        <m:sSubPr>
                          <m:ctrlPr>
                            <a:rPr lang="es-MX" sz="2200" b="0" i="1">
                              <a:latin typeface="Cambria Math" panose="02040503050406030204" pitchFamily="18" charset="0"/>
                              <a:ea typeface="Calibri" panose="020F0502020204030204" pitchFamily="34" charset="0"/>
                              <a:cs typeface="Arial" panose="020B0604020202020204" pitchFamily="34" charset="0"/>
                            </a:rPr>
                          </m:ctrlPr>
                        </m:sSubPr>
                        <m:e>
                          <m:r>
                            <m:rPr>
                              <m:sty m:val="p"/>
                            </m:rPr>
                            <a:rPr lang="es-MX" sz="2200" b="0" i="1">
                              <a:latin typeface="Cambria Math" panose="02040503050406030204" pitchFamily="18" charset="0"/>
                              <a:ea typeface="Calibri" panose="020F0502020204030204" pitchFamily="34" charset="0"/>
                              <a:cs typeface="Arial" panose="020B0604020202020204" pitchFamily="34" charset="0"/>
                            </a:rPr>
                            <m:t>g</m:t>
                          </m:r>
                        </m:e>
                        <m:sub>
                          <m:r>
                            <m:rPr>
                              <m:sty m:val="p"/>
                            </m:rPr>
                            <a:rPr lang="es-MX" sz="2200" b="0" i="1">
                              <a:latin typeface="Cambria Math" panose="02040503050406030204" pitchFamily="18" charset="0"/>
                              <a:ea typeface="Calibri" panose="020F0502020204030204" pitchFamily="34" charset="0"/>
                              <a:cs typeface="Arial" panose="020B0604020202020204" pitchFamily="34" charset="0"/>
                            </a:rPr>
                            <m:t>i</m:t>
                          </m:r>
                        </m:sub>
                      </m:sSub>
                      <m:d>
                        <m:dPr>
                          <m:ctrlPr>
                            <a:rPr lang="es-MX" sz="2200" b="0" i="1">
                              <a:latin typeface="Cambria Math" panose="02040503050406030204" pitchFamily="18" charset="0"/>
                              <a:ea typeface="Calibri" panose="020F0502020204030204" pitchFamily="34" charset="0"/>
                              <a:cs typeface="Arial" panose="020B0604020202020204" pitchFamily="34" charset="0"/>
                            </a:rPr>
                          </m:ctrlPr>
                        </m:dPr>
                        <m:e>
                          <m:r>
                            <m:rPr>
                              <m:sty m:val="p"/>
                            </m:rPr>
                            <a:rPr lang="es-MX" sz="2200" b="0" i="1">
                              <a:latin typeface="Cambria Math" panose="02040503050406030204" pitchFamily="18" charset="0"/>
                              <a:ea typeface="Calibri" panose="020F0502020204030204" pitchFamily="34" charset="0"/>
                              <a:cs typeface="Arial" panose="020B0604020202020204" pitchFamily="34" charset="0"/>
                            </a:rPr>
                            <m:t>x</m:t>
                          </m:r>
                        </m:e>
                      </m:d>
                      <m:r>
                        <a:rPr lang="en-US" sz="2200" i="1">
                          <a:latin typeface="Cambria Math" panose="02040503050406030204" pitchFamily="18" charset="0"/>
                          <a:ea typeface="Calibri" panose="020F0502020204030204" pitchFamily="34" charset="0"/>
                          <a:cs typeface="Arial" panose="020B0604020202020204" pitchFamily="34" charset="0"/>
                        </a:rPr>
                        <m:t>=</m:t>
                      </m:r>
                      <m:r>
                        <a:rPr lang="es-MX" sz="2200" i="1">
                          <a:latin typeface="Cambria Math" panose="02040503050406030204" pitchFamily="18" charset="0"/>
                          <a:ea typeface="Calibri" panose="020F0502020204030204" pitchFamily="34" charset="0"/>
                          <a:cs typeface="Arial" panose="020B0604020202020204" pitchFamily="34" charset="0"/>
                        </a:rPr>
                        <m:t>−</m:t>
                      </m:r>
                      <m:f>
                        <m:fPr>
                          <m:ctrlPr>
                            <a:rPr lang="en-US" sz="2200" i="1">
                              <a:latin typeface="Cambria Math" panose="02040503050406030204" pitchFamily="18" charset="0"/>
                              <a:ea typeface="Calibri" panose="020F0502020204030204" pitchFamily="34" charset="0"/>
                              <a:cs typeface="Arial" panose="020B0604020202020204" pitchFamily="34" charset="0"/>
                            </a:rPr>
                          </m:ctrlPr>
                        </m:fPr>
                        <m:num>
                          <m:r>
                            <a:rPr lang="en-US" sz="2200" i="1">
                              <a:latin typeface="Cambria Math" panose="02040503050406030204" pitchFamily="18" charset="0"/>
                              <a:ea typeface="Calibri" panose="020F0502020204030204" pitchFamily="34" charset="0"/>
                              <a:cs typeface="Arial" panose="020B0604020202020204" pitchFamily="34" charset="0"/>
                            </a:rPr>
                            <m:t>1</m:t>
                          </m:r>
                        </m:num>
                        <m:den>
                          <m:r>
                            <a:rPr lang="en-US" sz="2200" i="1">
                              <a:latin typeface="Cambria Math" panose="02040503050406030204" pitchFamily="18" charset="0"/>
                              <a:ea typeface="Calibri" panose="020F0502020204030204" pitchFamily="34" charset="0"/>
                              <a:cs typeface="Arial" panose="020B0604020202020204" pitchFamily="34" charset="0"/>
                            </a:rPr>
                            <m:t>2</m:t>
                          </m:r>
                        </m:den>
                      </m:f>
                      <m:sSup>
                        <m:sSupPr>
                          <m:ctrlPr>
                            <a:rPr lang="es-MX" sz="2200" i="1">
                              <a:latin typeface="Cambria Math" panose="02040503050406030204" pitchFamily="18" charset="0"/>
                              <a:ea typeface="Calibri" panose="020F0502020204030204" pitchFamily="34" charset="0"/>
                              <a:cs typeface="Arial" panose="020B0604020202020204" pitchFamily="34" charset="0"/>
                            </a:rPr>
                          </m:ctrlPr>
                        </m:sSupPr>
                        <m:e>
                          <m:d>
                            <m:dPr>
                              <m:ctrlPr>
                                <a:rPr lang="en-US" sz="2200" i="1">
                                  <a:latin typeface="Cambria Math" panose="02040503050406030204" pitchFamily="18" charset="0"/>
                                  <a:ea typeface="Calibri" panose="020F0502020204030204" pitchFamily="34" charset="0"/>
                                  <a:cs typeface="Arial" panose="020B0604020202020204" pitchFamily="34" charset="0"/>
                                </a:rPr>
                              </m:ctrlPr>
                            </m:dPr>
                            <m:e>
                              <m:r>
                                <a:rPr lang="en-US" sz="2200" i="1">
                                  <a:latin typeface="Cambria Math" panose="02040503050406030204" pitchFamily="18" charset="0"/>
                                  <a:ea typeface="Calibri" panose="020F0502020204030204" pitchFamily="34" charset="0"/>
                                  <a:cs typeface="Arial" panose="020B0604020202020204" pitchFamily="34" charset="0"/>
                                </a:rPr>
                                <m:t>𝑋</m:t>
                              </m:r>
                              <m:r>
                                <a:rPr lang="en-US" sz="2200" i="1">
                                  <a:latin typeface="Cambria Math" panose="02040503050406030204" pitchFamily="18" charset="0"/>
                                  <a:ea typeface="Calibri" panose="020F0502020204030204" pitchFamily="34" charset="0"/>
                                  <a:cs typeface="Arial" panose="020B0604020202020204" pitchFamily="34" charset="0"/>
                                </a:rPr>
                                <m:t>−</m:t>
                              </m:r>
                              <m:sSub>
                                <m:sSubPr>
                                  <m:ctrlPr>
                                    <a:rPr lang="en-US" sz="2200" b="1" i="1">
                                      <a:latin typeface="Cambria Math" panose="02040503050406030204" pitchFamily="18" charset="0"/>
                                      <a:ea typeface="Calibri" panose="020F0502020204030204" pitchFamily="34" charset="0"/>
                                      <a:cs typeface="Arial" panose="020B0604020202020204" pitchFamily="34" charset="0"/>
                                    </a:rPr>
                                  </m:ctrlPr>
                                </m:sSubPr>
                                <m:e>
                                  <m:r>
                                    <a:rPr lang="en-US" sz="2200" b="1" i="1">
                                      <a:latin typeface="Cambria Math" panose="02040503050406030204" pitchFamily="18" charset="0"/>
                                      <a:ea typeface="Calibri" panose="020F0502020204030204" pitchFamily="34" charset="0"/>
                                      <a:cs typeface="Arial" panose="020B0604020202020204" pitchFamily="34" charset="0"/>
                                    </a:rPr>
                                    <m:t>𝝁</m:t>
                                  </m:r>
                                </m:e>
                                <m:sub>
                                  <m:r>
                                    <m:rPr>
                                      <m:sty m:val="p"/>
                                    </m:rPr>
                                    <a:rPr lang="es-MX" sz="2200" b="1" i="1">
                                      <a:latin typeface="Cambria Math" panose="02040503050406030204" pitchFamily="18" charset="0"/>
                                      <a:ea typeface="Calibri" panose="020F0502020204030204" pitchFamily="34" charset="0"/>
                                      <a:cs typeface="Arial" panose="020B0604020202020204" pitchFamily="34" charset="0"/>
                                    </a:rPr>
                                    <m:t>i</m:t>
                                  </m:r>
                                </m:sub>
                              </m:sSub>
                            </m:e>
                          </m:d>
                        </m:e>
                        <m:sup>
                          <m:r>
                            <a:rPr lang="en-US" sz="2200" i="1">
                              <a:latin typeface="Cambria Math" panose="02040503050406030204" pitchFamily="18" charset="0"/>
                              <a:ea typeface="Calibri" panose="020F0502020204030204" pitchFamily="34" charset="0"/>
                              <a:cs typeface="Arial" panose="020B0604020202020204" pitchFamily="34" charset="0"/>
                            </a:rPr>
                            <m:t>𝑇</m:t>
                          </m:r>
                        </m:sup>
                      </m:sSup>
                      <m:sSup>
                        <m:sSupPr>
                          <m:ctrlPr>
                            <a:rPr lang="es-MX" sz="2200" i="1">
                              <a:latin typeface="Cambria Math" panose="02040503050406030204" pitchFamily="18" charset="0"/>
                              <a:ea typeface="Calibri" panose="020F0502020204030204" pitchFamily="34" charset="0"/>
                              <a:cs typeface="Arial" panose="020B0604020202020204" pitchFamily="34" charset="0"/>
                            </a:rPr>
                          </m:ctrlPr>
                        </m:sSupPr>
                        <m:e>
                          <m:sSub>
                            <m:sSubPr>
                              <m:ctrlPr>
                                <a:rPr lang="en-US" sz="2200" i="1">
                                  <a:latin typeface="Cambria Math" panose="02040503050406030204" pitchFamily="18" charset="0"/>
                                  <a:ea typeface="Calibri" panose="020F0502020204030204" pitchFamily="34" charset="0"/>
                                  <a:cs typeface="Arial" panose="020B0604020202020204" pitchFamily="34" charset="0"/>
                                </a:rPr>
                              </m:ctrlPr>
                            </m:sSubPr>
                            <m:e>
                              <m:r>
                                <a:rPr lang="en-US" sz="2200" i="1">
                                  <a:latin typeface="Cambria Math" panose="02040503050406030204" pitchFamily="18" charset="0"/>
                                  <a:ea typeface="Calibri" panose="020F0502020204030204" pitchFamily="34" charset="0"/>
                                  <a:cs typeface="Arial" panose="020B0604020202020204" pitchFamily="34" charset="0"/>
                                </a:rPr>
                                <m:t>𝑆</m:t>
                              </m:r>
                            </m:e>
                            <m:sub>
                              <m:r>
                                <m:rPr>
                                  <m:sty m:val="p"/>
                                </m:rPr>
                                <a:rPr lang="es-MX" sz="2200" i="1">
                                  <a:latin typeface="Cambria Math" panose="02040503050406030204" pitchFamily="18" charset="0"/>
                                  <a:ea typeface="Calibri" panose="020F0502020204030204" pitchFamily="34" charset="0"/>
                                  <a:cs typeface="Arial" panose="020B0604020202020204" pitchFamily="34" charset="0"/>
                                </a:rPr>
                                <m:t>i</m:t>
                              </m:r>
                            </m:sub>
                          </m:sSub>
                        </m:e>
                        <m:sup>
                          <m:r>
                            <a:rPr lang="en-US" sz="2200" i="1">
                              <a:latin typeface="Cambria Math" panose="02040503050406030204" pitchFamily="18" charset="0"/>
                              <a:ea typeface="Calibri" panose="020F0502020204030204" pitchFamily="34" charset="0"/>
                              <a:cs typeface="Arial" panose="020B0604020202020204" pitchFamily="34" charset="0"/>
                            </a:rPr>
                            <m:t>−1</m:t>
                          </m:r>
                        </m:sup>
                      </m:sSup>
                      <m:d>
                        <m:dPr>
                          <m:ctrlPr>
                            <a:rPr lang="en-US" sz="2200" i="1">
                              <a:latin typeface="Cambria Math" panose="02040503050406030204" pitchFamily="18" charset="0"/>
                              <a:ea typeface="Calibri" panose="020F0502020204030204" pitchFamily="34" charset="0"/>
                              <a:cs typeface="Arial" panose="020B0604020202020204" pitchFamily="34" charset="0"/>
                            </a:rPr>
                          </m:ctrlPr>
                        </m:dPr>
                        <m:e>
                          <m:r>
                            <a:rPr lang="en-US" sz="2200" i="1">
                              <a:latin typeface="Cambria Math" panose="02040503050406030204" pitchFamily="18" charset="0"/>
                              <a:ea typeface="Calibri" panose="020F0502020204030204" pitchFamily="34" charset="0"/>
                              <a:cs typeface="Arial" panose="020B0604020202020204" pitchFamily="34" charset="0"/>
                            </a:rPr>
                            <m:t>𝑋</m:t>
                          </m:r>
                          <m:r>
                            <a:rPr lang="en-US" sz="2200" i="1">
                              <a:latin typeface="Cambria Math" panose="02040503050406030204" pitchFamily="18" charset="0"/>
                              <a:ea typeface="Calibri" panose="020F0502020204030204" pitchFamily="34" charset="0"/>
                              <a:cs typeface="Arial" panose="020B0604020202020204" pitchFamily="34" charset="0"/>
                            </a:rPr>
                            <m:t>−</m:t>
                          </m:r>
                          <m:sSub>
                            <m:sSubPr>
                              <m:ctrlPr>
                                <a:rPr lang="en-US" sz="2200" b="1" i="1">
                                  <a:latin typeface="Cambria Math" panose="02040503050406030204" pitchFamily="18" charset="0"/>
                                  <a:ea typeface="Calibri" panose="020F0502020204030204" pitchFamily="34" charset="0"/>
                                  <a:cs typeface="Arial" panose="020B0604020202020204" pitchFamily="34" charset="0"/>
                                </a:rPr>
                              </m:ctrlPr>
                            </m:sSubPr>
                            <m:e>
                              <m:r>
                                <a:rPr lang="en-US" sz="2200" b="1" i="1">
                                  <a:latin typeface="Cambria Math" panose="02040503050406030204" pitchFamily="18" charset="0"/>
                                  <a:ea typeface="Calibri" panose="020F0502020204030204" pitchFamily="34" charset="0"/>
                                  <a:cs typeface="Arial" panose="020B0604020202020204" pitchFamily="34" charset="0"/>
                                </a:rPr>
                                <m:t>𝝁</m:t>
                              </m:r>
                            </m:e>
                            <m:sub>
                              <m:r>
                                <m:rPr>
                                  <m:sty m:val="p"/>
                                </m:rPr>
                                <a:rPr lang="es-MX" sz="2200" b="1" i="1">
                                  <a:latin typeface="Cambria Math" panose="02040503050406030204" pitchFamily="18" charset="0"/>
                                  <a:ea typeface="Calibri" panose="020F0502020204030204" pitchFamily="34" charset="0"/>
                                  <a:cs typeface="Arial" panose="020B0604020202020204" pitchFamily="34" charset="0"/>
                                </a:rPr>
                                <m:t>i</m:t>
                              </m:r>
                            </m:sub>
                          </m:sSub>
                        </m:e>
                      </m:d>
                      <m:r>
                        <a:rPr lang="en-US" sz="2200" i="1">
                          <a:latin typeface="Cambria Math" panose="02040503050406030204" pitchFamily="18" charset="0"/>
                          <a:ea typeface="Calibri" panose="020F0502020204030204" pitchFamily="34" charset="0"/>
                          <a:cs typeface="Arial" panose="020B0604020202020204" pitchFamily="34" charset="0"/>
                        </a:rPr>
                        <m:t>−</m:t>
                      </m:r>
                      <m:f>
                        <m:fPr>
                          <m:ctrlPr>
                            <a:rPr lang="en-US" sz="2200" i="1">
                              <a:latin typeface="Cambria Math" panose="02040503050406030204" pitchFamily="18" charset="0"/>
                              <a:ea typeface="Calibri" panose="020F0502020204030204" pitchFamily="34" charset="0"/>
                              <a:cs typeface="Arial" panose="020B0604020202020204" pitchFamily="34" charset="0"/>
                            </a:rPr>
                          </m:ctrlPr>
                        </m:fPr>
                        <m:num>
                          <m:r>
                            <a:rPr lang="en-US" sz="2200" i="1">
                              <a:latin typeface="Cambria Math" panose="02040503050406030204" pitchFamily="18" charset="0"/>
                              <a:ea typeface="Calibri" panose="020F0502020204030204" pitchFamily="34" charset="0"/>
                              <a:cs typeface="Arial" panose="020B0604020202020204" pitchFamily="34" charset="0"/>
                            </a:rPr>
                            <m:t>1</m:t>
                          </m:r>
                        </m:num>
                        <m:den>
                          <m:r>
                            <a:rPr lang="en-US" sz="2200" i="1">
                              <a:latin typeface="Cambria Math" panose="02040503050406030204" pitchFamily="18" charset="0"/>
                              <a:ea typeface="Calibri" panose="020F0502020204030204" pitchFamily="34" charset="0"/>
                              <a:cs typeface="Arial" panose="020B0604020202020204" pitchFamily="34" charset="0"/>
                            </a:rPr>
                            <m:t>2</m:t>
                          </m:r>
                        </m:den>
                      </m:f>
                      <m:r>
                        <a:rPr lang="en-US" sz="2200" i="1">
                          <a:latin typeface="Cambria Math" panose="02040503050406030204" pitchFamily="18" charset="0"/>
                          <a:ea typeface="Calibri" panose="020F0502020204030204" pitchFamily="34" charset="0"/>
                          <a:cs typeface="Arial" panose="020B0604020202020204" pitchFamily="34" charset="0"/>
                        </a:rPr>
                        <m:t>𝑙𝑛</m:t>
                      </m:r>
                      <m:d>
                        <m:dPr>
                          <m:begChr m:val="|"/>
                          <m:endChr m:val="|"/>
                          <m:ctrlPr>
                            <a:rPr lang="es-MX" sz="220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2200" i="1">
                                  <a:latin typeface="Cambria Math" panose="02040503050406030204" pitchFamily="18" charset="0"/>
                                  <a:ea typeface="Calibri" panose="020F0502020204030204" pitchFamily="34" charset="0"/>
                                  <a:cs typeface="Arial" panose="020B0604020202020204" pitchFamily="34" charset="0"/>
                                </a:rPr>
                              </m:ctrlPr>
                            </m:sSubPr>
                            <m:e>
                              <m:r>
                                <a:rPr lang="en-US" sz="2200" i="1">
                                  <a:latin typeface="Cambria Math" panose="02040503050406030204" pitchFamily="18" charset="0"/>
                                  <a:ea typeface="Calibri" panose="020F0502020204030204" pitchFamily="34" charset="0"/>
                                  <a:cs typeface="Arial" panose="020B0604020202020204" pitchFamily="34" charset="0"/>
                                </a:rPr>
                                <m:t>𝑆</m:t>
                              </m:r>
                            </m:e>
                            <m:sub>
                              <m:r>
                                <m:rPr>
                                  <m:sty m:val="p"/>
                                </m:rPr>
                                <a:rPr lang="es-MX" sz="2200" i="1">
                                  <a:latin typeface="Cambria Math" panose="02040503050406030204" pitchFamily="18" charset="0"/>
                                  <a:ea typeface="Calibri" panose="020F0502020204030204" pitchFamily="34" charset="0"/>
                                  <a:cs typeface="Arial" panose="020B0604020202020204" pitchFamily="34" charset="0"/>
                                </a:rPr>
                                <m:t>i</m:t>
                              </m:r>
                            </m:sub>
                          </m:sSub>
                        </m:e>
                      </m:d>
                      <m:r>
                        <a:rPr lang="en-US" sz="2200" i="1">
                          <a:latin typeface="Cambria Math" panose="02040503050406030204" pitchFamily="18" charset="0"/>
                          <a:ea typeface="Calibri" panose="020F0502020204030204" pitchFamily="34" charset="0"/>
                          <a:cs typeface="Arial" panose="020B0604020202020204" pitchFamily="34" charset="0"/>
                        </a:rPr>
                        <m:t>+</m:t>
                      </m:r>
                      <m:r>
                        <a:rPr lang="en-US" sz="2200" i="1">
                          <a:latin typeface="Cambria Math" panose="02040503050406030204" pitchFamily="18" charset="0"/>
                          <a:ea typeface="Calibri" panose="020F0502020204030204" pitchFamily="34" charset="0"/>
                          <a:cs typeface="Arial" panose="020B0604020202020204" pitchFamily="34" charset="0"/>
                        </a:rPr>
                        <m:t>𝑙𝑛𝑃</m:t>
                      </m:r>
                      <m:d>
                        <m:dPr>
                          <m:ctrlPr>
                            <a:rPr lang="es-MX" sz="2200" i="1">
                              <a:latin typeface="Cambria Math" panose="02040503050406030204" pitchFamily="18" charset="0"/>
                              <a:ea typeface="Calibri" panose="020F0502020204030204" pitchFamily="34" charset="0"/>
                              <a:cs typeface="Arial" panose="020B0604020202020204" pitchFamily="34" charset="0"/>
                            </a:rPr>
                          </m:ctrlPr>
                        </m:dPr>
                        <m:e>
                          <m:sSub>
                            <m:sSubPr>
                              <m:ctrlPr>
                                <a:rPr lang="es-MX" sz="2200" i="1">
                                  <a:latin typeface="Cambria Math" panose="02040503050406030204" pitchFamily="18" charset="0"/>
                                  <a:ea typeface="Cambria Math" panose="02040503050406030204" pitchFamily="18" charset="0"/>
                                  <a:cs typeface="Arial" panose="020B0604020202020204" pitchFamily="34" charset="0"/>
                                </a:rPr>
                              </m:ctrlPr>
                            </m:sSubPr>
                            <m:e>
                              <m:r>
                                <a:rPr lang="es-MX" sz="2200" i="1">
                                  <a:latin typeface="Cambria Math" panose="02040503050406030204" pitchFamily="18" charset="0"/>
                                  <a:ea typeface="Cambria Math" panose="02040503050406030204" pitchFamily="18" charset="0"/>
                                  <a:cs typeface="Arial" panose="020B0604020202020204" pitchFamily="34" charset="0"/>
                                </a:rPr>
                                <m:t>𝜔</m:t>
                              </m:r>
                            </m:e>
                            <m:sub>
                              <m:r>
                                <m:rPr>
                                  <m:sty m:val="p"/>
                                </m:rPr>
                                <a:rPr lang="es-MX" sz="2200" i="1">
                                  <a:latin typeface="Cambria Math" panose="02040503050406030204" pitchFamily="18" charset="0"/>
                                  <a:ea typeface="Calibri" panose="020F0502020204030204" pitchFamily="34" charset="0"/>
                                  <a:cs typeface="Arial" panose="020B0604020202020204" pitchFamily="34" charset="0"/>
                                </a:rPr>
                                <m:t>i</m:t>
                              </m:r>
                            </m:sub>
                          </m:sSub>
                        </m:e>
                      </m:d>
                    </m:oMath>
                  </m:oMathPara>
                </a14:m>
                <a:endParaRPr lang="es-MX" sz="2200" dirty="0"/>
              </a:p>
            </p:txBody>
          </p:sp>
        </mc:Choice>
        <mc:Fallback xmlns="">
          <p:sp>
            <p:nvSpPr>
              <p:cNvPr id="3" name="Marcador de contenido 2">
                <a:extLst>
                  <a:ext uri="{FF2B5EF4-FFF2-40B4-BE49-F238E27FC236}">
                    <a16:creationId xmlns:a16="http://schemas.microsoft.com/office/drawing/2014/main" id="{30677C27-A24B-7B46-93A4-548463A33080}"/>
                  </a:ext>
                </a:extLst>
              </p:cNvPr>
              <p:cNvSpPr>
                <a:spLocks noGrp="1" noRot="1" noChangeAspect="1" noMove="1" noResize="1" noEditPoints="1" noAdjustHandles="1" noChangeArrowheads="1" noChangeShapeType="1" noTextEdit="1"/>
              </p:cNvSpPr>
              <p:nvPr>
                <p:ph idx="1"/>
              </p:nvPr>
            </p:nvSpPr>
            <p:spPr>
              <a:xfrm>
                <a:off x="1115568" y="2481943"/>
                <a:ext cx="10168128" cy="802031"/>
              </a:xfrm>
              <a:blipFill>
                <a:blip r:embed="rId2"/>
                <a:stretch>
                  <a:fillRect/>
                </a:stretch>
              </a:blipFill>
              <a:ln>
                <a:solidFill>
                  <a:schemeClr val="accent1"/>
                </a:solidFill>
              </a:ln>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3790B782-3BD6-FFBB-6106-A4DAEEB84335}"/>
              </a:ext>
            </a:extLst>
          </p:cNvPr>
          <p:cNvSpPr>
            <a:spLocks noGrp="1"/>
          </p:cNvSpPr>
          <p:nvPr>
            <p:ph type="sldNum" sz="quarter" idx="12"/>
          </p:nvPr>
        </p:nvSpPr>
        <p:spPr>
          <a:xfrm>
            <a:off x="8540496"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37</a:t>
            </a:fld>
            <a:endPar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F156522C-09A2-2438-DD01-D51BDEE34F38}"/>
                  </a:ext>
                </a:extLst>
              </p:cNvPr>
              <p:cNvGraphicFramePr>
                <a:graphicFrameLocks noGrp="1"/>
              </p:cNvGraphicFramePr>
              <p:nvPr/>
            </p:nvGraphicFramePr>
            <p:xfrm>
              <a:off x="594053" y="3684368"/>
              <a:ext cx="11095758" cy="2773238"/>
            </p:xfrm>
            <a:graphic>
              <a:graphicData uri="http://schemas.openxmlformats.org/drawingml/2006/table">
                <a:tbl>
                  <a:tblPr firstRow="1" bandRow="1">
                    <a:tableStyleId>{3B4B98B0-60AC-42C2-AFA5-B58CD77FA1E5}</a:tableStyleId>
                  </a:tblPr>
                  <a:tblGrid>
                    <a:gridCol w="3698586">
                      <a:extLst>
                        <a:ext uri="{9D8B030D-6E8A-4147-A177-3AD203B41FA5}">
                          <a16:colId xmlns:a16="http://schemas.microsoft.com/office/drawing/2014/main" val="1687313869"/>
                        </a:ext>
                      </a:extLst>
                    </a:gridCol>
                    <a:gridCol w="3698586">
                      <a:extLst>
                        <a:ext uri="{9D8B030D-6E8A-4147-A177-3AD203B41FA5}">
                          <a16:colId xmlns:a16="http://schemas.microsoft.com/office/drawing/2014/main" val="1773560037"/>
                        </a:ext>
                      </a:extLst>
                    </a:gridCol>
                    <a:gridCol w="3698586">
                      <a:extLst>
                        <a:ext uri="{9D8B030D-6E8A-4147-A177-3AD203B41FA5}">
                          <a16:colId xmlns:a16="http://schemas.microsoft.com/office/drawing/2014/main" val="2960924629"/>
                        </a:ext>
                      </a:extLst>
                    </a:gridCol>
                  </a:tblGrid>
                  <a:tr h="563659">
                    <a:tc>
                      <a:txBody>
                        <a:bodyPr/>
                        <a:lstStyle/>
                        <a:p>
                          <a:r>
                            <a:rPr lang="es-MX" sz="2400" dirty="0"/>
                            <a:t>Clasificador</a:t>
                          </a:r>
                        </a:p>
                      </a:txBody>
                      <a:tcPr/>
                    </a:tc>
                    <a:tc>
                      <a:txBody>
                        <a:bodyPr/>
                        <a:lstStyle/>
                        <a:p>
                          <a:r>
                            <a:rPr lang="es-MX" sz="2400" dirty="0"/>
                            <a:t>Suposición sobre </a:t>
                          </a: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endParaRPr lang="es-MX" sz="2400" dirty="0"/>
                        </a:p>
                      </a:txBody>
                      <a:tcPr/>
                    </a:tc>
                    <a:tc>
                      <a:txBody>
                        <a:bodyPr/>
                        <a:lstStyle/>
                        <a:p>
                          <a:r>
                            <a:rPr lang="es-MX" sz="2400" dirty="0"/>
                            <a:t>Parámetros</a:t>
                          </a:r>
                        </a:p>
                      </a:txBody>
                      <a:tcPr/>
                    </a:tc>
                    <a:extLst>
                      <a:ext uri="{0D108BD9-81ED-4DB2-BD59-A6C34878D82A}">
                        <a16:rowId xmlns:a16="http://schemas.microsoft.com/office/drawing/2014/main" val="910780030"/>
                      </a:ext>
                    </a:extLst>
                  </a:tr>
                  <a:tr h="563659">
                    <a:tc>
                      <a:txBody>
                        <a:bodyPr/>
                        <a:lstStyle/>
                        <a:p>
                          <a:r>
                            <a:rPr lang="es-MX" sz="2400" dirty="0"/>
                            <a:t>QDA</a:t>
                          </a:r>
                        </a:p>
                      </a:txBody>
                      <a:tcPr/>
                    </a:tc>
                    <a:tc>
                      <a:txBody>
                        <a:bodyPr/>
                        <a:lstStyle/>
                        <a:p>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dirty="0"/>
                            <a:t> diferente para</a:t>
                          </a:r>
                          <a:r>
                            <a:rPr lang="es-MX" sz="2400" baseline="0" dirty="0"/>
                            <a:t> cada clase</a:t>
                          </a:r>
                          <a:endParaRPr lang="es-MX" sz="2400" dirty="0"/>
                        </a:p>
                      </a:txBody>
                      <a:tcPr/>
                    </a:tc>
                    <a:tc>
                      <a:txBody>
                        <a:bodyPr/>
                        <a:lstStyle/>
                        <a:p>
                          <a14:m>
                            <m:oMath xmlns:m="http://schemas.openxmlformats.org/officeDocument/2006/math">
                              <m:sSub>
                                <m:sSubPr>
                                  <m:ctrlPr>
                                    <a:rPr lang="en-US" sz="2400" b="1">
                                      <a:latin typeface="Cambria Math" panose="02040503050406030204" pitchFamily="18" charset="0"/>
                                    </a:rPr>
                                  </m:ctrlPr>
                                </m:sSubPr>
                                <m:e>
                                  <m:r>
                                    <a:rPr lang="en-US" sz="2400" b="1">
                                      <a:latin typeface="Cambria Math" panose="02040503050406030204" pitchFamily="18" charset="0"/>
                                    </a:rPr>
                                    <m:t>𝝁</m:t>
                                  </m:r>
                                </m:e>
                                <m:sub>
                                  <m:r>
                                    <m:rPr>
                                      <m:sty m:val="p"/>
                                    </m:rPr>
                                    <a:rPr lang="es-MX" sz="2400" b="1">
                                      <a:latin typeface="Cambria Math" panose="02040503050406030204" pitchFamily="18" charset="0"/>
                                    </a:rPr>
                                    <m:t>i</m:t>
                                  </m:r>
                                </m:sub>
                              </m:sSub>
                              <m:r>
                                <a:rPr lang="es-MX" sz="2400" b="1" smtClean="0">
                                  <a:latin typeface="Cambria Math" panose="02040503050406030204" pitchFamily="18" charset="0"/>
                                </a:rPr>
                                <m:t>, </m:t>
                              </m:r>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dirty="0"/>
                            <a:t> para cada clase</a:t>
                          </a:r>
                        </a:p>
                      </a:txBody>
                      <a:tcPr/>
                    </a:tc>
                    <a:extLst>
                      <a:ext uri="{0D108BD9-81ED-4DB2-BD59-A6C34878D82A}">
                        <a16:rowId xmlns:a16="http://schemas.microsoft.com/office/drawing/2014/main" val="1874732069"/>
                      </a:ext>
                    </a:extLst>
                  </a:tr>
                  <a:tr h="563659">
                    <a:tc>
                      <a:txBody>
                        <a:bodyPr/>
                        <a:lstStyle/>
                        <a:p>
                          <a:r>
                            <a:rPr lang="es-MX" sz="2400" dirty="0"/>
                            <a:t>LDA</a:t>
                          </a:r>
                        </a:p>
                      </a:txBody>
                      <a:tcPr/>
                    </a:tc>
                    <a:tc>
                      <a:txBody>
                        <a:bodyPr/>
                        <a:lstStyle/>
                        <a:p>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u="none" dirty="0"/>
                            <a:t> es la misma</a:t>
                          </a:r>
                          <a:r>
                            <a:rPr lang="es-MX" sz="2400" u="none" baseline="0" dirty="0"/>
                            <a:t> para todas las clases</a:t>
                          </a:r>
                          <a:endParaRPr lang="es-MX" sz="2400" u="none" dirty="0"/>
                        </a:p>
                      </a:txBody>
                      <a:tcPr/>
                    </a:tc>
                    <a:tc>
                      <a:txBody>
                        <a:bodyPr/>
                        <a:lstStyle/>
                        <a:p>
                          <a14:m>
                            <m:oMath xmlns:m="http://schemas.openxmlformats.org/officeDocument/2006/math">
                              <m:sSub>
                                <m:sSubPr>
                                  <m:ctrlPr>
                                    <a:rPr lang="en-US" sz="2400" b="1">
                                      <a:latin typeface="Cambria Math" panose="02040503050406030204" pitchFamily="18" charset="0"/>
                                    </a:rPr>
                                  </m:ctrlPr>
                                </m:sSubPr>
                                <m:e>
                                  <m:r>
                                    <a:rPr lang="en-US" sz="2400" b="1">
                                      <a:latin typeface="Cambria Math" panose="02040503050406030204" pitchFamily="18" charset="0"/>
                                    </a:rPr>
                                    <m:t>𝝁</m:t>
                                  </m:r>
                                </m:e>
                                <m:sub>
                                  <m:r>
                                    <m:rPr>
                                      <m:sty m:val="p"/>
                                    </m:rPr>
                                    <a:rPr lang="es-MX" sz="2400" b="1">
                                      <a:latin typeface="Cambria Math" panose="02040503050406030204" pitchFamily="18" charset="0"/>
                                    </a:rPr>
                                    <m:t>i</m:t>
                                  </m:r>
                                </m:sub>
                              </m:sSub>
                            </m:oMath>
                          </a14:m>
                          <a:r>
                            <a:rPr lang="es-MX" sz="2400" dirty="0"/>
                            <a:t> por</a:t>
                          </a:r>
                          <a:r>
                            <a:rPr lang="es-MX" sz="2400" baseline="0" dirty="0"/>
                            <a:t> clase, </a:t>
                          </a: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dirty="0"/>
                            <a:t> compartida</a:t>
                          </a:r>
                        </a:p>
                      </a:txBody>
                      <a:tcPr/>
                    </a:tc>
                    <a:extLst>
                      <a:ext uri="{0D108BD9-81ED-4DB2-BD59-A6C34878D82A}">
                        <a16:rowId xmlns:a16="http://schemas.microsoft.com/office/drawing/2014/main" val="312374312"/>
                      </a:ext>
                    </a:extLst>
                  </a:tr>
                  <a:tr h="563659">
                    <a:tc>
                      <a:txBody>
                        <a:bodyPr/>
                        <a:lstStyle/>
                        <a:p>
                          <a:r>
                            <a:rPr lang="es-MX" sz="2400" dirty="0"/>
                            <a:t>Gaussian </a:t>
                          </a:r>
                          <a:r>
                            <a:rPr lang="es-MX" sz="2400" dirty="0" err="1"/>
                            <a:t>Naive</a:t>
                          </a:r>
                          <a:r>
                            <a:rPr lang="es-MX" sz="2400" dirty="0"/>
                            <a:t> Bayes</a:t>
                          </a:r>
                        </a:p>
                      </a:txBody>
                      <a:tcPr/>
                    </a:tc>
                    <a:tc>
                      <a:txBody>
                        <a:bodyPr/>
                        <a:lstStyle/>
                        <a:p>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dirty="0"/>
                            <a:t> es una matriz</a:t>
                          </a:r>
                          <a:r>
                            <a:rPr lang="es-MX" sz="2400" baseline="0" dirty="0"/>
                            <a:t> diagonal</a:t>
                          </a:r>
                          <a:endParaRPr lang="es-MX" sz="2400" dirty="0"/>
                        </a:p>
                      </a:txBody>
                      <a:tcPr/>
                    </a:tc>
                    <a:tc>
                      <a:txBody>
                        <a:bodyPr/>
                        <a:lstStyle/>
                        <a:p>
                          <a14:m>
                            <m:oMath xmlns:m="http://schemas.openxmlformats.org/officeDocument/2006/math">
                              <m:sSub>
                                <m:sSubPr>
                                  <m:ctrlPr>
                                    <a:rPr lang="en-US" sz="2400" b="1">
                                      <a:latin typeface="Cambria Math" panose="02040503050406030204" pitchFamily="18" charset="0"/>
                                    </a:rPr>
                                  </m:ctrlPr>
                                </m:sSubPr>
                                <m:e>
                                  <m:r>
                                    <a:rPr lang="en-US" sz="2400" b="1">
                                      <a:latin typeface="Cambria Math" panose="02040503050406030204" pitchFamily="18" charset="0"/>
                                    </a:rPr>
                                    <m:t>𝝁</m:t>
                                  </m:r>
                                </m:e>
                                <m:sub>
                                  <m:r>
                                    <m:rPr>
                                      <m:sty m:val="p"/>
                                    </m:rPr>
                                    <a:rPr lang="es-MX" sz="2400" b="1">
                                      <a:latin typeface="Cambria Math" panose="02040503050406030204" pitchFamily="18" charset="0"/>
                                    </a:rPr>
                                    <m:t>i</m:t>
                                  </m:r>
                                </m:sub>
                              </m:sSub>
                            </m:oMath>
                          </a14:m>
                          <a:r>
                            <a:rPr lang="es-MX" sz="2400" dirty="0"/>
                            <a:t> por</a:t>
                          </a:r>
                          <a:r>
                            <a:rPr lang="es-MX" sz="2400" baseline="0" dirty="0"/>
                            <a:t> clase, </a:t>
                          </a: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𝑆</m:t>
                                  </m:r>
                                </m:e>
                                <m:sub>
                                  <m:r>
                                    <m:rPr>
                                      <m:sty m:val="p"/>
                                    </m:rPr>
                                    <a:rPr lang="es-MX" sz="2400">
                                      <a:latin typeface="Cambria Math" panose="02040503050406030204" pitchFamily="18" charset="0"/>
                                    </a:rPr>
                                    <m:t>i</m:t>
                                  </m:r>
                                </m:sub>
                              </m:sSub>
                            </m:oMath>
                          </a14:m>
                          <a:r>
                            <a:rPr lang="es-MX" sz="2400" dirty="0"/>
                            <a:t> diagonal</a:t>
                          </a:r>
                        </a:p>
                      </a:txBody>
                      <a:tcPr/>
                    </a:tc>
                    <a:extLst>
                      <a:ext uri="{0D108BD9-81ED-4DB2-BD59-A6C34878D82A}">
                        <a16:rowId xmlns:a16="http://schemas.microsoft.com/office/drawing/2014/main" val="2203598642"/>
                      </a:ext>
                    </a:extLst>
                  </a:tr>
                </a:tbl>
              </a:graphicData>
            </a:graphic>
          </p:graphicFrame>
        </mc:Choice>
        <mc:Fallback xmlns="">
          <p:graphicFrame>
            <p:nvGraphicFramePr>
              <p:cNvPr id="5" name="Tabla 4">
                <a:extLst>
                  <a:ext uri="{FF2B5EF4-FFF2-40B4-BE49-F238E27FC236}">
                    <a16:creationId xmlns:a16="http://schemas.microsoft.com/office/drawing/2014/main" id="{F156522C-09A2-2438-DD01-D51BDEE34F38}"/>
                  </a:ext>
                </a:extLst>
              </p:cNvPr>
              <p:cNvGraphicFramePr>
                <a:graphicFrameLocks noGrp="1"/>
              </p:cNvGraphicFramePr>
              <p:nvPr>
                <p:extLst>
                  <p:ext uri="{D42A27DB-BD31-4B8C-83A1-F6EECF244321}">
                    <p14:modId xmlns:p14="http://schemas.microsoft.com/office/powerpoint/2010/main" val="1999655362"/>
                  </p:ext>
                </p:extLst>
              </p:nvPr>
            </p:nvGraphicFramePr>
            <p:xfrm>
              <a:off x="594053" y="3684368"/>
              <a:ext cx="11095758" cy="2773238"/>
            </p:xfrm>
            <a:graphic>
              <a:graphicData uri="http://schemas.openxmlformats.org/drawingml/2006/table">
                <a:tbl>
                  <a:tblPr firstRow="1" bandRow="1">
                    <a:tableStyleId>{3B4B98B0-60AC-42C2-AFA5-B58CD77FA1E5}</a:tableStyleId>
                  </a:tblPr>
                  <a:tblGrid>
                    <a:gridCol w="3698586">
                      <a:extLst>
                        <a:ext uri="{9D8B030D-6E8A-4147-A177-3AD203B41FA5}">
                          <a16:colId xmlns:a16="http://schemas.microsoft.com/office/drawing/2014/main" val="1687313869"/>
                        </a:ext>
                      </a:extLst>
                    </a:gridCol>
                    <a:gridCol w="3698586">
                      <a:extLst>
                        <a:ext uri="{9D8B030D-6E8A-4147-A177-3AD203B41FA5}">
                          <a16:colId xmlns:a16="http://schemas.microsoft.com/office/drawing/2014/main" val="1773560037"/>
                        </a:ext>
                      </a:extLst>
                    </a:gridCol>
                    <a:gridCol w="3698586">
                      <a:extLst>
                        <a:ext uri="{9D8B030D-6E8A-4147-A177-3AD203B41FA5}">
                          <a16:colId xmlns:a16="http://schemas.microsoft.com/office/drawing/2014/main" val="2960924629"/>
                        </a:ext>
                      </a:extLst>
                    </a:gridCol>
                  </a:tblGrid>
                  <a:tr h="563659">
                    <a:tc>
                      <a:txBody>
                        <a:bodyPr/>
                        <a:lstStyle/>
                        <a:p>
                          <a:r>
                            <a:rPr lang="es-MX" sz="2400" dirty="0"/>
                            <a:t>Clasificador</a:t>
                          </a:r>
                        </a:p>
                      </a:txBody>
                      <a:tcPr/>
                    </a:tc>
                    <a:tc>
                      <a:txBody>
                        <a:bodyPr/>
                        <a:lstStyle/>
                        <a:p>
                          <a:endParaRPr lang="es-MX"/>
                        </a:p>
                      </a:txBody>
                      <a:tcPr>
                        <a:blipFill>
                          <a:blip r:embed="rId3"/>
                          <a:stretch>
                            <a:fillRect l="-100000" t="-8602" r="-100165" b="-395699"/>
                          </a:stretch>
                        </a:blipFill>
                      </a:tcPr>
                    </a:tc>
                    <a:tc>
                      <a:txBody>
                        <a:bodyPr/>
                        <a:lstStyle/>
                        <a:p>
                          <a:r>
                            <a:rPr lang="es-MX" sz="2400" dirty="0"/>
                            <a:t>Parámetros</a:t>
                          </a:r>
                        </a:p>
                      </a:txBody>
                      <a:tcPr/>
                    </a:tc>
                    <a:extLst>
                      <a:ext uri="{0D108BD9-81ED-4DB2-BD59-A6C34878D82A}">
                        <a16:rowId xmlns:a16="http://schemas.microsoft.com/office/drawing/2014/main" val="910780030"/>
                      </a:ext>
                    </a:extLst>
                  </a:tr>
                  <a:tr h="822960">
                    <a:tc>
                      <a:txBody>
                        <a:bodyPr/>
                        <a:lstStyle/>
                        <a:p>
                          <a:r>
                            <a:rPr lang="es-MX" sz="2400" dirty="0"/>
                            <a:t>QDA</a:t>
                          </a:r>
                        </a:p>
                      </a:txBody>
                      <a:tcPr/>
                    </a:tc>
                    <a:tc>
                      <a:txBody>
                        <a:bodyPr/>
                        <a:lstStyle/>
                        <a:p>
                          <a:endParaRPr lang="es-MX"/>
                        </a:p>
                      </a:txBody>
                      <a:tcPr>
                        <a:blipFill>
                          <a:blip r:embed="rId3"/>
                          <a:stretch>
                            <a:fillRect l="-100000" t="-74815" r="-100165" b="-172593"/>
                          </a:stretch>
                        </a:blipFill>
                      </a:tcPr>
                    </a:tc>
                    <a:tc>
                      <a:txBody>
                        <a:bodyPr/>
                        <a:lstStyle/>
                        <a:p>
                          <a:endParaRPr lang="es-MX"/>
                        </a:p>
                      </a:txBody>
                      <a:tcPr>
                        <a:blipFill>
                          <a:blip r:embed="rId3"/>
                          <a:stretch>
                            <a:fillRect l="-200000" t="-74815" r="-165" b="-172593"/>
                          </a:stretch>
                        </a:blipFill>
                      </a:tcPr>
                    </a:tc>
                    <a:extLst>
                      <a:ext uri="{0D108BD9-81ED-4DB2-BD59-A6C34878D82A}">
                        <a16:rowId xmlns:a16="http://schemas.microsoft.com/office/drawing/2014/main" val="1874732069"/>
                      </a:ext>
                    </a:extLst>
                  </a:tr>
                  <a:tr h="822960">
                    <a:tc>
                      <a:txBody>
                        <a:bodyPr/>
                        <a:lstStyle/>
                        <a:p>
                          <a:r>
                            <a:rPr lang="es-MX" sz="2400" dirty="0"/>
                            <a:t>LDA</a:t>
                          </a:r>
                        </a:p>
                      </a:txBody>
                      <a:tcPr/>
                    </a:tc>
                    <a:tc>
                      <a:txBody>
                        <a:bodyPr/>
                        <a:lstStyle/>
                        <a:p>
                          <a:endParaRPr lang="es-MX"/>
                        </a:p>
                      </a:txBody>
                      <a:tcPr>
                        <a:blipFill>
                          <a:blip r:embed="rId3"/>
                          <a:stretch>
                            <a:fillRect l="-100000" t="-174815" r="-100165" b="-72593"/>
                          </a:stretch>
                        </a:blipFill>
                      </a:tcPr>
                    </a:tc>
                    <a:tc>
                      <a:txBody>
                        <a:bodyPr/>
                        <a:lstStyle/>
                        <a:p>
                          <a:endParaRPr lang="es-MX"/>
                        </a:p>
                      </a:txBody>
                      <a:tcPr>
                        <a:blipFill>
                          <a:blip r:embed="rId3"/>
                          <a:stretch>
                            <a:fillRect l="-200000" t="-174815" r="-165" b="-72593"/>
                          </a:stretch>
                        </a:blipFill>
                      </a:tcPr>
                    </a:tc>
                    <a:extLst>
                      <a:ext uri="{0D108BD9-81ED-4DB2-BD59-A6C34878D82A}">
                        <a16:rowId xmlns:a16="http://schemas.microsoft.com/office/drawing/2014/main" val="312374312"/>
                      </a:ext>
                    </a:extLst>
                  </a:tr>
                  <a:tr h="563659">
                    <a:tc>
                      <a:txBody>
                        <a:bodyPr/>
                        <a:lstStyle/>
                        <a:p>
                          <a:r>
                            <a:rPr lang="es-MX" sz="2400" dirty="0"/>
                            <a:t>Gaussian </a:t>
                          </a:r>
                          <a:r>
                            <a:rPr lang="es-MX" sz="2400" dirty="0" err="1"/>
                            <a:t>Naive</a:t>
                          </a:r>
                          <a:r>
                            <a:rPr lang="es-MX" sz="2400" dirty="0"/>
                            <a:t> Bayes</a:t>
                          </a:r>
                        </a:p>
                      </a:txBody>
                      <a:tcPr/>
                    </a:tc>
                    <a:tc>
                      <a:txBody>
                        <a:bodyPr/>
                        <a:lstStyle/>
                        <a:p>
                          <a:endParaRPr lang="es-MX"/>
                        </a:p>
                      </a:txBody>
                      <a:tcPr>
                        <a:blipFill>
                          <a:blip r:embed="rId3"/>
                          <a:stretch>
                            <a:fillRect l="-100000" t="-398925" r="-100165" b="-5376"/>
                          </a:stretch>
                        </a:blipFill>
                      </a:tcPr>
                    </a:tc>
                    <a:tc>
                      <a:txBody>
                        <a:bodyPr/>
                        <a:lstStyle/>
                        <a:p>
                          <a:endParaRPr lang="es-MX"/>
                        </a:p>
                      </a:txBody>
                      <a:tcPr>
                        <a:blipFill>
                          <a:blip r:embed="rId3"/>
                          <a:stretch>
                            <a:fillRect l="-200000" t="-398925" r="-165" b="-5376"/>
                          </a:stretch>
                        </a:blipFill>
                      </a:tcPr>
                    </a:tc>
                    <a:extLst>
                      <a:ext uri="{0D108BD9-81ED-4DB2-BD59-A6C34878D82A}">
                        <a16:rowId xmlns:a16="http://schemas.microsoft.com/office/drawing/2014/main" val="2203598642"/>
                      </a:ext>
                    </a:extLst>
                  </a:tr>
                </a:tbl>
              </a:graphicData>
            </a:graphic>
          </p:graphicFrame>
        </mc:Fallback>
      </mc:AlternateContent>
    </p:spTree>
    <p:extLst>
      <p:ext uri="{BB962C8B-B14F-4D97-AF65-F5344CB8AC3E}">
        <p14:creationId xmlns:p14="http://schemas.microsoft.com/office/powerpoint/2010/main" val="69063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B0AA4546-1139-A12B-1BF6-C30984EDB2B3}"/>
              </a:ext>
            </a:extLst>
          </p:cNvPr>
          <p:cNvPicPr>
            <a:picLocks noChangeAspect="1"/>
          </p:cNvPicPr>
          <p:nvPr/>
        </p:nvPicPr>
        <p:blipFill>
          <a:blip r:embed="rId2"/>
          <a:srcRect t="2547"/>
          <a:stretch>
            <a:fillRect/>
          </a:stretch>
        </p:blipFill>
        <p:spPr>
          <a:xfrm>
            <a:off x="8959836" y="726115"/>
            <a:ext cx="2849053" cy="2837630"/>
          </a:xfrm>
          <a:prstGeom prst="rect">
            <a:avLst/>
          </a:prstGeom>
          <a:ln>
            <a:solidFill>
              <a:schemeClr val="tx1"/>
            </a:solidFill>
          </a:ln>
        </p:spPr>
      </p:pic>
      <p:pic>
        <p:nvPicPr>
          <p:cNvPr id="15" name="Imagen 14">
            <a:extLst>
              <a:ext uri="{FF2B5EF4-FFF2-40B4-BE49-F238E27FC236}">
                <a16:creationId xmlns:a16="http://schemas.microsoft.com/office/drawing/2014/main" id="{B2386A64-E5B4-A4C6-E960-80CA537A379F}"/>
              </a:ext>
            </a:extLst>
          </p:cNvPr>
          <p:cNvPicPr>
            <a:picLocks noChangeAspect="1"/>
          </p:cNvPicPr>
          <p:nvPr/>
        </p:nvPicPr>
        <p:blipFill>
          <a:blip r:embed="rId2"/>
          <a:srcRect t="2547"/>
          <a:stretch>
            <a:fillRect/>
          </a:stretch>
        </p:blipFill>
        <p:spPr>
          <a:xfrm>
            <a:off x="8557673" y="1175756"/>
            <a:ext cx="2849053" cy="2837630"/>
          </a:xfrm>
          <a:prstGeom prst="rect">
            <a:avLst/>
          </a:prstGeom>
          <a:ln>
            <a:solidFill>
              <a:schemeClr val="tx1"/>
            </a:solidFill>
          </a:ln>
        </p:spPr>
      </p:pic>
      <p:pic>
        <p:nvPicPr>
          <p:cNvPr id="14" name="Imagen 13">
            <a:extLst>
              <a:ext uri="{FF2B5EF4-FFF2-40B4-BE49-F238E27FC236}">
                <a16:creationId xmlns:a16="http://schemas.microsoft.com/office/drawing/2014/main" id="{2B50A880-8681-E472-2338-8796D95536E0}"/>
              </a:ext>
            </a:extLst>
          </p:cNvPr>
          <p:cNvPicPr>
            <a:picLocks noChangeAspect="1"/>
          </p:cNvPicPr>
          <p:nvPr/>
        </p:nvPicPr>
        <p:blipFill>
          <a:blip r:embed="rId3"/>
          <a:stretch>
            <a:fillRect/>
          </a:stretch>
        </p:blipFill>
        <p:spPr>
          <a:xfrm>
            <a:off x="1406987" y="601691"/>
            <a:ext cx="3213051" cy="3086476"/>
          </a:xfrm>
          <a:prstGeom prst="rect">
            <a:avLst/>
          </a:prstGeom>
          <a:ln>
            <a:solidFill>
              <a:schemeClr val="tx1"/>
            </a:solidFill>
          </a:ln>
        </p:spPr>
      </p:pic>
      <p:pic>
        <p:nvPicPr>
          <p:cNvPr id="13" name="Imagen 12">
            <a:extLst>
              <a:ext uri="{FF2B5EF4-FFF2-40B4-BE49-F238E27FC236}">
                <a16:creationId xmlns:a16="http://schemas.microsoft.com/office/drawing/2014/main" id="{C23D03C3-8880-3D5B-C29A-AFDAFF0E4548}"/>
              </a:ext>
            </a:extLst>
          </p:cNvPr>
          <p:cNvPicPr>
            <a:picLocks noChangeAspect="1"/>
          </p:cNvPicPr>
          <p:nvPr/>
        </p:nvPicPr>
        <p:blipFill>
          <a:blip r:embed="rId3"/>
          <a:stretch>
            <a:fillRect/>
          </a:stretch>
        </p:blipFill>
        <p:spPr>
          <a:xfrm>
            <a:off x="1018231" y="1051333"/>
            <a:ext cx="3213051" cy="3086476"/>
          </a:xfrm>
          <a:prstGeom prst="rect">
            <a:avLst/>
          </a:prstGeom>
          <a:ln>
            <a:solidFill>
              <a:schemeClr val="tx1"/>
            </a:solidFill>
          </a:ln>
        </p:spPr>
      </p:pic>
      <p:sp>
        <p:nvSpPr>
          <p:cNvPr id="3" name="Marcador de contenido 2">
            <a:extLst>
              <a:ext uri="{FF2B5EF4-FFF2-40B4-BE49-F238E27FC236}">
                <a16:creationId xmlns:a16="http://schemas.microsoft.com/office/drawing/2014/main" id="{E0B98809-81C6-5410-B69F-F1DEA20277B7}"/>
              </a:ext>
            </a:extLst>
          </p:cNvPr>
          <p:cNvSpPr>
            <a:spLocks noGrp="1"/>
          </p:cNvSpPr>
          <p:nvPr>
            <p:ph idx="1"/>
          </p:nvPr>
        </p:nvSpPr>
        <p:spPr>
          <a:xfrm>
            <a:off x="1331247" y="4942563"/>
            <a:ext cx="2517949" cy="1162511"/>
          </a:xfrm>
        </p:spPr>
        <p:txBody>
          <a:bodyPr/>
          <a:lstStyle/>
          <a:p>
            <a:pPr marL="0" indent="0" algn="ctr">
              <a:buNone/>
            </a:pPr>
            <a:r>
              <a:rPr lang="es-MX" dirty="0"/>
              <a:t>Una S para cada clase</a:t>
            </a:r>
          </a:p>
        </p:txBody>
      </p:sp>
      <p:sp>
        <p:nvSpPr>
          <p:cNvPr id="4" name="Marcador de número de diapositiva 3">
            <a:extLst>
              <a:ext uri="{FF2B5EF4-FFF2-40B4-BE49-F238E27FC236}">
                <a16:creationId xmlns:a16="http://schemas.microsoft.com/office/drawing/2014/main" id="{F2DDDCEB-4DDE-9337-A69A-5B5A93DFD4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pic>
        <p:nvPicPr>
          <p:cNvPr id="6" name="Imagen 5">
            <a:extLst>
              <a:ext uri="{FF2B5EF4-FFF2-40B4-BE49-F238E27FC236}">
                <a16:creationId xmlns:a16="http://schemas.microsoft.com/office/drawing/2014/main" id="{E99463B6-1864-A47C-E329-ECA845E2BBEA}"/>
              </a:ext>
            </a:extLst>
          </p:cNvPr>
          <p:cNvPicPr>
            <a:picLocks noChangeAspect="1"/>
          </p:cNvPicPr>
          <p:nvPr/>
        </p:nvPicPr>
        <p:blipFill>
          <a:blip r:embed="rId3"/>
          <a:stretch>
            <a:fillRect/>
          </a:stretch>
        </p:blipFill>
        <p:spPr>
          <a:xfrm>
            <a:off x="629476" y="1500974"/>
            <a:ext cx="3213051" cy="3086476"/>
          </a:xfrm>
          <a:prstGeom prst="rect">
            <a:avLst/>
          </a:prstGeom>
          <a:ln>
            <a:solidFill>
              <a:schemeClr val="tx1"/>
            </a:solidFill>
          </a:ln>
        </p:spPr>
      </p:pic>
      <p:pic>
        <p:nvPicPr>
          <p:cNvPr id="8" name="Imagen 7">
            <a:extLst>
              <a:ext uri="{FF2B5EF4-FFF2-40B4-BE49-F238E27FC236}">
                <a16:creationId xmlns:a16="http://schemas.microsoft.com/office/drawing/2014/main" id="{AA3417B0-8A25-99BE-C6AE-B53DF6590E6A}"/>
              </a:ext>
            </a:extLst>
          </p:cNvPr>
          <p:cNvPicPr>
            <a:picLocks noChangeAspect="1"/>
          </p:cNvPicPr>
          <p:nvPr/>
        </p:nvPicPr>
        <p:blipFill>
          <a:blip r:embed="rId4"/>
          <a:stretch>
            <a:fillRect/>
          </a:stretch>
        </p:blipFill>
        <p:spPr>
          <a:xfrm>
            <a:off x="4963248" y="1323603"/>
            <a:ext cx="2849053" cy="3086475"/>
          </a:xfrm>
          <a:prstGeom prst="rect">
            <a:avLst/>
          </a:prstGeom>
          <a:ln>
            <a:solidFill>
              <a:schemeClr val="tx1"/>
            </a:solidFill>
          </a:ln>
        </p:spPr>
      </p:pic>
      <p:pic>
        <p:nvPicPr>
          <p:cNvPr id="10" name="Imagen 9">
            <a:extLst>
              <a:ext uri="{FF2B5EF4-FFF2-40B4-BE49-F238E27FC236}">
                <a16:creationId xmlns:a16="http://schemas.microsoft.com/office/drawing/2014/main" id="{E19F5434-AB07-93E5-4C37-5B22A2D82104}"/>
              </a:ext>
            </a:extLst>
          </p:cNvPr>
          <p:cNvPicPr>
            <a:picLocks noChangeAspect="1"/>
          </p:cNvPicPr>
          <p:nvPr/>
        </p:nvPicPr>
        <p:blipFill>
          <a:blip r:embed="rId2"/>
          <a:srcRect t="2547"/>
          <a:stretch>
            <a:fillRect/>
          </a:stretch>
        </p:blipFill>
        <p:spPr>
          <a:xfrm>
            <a:off x="8182325" y="1625397"/>
            <a:ext cx="2849053" cy="2837630"/>
          </a:xfrm>
          <a:prstGeom prst="rect">
            <a:avLst/>
          </a:prstGeom>
          <a:ln>
            <a:solidFill>
              <a:schemeClr val="tx1"/>
            </a:solidFill>
          </a:ln>
        </p:spPr>
      </p:pic>
      <p:sp>
        <p:nvSpPr>
          <p:cNvPr id="11" name="Marcador de contenido 2">
            <a:extLst>
              <a:ext uri="{FF2B5EF4-FFF2-40B4-BE49-F238E27FC236}">
                <a16:creationId xmlns:a16="http://schemas.microsoft.com/office/drawing/2014/main" id="{443A6FB1-0686-F4B6-7900-1FBD57452A97}"/>
              </a:ext>
            </a:extLst>
          </p:cNvPr>
          <p:cNvSpPr txBox="1">
            <a:spLocks/>
          </p:cNvSpPr>
          <p:nvPr/>
        </p:nvSpPr>
        <p:spPr>
          <a:xfrm>
            <a:off x="5294352" y="4809159"/>
            <a:ext cx="2517949" cy="1295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2800" b="0" i="0" u="none" strike="noStrike" kern="1200" cap="none" spc="0" normalizeH="0" baseline="0" noProof="0" dirty="0">
                <a:ln>
                  <a:noFill/>
                </a:ln>
                <a:solidFill>
                  <a:prstClr val="black"/>
                </a:solidFill>
                <a:effectLst/>
                <a:uLnTx/>
                <a:uFillTx/>
                <a:latin typeface="Aptos" panose="02110004020202020204"/>
                <a:ea typeface="+mn-ea"/>
                <a:cs typeface="+mn-cs"/>
              </a:rPr>
              <a:t>S es la misma para todas las clases</a:t>
            </a:r>
          </a:p>
        </p:txBody>
      </p:sp>
      <p:sp>
        <p:nvSpPr>
          <p:cNvPr id="12" name="Marcador de contenido 2">
            <a:extLst>
              <a:ext uri="{FF2B5EF4-FFF2-40B4-BE49-F238E27FC236}">
                <a16:creationId xmlns:a16="http://schemas.microsoft.com/office/drawing/2014/main" id="{FA53EBC2-77AB-93BA-4C37-CD0B476311DD}"/>
              </a:ext>
            </a:extLst>
          </p:cNvPr>
          <p:cNvSpPr txBox="1">
            <a:spLocks/>
          </p:cNvSpPr>
          <p:nvPr/>
        </p:nvSpPr>
        <p:spPr>
          <a:xfrm>
            <a:off x="8680578" y="4587450"/>
            <a:ext cx="2517949" cy="1295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2800" b="0" i="0" u="none" strike="noStrike" kern="1200" cap="none" spc="0" normalizeH="0" baseline="0" noProof="0" dirty="0">
                <a:ln>
                  <a:noFill/>
                </a:ln>
                <a:solidFill>
                  <a:prstClr val="black"/>
                </a:solidFill>
                <a:effectLst/>
                <a:uLnTx/>
                <a:uFillTx/>
                <a:latin typeface="Aptos" panose="02110004020202020204"/>
                <a:ea typeface="+mn-ea"/>
                <a:cs typeface="+mn-cs"/>
              </a:rPr>
              <a:t>Una matriz diagonal S por clase</a:t>
            </a:r>
          </a:p>
        </p:txBody>
      </p:sp>
    </p:spTree>
    <p:extLst>
      <p:ext uri="{BB962C8B-B14F-4D97-AF65-F5344CB8AC3E}">
        <p14:creationId xmlns:p14="http://schemas.microsoft.com/office/powerpoint/2010/main" val="1231962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B5BA5A33-3C2A-3ADC-58FA-7687A385E3A6}"/>
              </a:ext>
            </a:extLst>
          </p:cNvPr>
          <p:cNvSpPr>
            <a:spLocks noGrp="1"/>
          </p:cNvSpPr>
          <p:nvPr>
            <p:ph type="title"/>
          </p:nvPr>
        </p:nvSpPr>
        <p:spPr>
          <a:xfrm>
            <a:off x="466722" y="586855"/>
            <a:ext cx="3201366" cy="3387497"/>
          </a:xfrm>
        </p:spPr>
        <p:txBody>
          <a:bodyPr anchor="b">
            <a:normAutofit/>
          </a:bodyPr>
          <a:lstStyle/>
          <a:p>
            <a:pPr algn="r"/>
            <a:r>
              <a:rPr lang="es-MX" sz="4000" dirty="0">
                <a:solidFill>
                  <a:srgbClr val="FFFFFF"/>
                </a:solidFill>
              </a:rPr>
              <a:t>Clasificador Bayesiano Ingenuo (</a:t>
            </a:r>
            <a:r>
              <a:rPr lang="es-MX" sz="4000" dirty="0" err="1">
                <a:solidFill>
                  <a:srgbClr val="FFFFFF"/>
                </a:solidFill>
              </a:rPr>
              <a:t>Naive</a:t>
            </a:r>
            <a:r>
              <a:rPr lang="es-MX" sz="4000" dirty="0">
                <a:solidFill>
                  <a:srgbClr val="FFFFFF"/>
                </a:solidFill>
              </a:rPr>
              <a:t> Bayes)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CB9CE41-BFA6-8B55-70CF-18F80BC1C062}"/>
                  </a:ext>
                </a:extLst>
              </p:cNvPr>
              <p:cNvSpPr>
                <a:spLocks noGrp="1"/>
              </p:cNvSpPr>
              <p:nvPr>
                <p:ph idx="1"/>
              </p:nvPr>
            </p:nvSpPr>
            <p:spPr>
              <a:xfrm>
                <a:off x="4810259" y="649480"/>
                <a:ext cx="7135935" cy="5546047"/>
              </a:xfrm>
            </p:spPr>
            <p:txBody>
              <a:bodyPr anchor="ctr">
                <a:normAutofit/>
              </a:bodyPr>
              <a:lstStyle/>
              <a:p>
                <a:pPr marL="0" indent="0">
                  <a:buNone/>
                </a:pPr>
                <a:r>
                  <a:rPr lang="es-MX" sz="2400" dirty="0"/>
                  <a:t>Si suponemos que tenemos un vector de características x y dos posibles clases a elegir entonces podemos establecer:</a:t>
                </a:r>
              </a:p>
              <a:p>
                <a:pPr marL="0" indent="0">
                  <a:buNone/>
                </a:pPr>
                <a14:m>
                  <m:oMath xmlns:m="http://schemas.openxmlformats.org/officeDocument/2006/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b="0" i="1">
                            <a:latin typeface="Cambria Math" panose="02040503050406030204" pitchFamily="18" charset="0"/>
                          </a:rPr>
                        </m:ctrlPr>
                      </m:sSubPr>
                      <m:e>
                        <m:r>
                          <m:rPr>
                            <m:sty m:val="p"/>
                          </m:rPr>
                          <a:rPr lang="es-MX" sz="2400" b="0" i="1">
                            <a:latin typeface="Cambria Math" panose="02040503050406030204" pitchFamily="18" charset="0"/>
                          </a:rPr>
                          <m:t>C</m:t>
                        </m:r>
                      </m:e>
                      <m:sub>
                        <m:r>
                          <a:rPr lang="es-MX" sz="2400" b="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b="0" i="1">
                                <a:latin typeface="Cambria Math" panose="02040503050406030204" pitchFamily="18" charset="0"/>
                              </a:rPr>
                            </m:ctrlPr>
                          </m:sSubPr>
                          <m:e>
                            <m:r>
                              <m:rPr>
                                <m:sty m:val="p"/>
                              </m:rPr>
                              <a:rPr lang="es-MX" sz="2400" b="0" i="1">
                                <a:latin typeface="Cambria Math" panose="02040503050406030204" pitchFamily="18" charset="0"/>
                              </a:rPr>
                              <m:t>C</m:t>
                            </m:r>
                          </m:e>
                          <m:sub>
                            <m:r>
                              <a:rPr lang="es-MX" sz="2400" b="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b="0" i="1">
                                <a:latin typeface="Cambria Math" panose="02040503050406030204" pitchFamily="18" charset="0"/>
                              </a:rPr>
                            </m:ctrlPr>
                          </m:sSubPr>
                          <m:e>
                            <m:r>
                              <m:rPr>
                                <m:sty m:val="p"/>
                              </m:rPr>
                              <a:rPr lang="es-MX" sz="2400" b="0" i="1">
                                <a:latin typeface="Cambria Math" panose="02040503050406030204" pitchFamily="18" charset="0"/>
                              </a:rPr>
                              <m:t>C</m:t>
                            </m:r>
                          </m:e>
                          <m:sub>
                            <m:r>
                              <a:rPr lang="es-MX" sz="2400" b="0" i="1">
                                <a:latin typeface="Cambria Math" panose="02040503050406030204" pitchFamily="18" charset="0"/>
                                <a:ea typeface="Cambria Math" panose="02040503050406030204" pitchFamily="18" charset="0"/>
                              </a:rPr>
                              <m:t>1</m:t>
                            </m:r>
                          </m:sub>
                        </m:sSub>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den>
                    </m:f>
                  </m:oMath>
                </a14:m>
                <a:r>
                  <a:rPr lang="es-MX" sz="2400" dirty="0"/>
                  <a:t> </a:t>
                </a:r>
                <a14:m>
                  <m:oMath xmlns:m="http://schemas.openxmlformats.org/officeDocument/2006/math">
                    <m:r>
                      <a:rPr lang="es-MX" sz="2400" b="0" i="0">
                        <a:latin typeface="Cambria Math" panose="02040503050406030204" pitchFamily="18" charset="0"/>
                      </a:rPr>
                      <m:t>   </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a:rPr lang="es-MX" sz="2400" b="0" i="1">
                            <a:latin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f>
                      <m:fPr>
                        <m:ctrlPr>
                          <a:rPr lang="es-MX" sz="2400" i="1">
                            <a:latin typeface="Cambria Math" panose="02040503050406030204" pitchFamily="18" charset="0"/>
                          </a:rPr>
                        </m:ctrlPr>
                      </m:fPr>
                      <m:num>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a:rPr lang="es-MX" sz="2400" b="0" i="1">
                                <a:latin typeface="Cambria Math" panose="02040503050406030204" pitchFamily="18" charset="0"/>
                              </a:rPr>
                              <m:t>2</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a:rPr lang="es-MX" sz="2400" b="0" i="1">
                                <a:latin typeface="Cambria Math" panose="02040503050406030204" pitchFamily="18" charset="0"/>
                              </a:rPr>
                              <m:t>2</m:t>
                            </m:r>
                          </m:sub>
                        </m:sSub>
                        <m:r>
                          <a:rPr lang="es-MX" sz="2400" i="1">
                            <a:latin typeface="Cambria Math" panose="02040503050406030204" pitchFamily="18" charset="0"/>
                          </a:rPr>
                          <m:t>)</m:t>
                        </m:r>
                      </m:num>
                      <m:den>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den>
                    </m:f>
                  </m:oMath>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b="0" i="1">
                              <a:latin typeface="Cambria Math" panose="02040503050406030204" pitchFamily="18" charset="0"/>
                            </a:rPr>
                            <m:t>i</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b="0" i="1">
                              <a:latin typeface="Cambria Math" panose="02040503050406030204" pitchFamily="18" charset="0"/>
                            </a:rPr>
                            <m:t>i</m:t>
                          </m:r>
                        </m:sub>
                      </m:sSub>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b="0" i="1">
                              <a:latin typeface="Cambria Math" panose="02040503050406030204" pitchFamily="18" charset="0"/>
                            </a:rPr>
                            <m:t>i</m:t>
                          </m:r>
                        </m:sub>
                      </m:sSub>
                      <m:r>
                        <a:rPr lang="es-MX" sz="2400" i="1">
                          <a:latin typeface="Cambria Math" panose="02040503050406030204" pitchFamily="18" charset="0"/>
                        </a:rPr>
                        <m:t>)</m:t>
                      </m:r>
                    </m:oMath>
                  </m:oMathPara>
                </a14:m>
                <a:endParaRPr lang="es-MX" sz="2400" dirty="0"/>
              </a:p>
              <a:p>
                <a:pPr marL="0" indent="0">
                  <a:buNone/>
                </a:pPr>
                <a:endParaRPr lang="es-MX" sz="2400" dirty="0"/>
              </a:p>
              <a:p>
                <a:pPr marL="0" indent="0">
                  <a:buNone/>
                </a:pPr>
                <a:r>
                  <a:rPr lang="es-MX" sz="2400" dirty="0"/>
                  <a:t>Imaginemos que x es un vector de 3 componente, por lo que la probabilidad conjunta se modela:</a:t>
                </a:r>
              </a:p>
              <a:p>
                <a:pPr marL="0" indent="0">
                  <a:buNone/>
                </a:pPr>
                <a:endParaRPr lang="es-MX" sz="2400" dirty="0"/>
              </a:p>
              <a:p>
                <a:pPr marL="0" indent="0">
                  <a:buNone/>
                </a:pPr>
                <a14:m>
                  <m:oMathPara xmlns:m="http://schemas.openxmlformats.org/officeDocument/2006/math">
                    <m:oMath>
                      <m:r>
                        <a:rPr lang="es-MX" sz="2400" i="1" smtClean="0">
                          <a:latin typeface="Cambria Math" panose="02040503050406030204" pitchFamily="18" charset="0"/>
                        </a:rPr>
                        <m:t>𝑃</m:t>
                      </m:r>
                      <m:d>
                        <m:dPr>
                          <m:ctrlPr>
                            <a:rPr lang="es-MX" sz="2400" i="1">
                              <a:latin typeface="Cambria Math" panose="02040503050406030204" pitchFamily="18" charset="0"/>
                            </a:rPr>
                          </m:ctrlPr>
                        </m:dPr>
                        <m:e>
                          <m:r>
                            <a:rPr lang="es-MX" sz="2400" i="1">
                              <a:latin typeface="Cambria Math" panose="02040503050406030204" pitchFamily="18" charset="0"/>
                            </a:rPr>
                            <m:t>𝑥</m:t>
                          </m:r>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b="0" i="1">
                          <a:latin typeface="Cambria Math" panose="02040503050406030204" pitchFamily="18" charset="0"/>
                        </a:rPr>
                        <m:t>=</m:t>
                      </m:r>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b="0" i="1">
                                  <a:latin typeface="Cambria Math" panose="02040503050406030204" pitchFamily="18" charset="0"/>
                                </a:rPr>
                              </m:ctrlPr>
                            </m:sSubPr>
                            <m:e>
                              <m:r>
                                <m:rPr>
                                  <m:sty m:val="p"/>
                                </m:rPr>
                                <a:rPr lang="es-MX" sz="2400" b="0" i="1">
                                  <a:latin typeface="Cambria Math" panose="02040503050406030204" pitchFamily="18" charset="0"/>
                                </a:rPr>
                                <m:t>x</m:t>
                              </m:r>
                            </m:e>
                            <m:sub>
                              <m:r>
                                <a:rPr lang="es-MX" sz="2400" b="0" i="1">
                                  <a:latin typeface="Cambria Math" panose="02040503050406030204" pitchFamily="18" charset="0"/>
                                </a:rPr>
                                <m:t>1</m:t>
                              </m:r>
                            </m:sub>
                          </m:sSub>
                          <m:r>
                            <a:rPr lang="es-MX" sz="2400" b="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a:latin typeface="Cambria Math" panose="02040503050406030204" pitchFamily="18" charset="0"/>
                                </a:rPr>
                                <m:t>2</m:t>
                              </m:r>
                            </m:sub>
                          </m:sSub>
                          <m:r>
                            <a:rPr lang="es-MX" sz="2400" b="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a:latin typeface="Cambria Math" panose="02040503050406030204" pitchFamily="18" charset="0"/>
                                </a:rPr>
                                <m:t>3</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oMath>
                  </m:oMathPara>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2</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3</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a:rPr lang="es-MX" sz="2400" b="0" i="1" smtClean="0">
                          <a:latin typeface="Cambria Math" panose="02040503050406030204" pitchFamily="18" charset="0"/>
                        </a:rPr>
                        <m:t>=</m:t>
                      </m:r>
                      <m:r>
                        <a:rPr lang="es-MX" sz="2400" i="1">
                          <a:latin typeface="Cambria Math" panose="02040503050406030204" pitchFamily="18" charset="0"/>
                        </a:rPr>
                        <m:t>𝑃</m:t>
                      </m:r>
                      <m:d>
                        <m:dPr>
                          <m:ctrlPr>
                            <a:rPr lang="es-MX" sz="2400" i="1" smtClean="0">
                              <a:latin typeface="Cambria Math" panose="02040503050406030204" pitchFamily="18" charset="0"/>
                            </a:rPr>
                          </m:ctrlPr>
                        </m:dPr>
                        <m:e>
                          <m:sSub>
                            <m:sSubPr>
                              <m:ctrlPr>
                                <a:rPr lang="es-MX" sz="2400" b="0" i="1" smtClean="0">
                                  <a:latin typeface="Cambria Math" panose="02040503050406030204" pitchFamily="18" charset="0"/>
                                </a:rPr>
                              </m:ctrlPr>
                            </m:sSubPr>
                            <m:e>
                              <m:r>
                                <m:rPr>
                                  <m:sty m:val="p"/>
                                </m:rPr>
                                <a:rPr lang="es-MX" sz="2400" b="0" i="1" smtClean="0">
                                  <a:latin typeface="Cambria Math" panose="02040503050406030204" pitchFamily="18" charset="0"/>
                                </a:rPr>
                                <m:t>x</m:t>
                              </m:r>
                            </m:e>
                            <m:sub>
                              <m:r>
                                <a:rPr lang="es-MX" sz="2400" b="0" i="1" smtClean="0">
                                  <a:latin typeface="Cambria Math" panose="02040503050406030204" pitchFamily="18" charset="0"/>
                                </a:rPr>
                                <m:t>1</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smtClean="0">
                                  <a:latin typeface="Cambria Math" panose="02040503050406030204" pitchFamily="18" charset="0"/>
                                </a:rPr>
                                <m:t>2</m:t>
                              </m:r>
                            </m:sub>
                          </m:sSub>
                        </m:e>
                        <m:e>
                          <m:sSub>
                            <m:sSubPr>
                              <m:ctrlPr>
                                <a:rPr lang="es-MX" sz="2400" b="0" i="1" smtClean="0">
                                  <a:latin typeface="Cambria Math" panose="02040503050406030204" pitchFamily="18" charset="0"/>
                                </a:rPr>
                              </m:ctrlPr>
                            </m:sSubPr>
                            <m:e>
                              <m:r>
                                <m:rPr>
                                  <m:sty m:val="p"/>
                                </m:rPr>
                                <a:rPr lang="es-MX" sz="2400" b="0" i="1" smtClean="0">
                                  <a:latin typeface="Cambria Math" panose="02040503050406030204" pitchFamily="18" charset="0"/>
                                </a:rPr>
                                <m:t>x</m:t>
                              </m:r>
                            </m:e>
                            <m:sub>
                              <m:r>
                                <a:rPr lang="es-MX" sz="2400" b="0" i="1" smtClean="0">
                                  <a:latin typeface="Cambria Math" panose="02040503050406030204" pitchFamily="18" charset="0"/>
                                </a:rPr>
                                <m:t>1</m:t>
                              </m:r>
                            </m:sub>
                          </m:sSub>
                          <m:r>
                            <a:rPr lang="es-MX" sz="2400" b="0" i="1" smtClean="0">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smtClean="0">
                                  <a:latin typeface="Cambria Math" panose="02040503050406030204" pitchFamily="18" charset="0"/>
                                </a:rPr>
                                <m:t>3</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smtClean="0">
                                  <a:latin typeface="Cambria Math" panose="02040503050406030204" pitchFamily="18" charset="0"/>
                                </a:rPr>
                                <m:t>2</m:t>
                              </m:r>
                            </m:sub>
                          </m:sSub>
                          <m:r>
                            <a:rPr lang="es-MX" sz="2400" b="0" i="1" smtClean="0">
                              <a:latin typeface="Cambria Math" panose="02040503050406030204" pitchFamily="18" charset="0"/>
                            </a:rPr>
                            <m:t>,</m:t>
                          </m:r>
                          <m:sSub>
                            <m:sSubPr>
                              <m:ctrlPr>
                                <a:rPr lang="es-MX" sz="2400" b="0" i="1" smtClean="0">
                                  <a:latin typeface="Cambria Math" panose="02040503050406030204" pitchFamily="18" charset="0"/>
                                </a:rPr>
                              </m:ctrlPr>
                            </m:sSubPr>
                            <m:e>
                              <m:r>
                                <m:rPr>
                                  <m:sty m:val="p"/>
                                </m:rPr>
                                <a:rPr lang="es-MX" sz="2400" b="0" i="1" smtClean="0">
                                  <a:latin typeface="Cambria Math" panose="02040503050406030204" pitchFamily="18" charset="0"/>
                                </a:rPr>
                                <m:t>x</m:t>
                              </m:r>
                            </m:e>
                            <m:sub>
                              <m:r>
                                <a:rPr lang="es-MX" sz="2400" b="0" i="1" smtClean="0">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oMath>
                  </m:oMathPara>
                </a14:m>
                <a:endParaRPr lang="es-MX" sz="2400" dirty="0"/>
              </a:p>
              <a:p>
                <a:pPr marL="0" indent="0">
                  <a:buNone/>
                </a:pPr>
                <a:endParaRPr lang="es-MX" sz="2400" dirty="0"/>
              </a:p>
            </p:txBody>
          </p:sp>
        </mc:Choice>
        <mc:Fallback xmlns="">
          <p:sp>
            <p:nvSpPr>
              <p:cNvPr id="3" name="Marcador de contenido 2">
                <a:extLst>
                  <a:ext uri="{FF2B5EF4-FFF2-40B4-BE49-F238E27FC236}">
                    <a16:creationId xmlns:a16="http://schemas.microsoft.com/office/drawing/2014/main" id="{6CB9CE41-BFA6-8B55-70CF-18F80BC1C062}"/>
                  </a:ext>
                </a:extLst>
              </p:cNvPr>
              <p:cNvSpPr>
                <a:spLocks noGrp="1" noRot="1" noChangeAspect="1" noMove="1" noResize="1" noEditPoints="1" noAdjustHandles="1" noChangeArrowheads="1" noChangeShapeType="1" noTextEdit="1"/>
              </p:cNvSpPr>
              <p:nvPr>
                <p:ph idx="1"/>
              </p:nvPr>
            </p:nvSpPr>
            <p:spPr>
              <a:xfrm>
                <a:off x="4810259" y="649480"/>
                <a:ext cx="7135935" cy="5546047"/>
              </a:xfrm>
              <a:blipFill>
                <a:blip r:embed="rId2"/>
                <a:stretch>
                  <a:fillRect l="-1281" t="-3630"/>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FD82A21E-DC7E-5168-0509-918C080259EC}"/>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7883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95852C8-1BC9-D705-8FC6-4D1328E72433}"/>
                  </a:ext>
                </a:extLst>
              </p:cNvPr>
              <p:cNvSpPr>
                <a:spLocks noGrp="1"/>
              </p:cNvSpPr>
              <p:nvPr>
                <p:ph idx="1"/>
              </p:nvPr>
            </p:nvSpPr>
            <p:spPr>
              <a:xfrm>
                <a:off x="560439" y="448494"/>
                <a:ext cx="11080955" cy="5907856"/>
              </a:xfrm>
            </p:spPr>
            <p:txBody>
              <a:bodyPr anchor="t">
                <a:normAutofit/>
              </a:bodyPr>
              <a:lstStyle/>
              <a:p>
                <a:pPr marL="0" indent="0">
                  <a:buNone/>
                </a:pPr>
                <a:r>
                  <a:rPr lang="es-MX" sz="2400" dirty="0"/>
                  <a:t>Dado lo complicado que es calcular las probabilidades conjuntas de x1, x2 y x3, lo que se hace es asumir independencia entre las variables, por lo que la ecuación anterior se simplifica a:</a:t>
                </a:r>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2</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3</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2</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3</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2</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oMath>
                  </m:oMathPara>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2</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3</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i="1">
                                  <a:latin typeface="Cambria Math" panose="02040503050406030204" pitchFamily="18" charset="0"/>
                                </a:rPr>
                                <m:t>1</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a:latin typeface="Cambria Math" panose="02040503050406030204" pitchFamily="18" charset="0"/>
                                </a:rPr>
                                <m:t>2</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r>
                        <a:rPr lang="es-MX" sz="2400" i="1">
                          <a:latin typeface="Cambria Math" panose="02040503050406030204" pitchFamily="18" charset="0"/>
                        </a:rPr>
                        <m:t>𝑃</m:t>
                      </m:r>
                      <m:d>
                        <m:dPr>
                          <m:ctrlPr>
                            <a:rPr lang="es-MX" sz="2400" i="1">
                              <a:latin typeface="Cambria Math" panose="02040503050406030204" pitchFamily="18" charset="0"/>
                            </a:rPr>
                          </m:ctrlPr>
                        </m:dPr>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x</m:t>
                              </m:r>
                            </m:e>
                            <m:sub>
                              <m:r>
                                <a:rPr lang="es-MX" sz="2400" b="0" i="1">
                                  <a:latin typeface="Cambria Math" panose="02040503050406030204" pitchFamily="18" charset="0"/>
                                </a:rPr>
                                <m:t>3</m:t>
                              </m:r>
                            </m:sub>
                          </m:sSub>
                        </m:e>
                        <m:e>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e>
                      </m:d>
                    </m:oMath>
                  </m:oMathPara>
                </a14:m>
                <a:endParaRPr lang="es-MX" sz="2400" dirty="0"/>
              </a:p>
              <a:p>
                <a:pPr marL="0" indent="0">
                  <a:buNone/>
                </a:pPr>
                <a:endParaRPr lang="es-MX" sz="2400" dirty="0"/>
              </a:p>
              <a:p>
                <a:pPr marL="0" indent="0">
                  <a:buNone/>
                </a:pPr>
                <a:r>
                  <a:rPr lang="es-MX" sz="2400" dirty="0"/>
                  <a:t>Generalizando a un vector x de tamaño n se obtiene:</a:t>
                </a:r>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r>
                        <m:rPr>
                          <m:sty m:val="p"/>
                        </m:rPr>
                        <a:rPr lang="es-MX" sz="2400" i="1">
                          <a:latin typeface="Cambria Math" panose="02040503050406030204" pitchFamily="18" charset="0"/>
                        </a:rPr>
                        <m:t>x</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nary>
                        <m:naryPr>
                          <m:chr m:val="∏"/>
                          <m:ctrlPr>
                            <a:rPr lang="es-MX" sz="2400" b="0" i="1">
                              <a:latin typeface="Cambria Math" panose="02040503050406030204" pitchFamily="18" charset="0"/>
                            </a:rPr>
                          </m:ctrlPr>
                        </m:naryPr>
                        <m:sub>
                          <m:r>
                            <m:rPr>
                              <m:sty m:val="p"/>
                              <m:brk m:alnAt="23"/>
                            </m:rPr>
                            <a:rPr lang="es-MX" sz="2400" b="0" i="1">
                              <a:latin typeface="Cambria Math" panose="02040503050406030204" pitchFamily="18" charset="0"/>
                            </a:rPr>
                            <m:t>j</m:t>
                          </m:r>
                          <m:r>
                            <a:rPr lang="es-MX" sz="2400" b="0" i="1">
                              <a:latin typeface="Cambria Math" panose="02040503050406030204" pitchFamily="18" charset="0"/>
                            </a:rPr>
                            <m:t>=</m:t>
                          </m:r>
                          <m:r>
                            <m:rPr>
                              <m:brk m:alnAt="23"/>
                            </m:rPr>
                            <a:rPr lang="es-MX" sz="2400" b="0" i="1">
                              <a:latin typeface="Cambria Math" panose="02040503050406030204" pitchFamily="18" charset="0"/>
                            </a:rPr>
                            <m:t>1</m:t>
                          </m:r>
                        </m:sub>
                        <m:sup>
                          <m:r>
                            <m:rPr>
                              <m:sty m:val="p"/>
                            </m:rPr>
                            <a:rPr lang="es-MX" sz="2400" b="0" i="1">
                              <a:latin typeface="Cambria Math" panose="02040503050406030204" pitchFamily="18" charset="0"/>
                            </a:rPr>
                            <m:t>n</m:t>
                          </m:r>
                        </m:sup>
                        <m:e>
                          <m:r>
                            <m:rPr>
                              <m:sty m:val="p"/>
                            </m:rPr>
                            <a:rPr lang="es-MX" sz="2400" i="1">
                              <a:latin typeface="Cambria Math" panose="02040503050406030204" pitchFamily="18" charset="0"/>
                            </a:rPr>
                            <m:t>P</m:t>
                          </m:r>
                          <m:r>
                            <a:rPr lang="es-MX" sz="2400" i="1">
                              <a:latin typeface="Cambria Math" panose="02040503050406030204" pitchFamily="18" charset="0"/>
                            </a:rPr>
                            <m:t>(</m:t>
                          </m:r>
                          <m:sSub>
                            <m:sSubPr>
                              <m:ctrlPr>
                                <a:rPr lang="es-MX" sz="2400" b="0" i="1">
                                  <a:latin typeface="Cambria Math" panose="02040503050406030204" pitchFamily="18" charset="0"/>
                                </a:rPr>
                              </m:ctrlPr>
                            </m:sSubPr>
                            <m:e>
                              <m:r>
                                <m:rPr>
                                  <m:sty m:val="p"/>
                                </m:rPr>
                                <a:rPr lang="es-MX" sz="2400" b="0" i="1">
                                  <a:latin typeface="Cambria Math" panose="02040503050406030204" pitchFamily="18" charset="0"/>
                                </a:rPr>
                                <m:t>x</m:t>
                              </m:r>
                            </m:e>
                            <m:sub>
                              <m:r>
                                <m:rPr>
                                  <m:sty m:val="p"/>
                                </m:rPr>
                                <a:rPr lang="es-MX" sz="2400" b="0" i="1">
                                  <a:latin typeface="Cambria Math" panose="02040503050406030204" pitchFamily="18" charset="0"/>
                                </a:rPr>
                                <m:t>j</m:t>
                              </m:r>
                            </m:sub>
                          </m:sSub>
                          <m:r>
                            <a:rPr lang="es-MX" sz="2400" i="1">
                              <a:latin typeface="Cambria Math" panose="02040503050406030204" pitchFamily="18" charset="0"/>
                            </a:rPr>
                            <m:t>|</m:t>
                          </m:r>
                          <m:sSub>
                            <m:sSubPr>
                              <m:ctrlPr>
                                <a:rPr lang="es-MX" sz="2400" i="1">
                                  <a:latin typeface="Cambria Math" panose="02040503050406030204" pitchFamily="18" charset="0"/>
                                </a:rPr>
                              </m:ctrlPr>
                            </m:sSubPr>
                            <m:e>
                              <m:r>
                                <m:rPr>
                                  <m:sty m:val="p"/>
                                </m:rPr>
                                <a:rPr lang="es-MX" sz="2400" i="1">
                                  <a:latin typeface="Cambria Math" panose="02040503050406030204" pitchFamily="18" charset="0"/>
                                </a:rPr>
                                <m:t>C</m:t>
                              </m:r>
                            </m:e>
                            <m:sub>
                              <m:r>
                                <m:rPr>
                                  <m:sty m:val="p"/>
                                </m:rPr>
                                <a:rPr lang="es-MX" sz="2400" i="1">
                                  <a:latin typeface="Cambria Math" panose="02040503050406030204" pitchFamily="18" charset="0"/>
                                </a:rPr>
                                <m:t>i</m:t>
                              </m:r>
                            </m:sub>
                          </m:sSub>
                          <m:r>
                            <a:rPr lang="es-MX" sz="2400" i="1">
                              <a:latin typeface="Cambria Math" panose="02040503050406030204" pitchFamily="18" charset="0"/>
                            </a:rPr>
                            <m:t>)</m:t>
                          </m:r>
                        </m:e>
                      </m:nary>
                    </m:oMath>
                  </m:oMathPara>
                </a14:m>
                <a:endParaRPr lang="es-MX" sz="2400" dirty="0"/>
              </a:p>
              <a:p>
                <a:pPr marL="0" indent="0">
                  <a:buNone/>
                </a:pPr>
                <a:r>
                  <a:rPr lang="es-MX" sz="2400" dirty="0"/>
                  <a:t>S</a:t>
                </a:r>
                <a:r>
                  <a:rPr lang="es-MX" sz="2400" noProof="0" dirty="0"/>
                  <a:t>e le llama </a:t>
                </a:r>
                <a:r>
                  <a:rPr lang="es-MX" sz="2400" b="1" noProof="0" dirty="0"/>
                  <a:t>Bayes Ingenuo</a:t>
                </a:r>
                <a:r>
                  <a:rPr lang="es-MX" sz="2400" noProof="0" dirty="0"/>
                  <a:t>, ya que resulta ingenuo pensar que los elementos del vector de características son independientes.</a:t>
                </a:r>
                <a:endParaRPr lang="es-MX" sz="2000" noProof="0" dirty="0"/>
              </a:p>
            </p:txBody>
          </p:sp>
        </mc:Choice>
        <mc:Fallback xmlns="">
          <p:sp>
            <p:nvSpPr>
              <p:cNvPr id="3" name="Marcador de contenido 2">
                <a:extLst>
                  <a:ext uri="{FF2B5EF4-FFF2-40B4-BE49-F238E27FC236}">
                    <a16:creationId xmlns:a16="http://schemas.microsoft.com/office/drawing/2014/main" id="{D95852C8-1BC9-D705-8FC6-4D1328E72433}"/>
                  </a:ext>
                </a:extLst>
              </p:cNvPr>
              <p:cNvSpPr>
                <a:spLocks noGrp="1" noRot="1" noChangeAspect="1" noMove="1" noResize="1" noEditPoints="1" noAdjustHandles="1" noChangeArrowheads="1" noChangeShapeType="1" noTextEdit="1"/>
              </p:cNvSpPr>
              <p:nvPr>
                <p:ph idx="1"/>
              </p:nvPr>
            </p:nvSpPr>
            <p:spPr>
              <a:xfrm>
                <a:off x="560439" y="448494"/>
                <a:ext cx="11080955" cy="5907856"/>
              </a:xfrm>
              <a:blipFill>
                <a:blip r:embed="rId2"/>
                <a:stretch>
                  <a:fillRect l="-880" t="-1342" r="-55"/>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B50D06BA-82E7-53F4-98CA-F8291E240596}"/>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pSp>
        <p:nvGrpSpPr>
          <p:cNvPr id="9" name="Group 8">
            <a:extLst>
              <a:ext uri="{FF2B5EF4-FFF2-40B4-BE49-F238E27FC236}">
                <a16:creationId xmlns:a16="http://schemas.microsoft.com/office/drawing/2014/main" id="{26D12BCC-61D9-328E-F085-BB357865E8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CE600A4-5138-6E7C-0A6C-3653FBD81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4652843-24E8-329C-92EE-9B5CA2D4D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39676414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A108DD25-43D9-585B-D4FB-32B26FABD00B}"/>
                  </a:ext>
                </a:extLst>
              </p:cNvPr>
              <p:cNvSpPr>
                <a:spLocks noGrp="1"/>
              </p:cNvSpPr>
              <p:nvPr>
                <p:ph type="title"/>
              </p:nvPr>
            </p:nvSpPr>
            <p:spPr>
              <a:xfrm>
                <a:off x="1115568" y="548640"/>
                <a:ext cx="10168128" cy="1179576"/>
              </a:xfrm>
            </p:spPr>
            <p:txBody>
              <a:bodyPr>
                <a:normAutofit/>
              </a:bodyPr>
              <a:lstStyle/>
              <a:p>
                <a:r>
                  <a:rPr lang="es-MX" sz="4000"/>
                  <a:t>¿Cómo estimo </a:t>
                </a:r>
                <a14:m>
                  <m:oMath xmlns:m="http://schemas.openxmlformats.org/officeDocument/2006/math">
                    <m:r>
                      <m:rPr>
                        <m:sty m:val="p"/>
                      </m:rPr>
                      <a:rPr lang="es-MX" sz="4000" i="1">
                        <a:latin typeface="Cambria Math" panose="02040503050406030204" pitchFamily="18" charset="0"/>
                      </a:rPr>
                      <m:t>P</m:t>
                    </m:r>
                    <m:r>
                      <a:rPr lang="es-MX" sz="4000" i="1">
                        <a:latin typeface="Cambria Math" panose="02040503050406030204" pitchFamily="18" charset="0"/>
                      </a:rPr>
                      <m:t>(</m:t>
                    </m:r>
                    <m:r>
                      <m:rPr>
                        <m:sty m:val="p"/>
                      </m:rPr>
                      <a:rPr lang="es-MX" sz="4000" i="1">
                        <a:latin typeface="Cambria Math" panose="02040503050406030204" pitchFamily="18" charset="0"/>
                      </a:rPr>
                      <m:t>x</m:t>
                    </m:r>
                    <m:r>
                      <a:rPr lang="es-MX" sz="4000" i="1">
                        <a:latin typeface="Cambria Math" panose="02040503050406030204" pitchFamily="18" charset="0"/>
                      </a:rPr>
                      <m:t>|</m:t>
                    </m:r>
                    <m:sSub>
                      <m:sSubPr>
                        <m:ctrlPr>
                          <a:rPr lang="es-MX" sz="4000" b="0" i="1">
                            <a:latin typeface="Cambria Math" panose="02040503050406030204" pitchFamily="18" charset="0"/>
                          </a:rPr>
                        </m:ctrlPr>
                      </m:sSubPr>
                      <m:e>
                        <m:r>
                          <m:rPr>
                            <m:sty m:val="p"/>
                          </m:rPr>
                          <a:rPr lang="es-MX" sz="4000" b="0" i="1">
                            <a:latin typeface="Cambria Math" panose="02040503050406030204" pitchFamily="18" charset="0"/>
                          </a:rPr>
                          <m:t>C</m:t>
                        </m:r>
                      </m:e>
                      <m:sub>
                        <m:r>
                          <m:rPr>
                            <m:sty m:val="p"/>
                          </m:rPr>
                          <a:rPr lang="es-MX" sz="4000" i="1">
                            <a:latin typeface="Cambria Math" panose="02040503050406030204" pitchFamily="18" charset="0"/>
                          </a:rPr>
                          <m:t>i</m:t>
                        </m:r>
                      </m:sub>
                    </m:sSub>
                    <m:r>
                      <a:rPr lang="es-MX" sz="4000" i="1">
                        <a:latin typeface="Cambria Math" panose="02040503050406030204" pitchFamily="18" charset="0"/>
                      </a:rPr>
                      <m:t>)</m:t>
                    </m:r>
                  </m:oMath>
                </a14:m>
                <a:r>
                  <a:rPr lang="es-MX" sz="4000"/>
                  <a:t>?</a:t>
                </a:r>
              </a:p>
            </p:txBody>
          </p:sp>
        </mc:Choice>
        <mc:Fallback xmlns="">
          <p:sp>
            <p:nvSpPr>
              <p:cNvPr id="2" name="Título 1">
                <a:extLst>
                  <a:ext uri="{FF2B5EF4-FFF2-40B4-BE49-F238E27FC236}">
                    <a16:creationId xmlns:a16="http://schemas.microsoft.com/office/drawing/2014/main" id="{A108DD25-43D9-585B-D4FB-32B26FABD00B}"/>
                  </a:ext>
                </a:extLst>
              </p:cNvPr>
              <p:cNvSpPr>
                <a:spLocks noGrp="1" noRot="1" noChangeAspect="1" noMove="1" noResize="1" noEditPoints="1" noAdjustHandles="1" noChangeArrowheads="1" noChangeShapeType="1" noTextEdit="1"/>
              </p:cNvSpPr>
              <p:nvPr>
                <p:ph type="title"/>
              </p:nvPr>
            </p:nvSpPr>
            <p:spPr>
              <a:xfrm>
                <a:off x="1115568" y="548640"/>
                <a:ext cx="10168128" cy="1179576"/>
              </a:xfrm>
              <a:blipFill>
                <a:blip r:embed="rId2"/>
                <a:stretch>
                  <a:fillRect l="-2098"/>
                </a:stretch>
              </a:blipFill>
            </p:spPr>
            <p:txBody>
              <a:bodyPr/>
              <a:lstStyle/>
              <a:p>
                <a:r>
                  <a:rPr lang="es-MX">
                    <a:noFill/>
                  </a:rPr>
                  <a:t> </a:t>
                </a:r>
              </a:p>
            </p:txBody>
          </p:sp>
        </mc:Fallback>
      </mc:AlternateContent>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BC7EDB9-C9B5-F3ED-D755-38A0406AB481}"/>
                  </a:ext>
                </a:extLst>
              </p:cNvPr>
              <p:cNvSpPr>
                <a:spLocks noGrp="1"/>
              </p:cNvSpPr>
              <p:nvPr>
                <p:ph idx="1"/>
              </p:nvPr>
            </p:nvSpPr>
            <p:spPr>
              <a:xfrm>
                <a:off x="1115568" y="2481943"/>
                <a:ext cx="10168128" cy="3695020"/>
              </a:xfrm>
            </p:spPr>
            <p:txBody>
              <a:bodyPr>
                <a:normAutofit/>
              </a:bodyPr>
              <a:lstStyle/>
              <a:p>
                <a:r>
                  <a:rPr lang="es-MX" sz="2200" dirty="0"/>
                  <a:t>Variables continuas</a:t>
                </a:r>
              </a:p>
              <a:p>
                <a:pPr marL="0" indent="0">
                  <a:buNone/>
                </a:pPr>
                <a:r>
                  <a:rPr lang="es-MX" sz="2200" dirty="0"/>
                  <a:t>Se asume que cada característica sigue una distribución normal:</a:t>
                </a:r>
              </a:p>
              <a:p>
                <a:pPr marL="0" indent="0">
                  <a:buNone/>
                </a:pPr>
                <a:endParaRPr lang="es-MX" sz="2200" dirty="0"/>
              </a:p>
              <a:p>
                <a:pPr marL="0" indent="0">
                  <a:buNone/>
                </a:pPr>
                <a14:m>
                  <m:oMathPara xmlns:m="http://schemas.openxmlformats.org/officeDocument/2006/math">
                    <m:oMath>
                      <m:r>
                        <a:rPr lang="es-MX" sz="2200" i="1">
                          <a:latin typeface="Cambria Math" panose="02040503050406030204" pitchFamily="18" charset="0"/>
                        </a:rPr>
                        <m:t>𝑃</m:t>
                      </m:r>
                      <m:d>
                        <m:dPr>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𝑥</m:t>
                              </m:r>
                            </m:e>
                            <m:sub>
                              <m:r>
                                <a:rPr lang="ar-AE" sz="2200" i="1">
                                  <a:latin typeface="Cambria Math" panose="02040503050406030204" pitchFamily="18" charset="0"/>
                                </a:rPr>
                                <m:t>𝑗</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𝐶</m:t>
                              </m:r>
                            </m:e>
                            <m:sub>
                              <m:r>
                                <a:rPr lang="ar-AE" sz="2200" i="1">
                                  <a:latin typeface="Cambria Math" panose="02040503050406030204" pitchFamily="18" charset="0"/>
                                </a:rPr>
                                <m:t>𝑖</m:t>
                              </m:r>
                            </m:sub>
                          </m:sSub>
                        </m:e>
                      </m:d>
                      <m:r>
                        <a:rPr lang="ar-AE" sz="2200">
                          <a:latin typeface="Cambria Math" panose="02040503050406030204" pitchFamily="18" charset="0"/>
                        </a:rPr>
                        <m:t>=</m:t>
                      </m:r>
                      <m:r>
                        <a:rPr lang="ar-AE" sz="2200">
                          <a:latin typeface="Cambria Math" panose="02040503050406030204" pitchFamily="18" charset="0"/>
                        </a:rPr>
                        <m:t>𝒩</m:t>
                      </m:r>
                      <m:d>
                        <m:dPr>
                          <m:sepChr m:val=","/>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𝑥</m:t>
                              </m:r>
                            </m:e>
                            <m:sub>
                              <m:r>
                                <a:rPr lang="ar-AE" sz="2200" i="1">
                                  <a:latin typeface="Cambria Math" panose="02040503050406030204" pitchFamily="18" charset="0"/>
                                </a:rPr>
                                <m:t>𝑗</m:t>
                              </m:r>
                            </m:sub>
                          </m:sSub>
                        </m:e>
                        <m:e>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𝜇</m:t>
                              </m:r>
                            </m:e>
                            <m:sub>
                              <m:r>
                                <a:rPr lang="ar-AE" sz="2200" i="1">
                                  <a:latin typeface="Cambria Math" panose="02040503050406030204" pitchFamily="18" charset="0"/>
                                </a:rPr>
                                <m:t>𝑖𝑗</m:t>
                              </m:r>
                            </m:sub>
                          </m:sSub>
                          <m:sSubSup>
                            <m:sSubSupPr>
                              <m:ctrlPr>
                                <a:rPr lang="ar-AE" sz="2200" i="1">
                                  <a:latin typeface="Cambria Math" panose="02040503050406030204" pitchFamily="18" charset="0"/>
                                </a:rPr>
                              </m:ctrlPr>
                            </m:sSubSupPr>
                            <m:e>
                              <m:r>
                                <a:rPr lang="ar-AE" sz="2200" i="1">
                                  <a:latin typeface="Cambria Math" panose="02040503050406030204" pitchFamily="18" charset="0"/>
                                </a:rPr>
                                <m:t>𝜎</m:t>
                              </m:r>
                            </m:e>
                            <m:sub>
                              <m:r>
                                <a:rPr lang="ar-AE" sz="2200" i="1">
                                  <a:latin typeface="Cambria Math" panose="02040503050406030204" pitchFamily="18" charset="0"/>
                                </a:rPr>
                                <m:t>𝑖𝑗</m:t>
                              </m:r>
                            </m:sub>
                            <m:sup>
                              <m:r>
                                <a:rPr lang="ar-AE" sz="2200">
                                  <a:latin typeface="Cambria Math" panose="02040503050406030204" pitchFamily="18" charset="0"/>
                                </a:rPr>
                                <m:t>2</m:t>
                              </m:r>
                            </m:sup>
                          </m:sSubSup>
                        </m:e>
                      </m:d>
                    </m:oMath>
                  </m:oMathPara>
                </a14:m>
                <a:endParaRPr lang="es-MX" sz="2200" dirty="0"/>
              </a:p>
              <a:p>
                <a:pPr marL="0" indent="0">
                  <a:buNone/>
                </a:pPr>
                <a:endParaRPr lang="ar-AE" sz="2200" dirty="0"/>
              </a:p>
              <a:p>
                <a:pPr marL="0" indent="0">
                  <a:buNone/>
                </a:pPr>
                <a14:m>
                  <m:oMathPara xmlns:m="http://schemas.openxmlformats.org/officeDocument/2006/math">
                    <m:oMath>
                      <m:r>
                        <a:rPr lang="ar-AE" sz="2200" i="1">
                          <a:latin typeface="Cambria Math" panose="02040503050406030204" pitchFamily="18" charset="0"/>
                        </a:rPr>
                        <m:t>𝑃</m:t>
                      </m:r>
                      <m:d>
                        <m:dPr>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𝑥</m:t>
                              </m:r>
                            </m:e>
                            <m:sub>
                              <m:r>
                                <a:rPr lang="ar-AE" sz="2200" i="1">
                                  <a:latin typeface="Cambria Math" panose="02040503050406030204" pitchFamily="18" charset="0"/>
                                </a:rPr>
                                <m:t>𝑗</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𝐶</m:t>
                              </m:r>
                            </m:e>
                            <m:sub>
                              <m:r>
                                <a:rPr lang="ar-AE" sz="2200" i="1">
                                  <a:latin typeface="Cambria Math" panose="02040503050406030204" pitchFamily="18" charset="0"/>
                                </a:rPr>
                                <m:t>𝑖</m:t>
                              </m:r>
                            </m:sub>
                          </m:sSub>
                        </m:e>
                      </m:d>
                      <m:r>
                        <a:rPr lang="ar-AE" sz="2200">
                          <a:latin typeface="Cambria Math" panose="02040503050406030204" pitchFamily="18" charset="0"/>
                        </a:rPr>
                        <m:t>=</m:t>
                      </m:r>
                      <m:f>
                        <m:fPr>
                          <m:ctrlPr>
                            <a:rPr lang="ar-AE" sz="2200">
                              <a:latin typeface="Cambria Math" panose="02040503050406030204" pitchFamily="18" charset="0"/>
                            </a:rPr>
                          </m:ctrlPr>
                        </m:fPr>
                        <m:num>
                          <m:r>
                            <a:rPr lang="ar-AE" sz="2200">
                              <a:latin typeface="Cambria Math" panose="02040503050406030204" pitchFamily="18" charset="0"/>
                            </a:rPr>
                            <m:t>1</m:t>
                          </m:r>
                        </m:num>
                        <m:den>
                          <m:rad>
                            <m:radPr>
                              <m:degHide m:val="on"/>
                              <m:ctrlPr>
                                <a:rPr lang="ar-AE" sz="2200" i="1">
                                  <a:latin typeface="Cambria Math" panose="02040503050406030204" pitchFamily="18" charset="0"/>
                                </a:rPr>
                              </m:ctrlPr>
                            </m:radPr>
                            <m:deg/>
                            <m:e>
                              <m:r>
                                <a:rPr lang="ar-AE" sz="2200">
                                  <a:latin typeface="Cambria Math" panose="02040503050406030204" pitchFamily="18" charset="0"/>
                                </a:rPr>
                                <m:t>2</m:t>
                              </m:r>
                              <m:r>
                                <a:rPr lang="ar-AE" sz="2200" i="1">
                                  <a:latin typeface="Cambria Math" panose="02040503050406030204" pitchFamily="18" charset="0"/>
                                </a:rPr>
                                <m:t>𝜋</m:t>
                              </m:r>
                              <m:sSubSup>
                                <m:sSubSupPr>
                                  <m:ctrlPr>
                                    <a:rPr lang="ar-AE" sz="2200" i="1">
                                      <a:latin typeface="Cambria Math" panose="02040503050406030204" pitchFamily="18" charset="0"/>
                                    </a:rPr>
                                  </m:ctrlPr>
                                </m:sSubSupPr>
                                <m:e>
                                  <m:r>
                                    <a:rPr lang="ar-AE" sz="2200" i="1">
                                      <a:latin typeface="Cambria Math" panose="02040503050406030204" pitchFamily="18" charset="0"/>
                                    </a:rPr>
                                    <m:t>𝜎</m:t>
                                  </m:r>
                                </m:e>
                                <m:sub>
                                  <m:r>
                                    <a:rPr lang="ar-AE" sz="2200" i="1">
                                      <a:latin typeface="Cambria Math" panose="02040503050406030204" pitchFamily="18" charset="0"/>
                                    </a:rPr>
                                    <m:t>𝑖𝑗</m:t>
                                  </m:r>
                                </m:sub>
                                <m:sup>
                                  <m:r>
                                    <a:rPr lang="ar-AE" sz="2200">
                                      <a:latin typeface="Cambria Math" panose="02040503050406030204" pitchFamily="18" charset="0"/>
                                    </a:rPr>
                                    <m:t>2</m:t>
                                  </m:r>
                                </m:sup>
                              </m:sSubSup>
                            </m:e>
                          </m:rad>
                        </m:den>
                      </m:f>
                      <m:func>
                        <m:funcPr>
                          <m:ctrlPr>
                            <a:rPr lang="es-MX" sz="2200">
                              <a:latin typeface="Cambria Math" panose="02040503050406030204" pitchFamily="18" charset="0"/>
                            </a:rPr>
                          </m:ctrlPr>
                        </m:funcPr>
                        <m:fName>
                          <m:r>
                            <m:rPr>
                              <m:sty m:val="p"/>
                            </m:rPr>
                            <a:rPr lang="es-MX" sz="2200">
                              <a:latin typeface="Cambria Math" panose="02040503050406030204" pitchFamily="18" charset="0"/>
                            </a:rPr>
                            <m:t>exp</m:t>
                          </m:r>
                        </m:fName>
                        <m:e>
                          <m:d>
                            <m:dPr>
                              <m:ctrlPr>
                                <a:rPr lang="ar-AE" sz="2200">
                                  <a:latin typeface="Cambria Math" panose="02040503050406030204" pitchFamily="18" charset="0"/>
                                </a:rPr>
                              </m:ctrlPr>
                            </m:dPr>
                            <m:e>
                              <m:r>
                                <a:rPr lang="ar-AE" sz="2200">
                                  <a:latin typeface="Cambria Math" panose="02040503050406030204" pitchFamily="18" charset="0"/>
                                </a:rPr>
                                <m:t>−</m:t>
                              </m:r>
                              <m:f>
                                <m:fPr>
                                  <m:ctrlPr>
                                    <a:rPr lang="ar-AE" sz="2200" i="1">
                                      <a:latin typeface="Cambria Math" panose="02040503050406030204" pitchFamily="18" charset="0"/>
                                    </a:rPr>
                                  </m:ctrlPr>
                                </m:fPr>
                                <m:num>
                                  <m:d>
                                    <m:dPr>
                                      <m:endChr m:val=""/>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𝑥</m:t>
                                          </m:r>
                                        </m:e>
                                        <m:sub>
                                          <m:r>
                                            <a:rPr lang="ar-AE" sz="2200" i="1">
                                              <a:latin typeface="Cambria Math" panose="02040503050406030204" pitchFamily="18" charset="0"/>
                                            </a:rPr>
                                            <m:t>𝑗</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𝜇</m:t>
                                          </m:r>
                                        </m:e>
                                        <m:sub>
                                          <m:r>
                                            <a:rPr lang="ar-AE" sz="2200" i="1">
                                              <a:latin typeface="Cambria Math" panose="02040503050406030204" pitchFamily="18" charset="0"/>
                                            </a:rPr>
                                            <m:t>𝑖𝑗</m:t>
                                          </m:r>
                                        </m:sub>
                                      </m:sSub>
                                      <m:sSup>
                                        <m:sSupPr>
                                          <m:ctrlPr>
                                            <a:rPr lang="ar-AE" sz="2200" i="1">
                                              <a:latin typeface="Cambria Math" panose="02040503050406030204" pitchFamily="18" charset="0"/>
                                            </a:rPr>
                                          </m:ctrlPr>
                                        </m:sSupPr>
                                        <m:e>
                                          <m:d>
                                            <m:dPr>
                                              <m:begChr m:val=""/>
                                              <m:endChr m:val=""/>
                                              <m:ctrlPr>
                                                <a:rPr lang="ar-AE" sz="2200">
                                                  <a:latin typeface="Cambria Math" panose="02040503050406030204" pitchFamily="18" charset="0"/>
                                                </a:rPr>
                                              </m:ctrlPr>
                                            </m:dPr>
                                            <m:e>
                                              <m:r>
                                                <a:rPr lang="ar-AE" sz="2200">
                                                  <a:latin typeface="Cambria Math" panose="02040503050406030204" pitchFamily="18" charset="0"/>
                                                </a:rPr>
                                                <m:t>)</m:t>
                                              </m:r>
                                            </m:e>
                                          </m:d>
                                        </m:e>
                                        <m:sup>
                                          <m:r>
                                            <a:rPr lang="ar-AE" sz="2200">
                                              <a:latin typeface="Cambria Math" panose="02040503050406030204" pitchFamily="18" charset="0"/>
                                            </a:rPr>
                                            <m:t>2</m:t>
                                          </m:r>
                                        </m:sup>
                                      </m:sSup>
                                    </m:e>
                                  </m:d>
                                </m:num>
                                <m:den>
                                  <m:r>
                                    <a:rPr lang="ar-AE" sz="2200">
                                      <a:latin typeface="Cambria Math" panose="02040503050406030204" pitchFamily="18" charset="0"/>
                                    </a:rPr>
                                    <m:t>2</m:t>
                                  </m:r>
                                  <m:sSubSup>
                                    <m:sSubSupPr>
                                      <m:ctrlPr>
                                        <a:rPr lang="ar-AE" sz="2200" i="1">
                                          <a:latin typeface="Cambria Math" panose="02040503050406030204" pitchFamily="18" charset="0"/>
                                        </a:rPr>
                                      </m:ctrlPr>
                                    </m:sSubSupPr>
                                    <m:e>
                                      <m:r>
                                        <a:rPr lang="ar-AE" sz="2200" i="1">
                                          <a:latin typeface="Cambria Math" panose="02040503050406030204" pitchFamily="18" charset="0"/>
                                        </a:rPr>
                                        <m:t>𝜎</m:t>
                                      </m:r>
                                    </m:e>
                                    <m:sub>
                                      <m:r>
                                        <a:rPr lang="ar-AE" sz="2200" i="1">
                                          <a:latin typeface="Cambria Math" panose="02040503050406030204" pitchFamily="18" charset="0"/>
                                        </a:rPr>
                                        <m:t>𝑖𝑗</m:t>
                                      </m:r>
                                    </m:sub>
                                    <m:sup>
                                      <m:r>
                                        <a:rPr lang="ar-AE" sz="2200">
                                          <a:latin typeface="Cambria Math" panose="02040503050406030204" pitchFamily="18" charset="0"/>
                                        </a:rPr>
                                        <m:t>2</m:t>
                                      </m:r>
                                    </m:sup>
                                  </m:sSubSup>
                                </m:den>
                              </m:f>
                            </m:e>
                          </m:d>
                        </m:e>
                      </m:func>
                    </m:oMath>
                  </m:oMathPara>
                </a14:m>
                <a:endParaRPr lang="ar-AE" sz="2200" dirty="0"/>
              </a:p>
              <a:p>
                <a:pPr marL="0" indent="0">
                  <a:buNone/>
                </a:pPr>
                <a:endParaRPr lang="es-MX" sz="2200" dirty="0"/>
              </a:p>
            </p:txBody>
          </p:sp>
        </mc:Choice>
        <mc:Fallback xmlns="">
          <p:sp>
            <p:nvSpPr>
              <p:cNvPr id="3" name="Marcador de contenido 2">
                <a:extLst>
                  <a:ext uri="{FF2B5EF4-FFF2-40B4-BE49-F238E27FC236}">
                    <a16:creationId xmlns:a16="http://schemas.microsoft.com/office/drawing/2014/main" id="{DBC7EDB9-C9B5-F3ED-D755-38A0406AB481}"/>
                  </a:ext>
                </a:extLst>
              </p:cNvPr>
              <p:cNvSpPr>
                <a:spLocks noGrp="1" noRot="1" noChangeAspect="1" noMove="1" noResize="1" noEditPoints="1" noAdjustHandles="1" noChangeArrowheads="1" noChangeShapeType="1" noTextEdit="1"/>
              </p:cNvSpPr>
              <p:nvPr>
                <p:ph idx="1"/>
              </p:nvPr>
            </p:nvSpPr>
            <p:spPr>
              <a:xfrm>
                <a:off x="1115568" y="2481943"/>
                <a:ext cx="10168128" cy="3695020"/>
              </a:xfrm>
              <a:blipFill>
                <a:blip r:embed="rId3"/>
                <a:stretch>
                  <a:fillRect l="-779" t="-1980"/>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CC093D88-B039-4E39-B786-57A5B31D6F1B}"/>
              </a:ext>
            </a:extLst>
          </p:cNvPr>
          <p:cNvSpPr>
            <a:spLocks noGrp="1"/>
          </p:cNvSpPr>
          <p:nvPr>
            <p:ph type="sldNum" sz="quarter" idx="12"/>
          </p:nvPr>
        </p:nvSpPr>
        <p:spPr>
          <a:xfrm>
            <a:off x="8540496"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41</a:t>
            </a:fld>
            <a:endPar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83889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1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A168685-5ABB-36C4-9DB0-87BCBE5AD8AB}"/>
                  </a:ext>
                </a:extLst>
              </p:cNvPr>
              <p:cNvSpPr>
                <a:spLocks noGrp="1"/>
              </p:cNvSpPr>
              <p:nvPr>
                <p:ph idx="1"/>
              </p:nvPr>
            </p:nvSpPr>
            <p:spPr>
              <a:xfrm>
                <a:off x="411480" y="2684095"/>
                <a:ext cx="4443154" cy="3492868"/>
              </a:xfrm>
            </p:spPr>
            <p:txBody>
              <a:bodyPr>
                <a:normAutofit/>
              </a:bodyPr>
              <a:lstStyle/>
              <a:p>
                <a:r>
                  <a:rPr lang="es-MX" sz="1800"/>
                  <a:t>Esto implica, que para cada clase </a:t>
                </a:r>
                <a14:m>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𝜔</m:t>
                        </m:r>
                      </m:e>
                      <m:sub>
                        <m:r>
                          <a:rPr lang="ar-AE" sz="1800" i="1">
                            <a:latin typeface="Cambria Math" panose="02040503050406030204" pitchFamily="18" charset="0"/>
                          </a:rPr>
                          <m:t>𝑖</m:t>
                        </m:r>
                      </m:sub>
                    </m:sSub>
                  </m:oMath>
                </a14:m>
                <a:r>
                  <a:rPr lang="ar-AE" sz="1800"/>
                  <a:t>:</a:t>
                </a:r>
              </a:p>
              <a:p>
                <a:pPr marL="514350" indent="-514350">
                  <a:buFont typeface="+mj-lt"/>
                  <a:buAutoNum type="arabicPeriod"/>
                </a:pPr>
                <a:r>
                  <a:rPr lang="es-MX" sz="1800"/>
                  <a:t>Estimar la </a:t>
                </a:r>
                <a:r>
                  <a:rPr lang="es-MX" sz="1800" b="1"/>
                  <a:t>media</a:t>
                </a:r>
                <a:r>
                  <a:rPr lang="es-MX" sz="1800"/>
                  <a:t> </a:t>
                </a:r>
                <a14:m>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𝜇</m:t>
                        </m:r>
                      </m:e>
                      <m:sub>
                        <m:r>
                          <a:rPr lang="ar-AE" sz="1800" i="1">
                            <a:latin typeface="Cambria Math" panose="02040503050406030204" pitchFamily="18" charset="0"/>
                          </a:rPr>
                          <m:t>𝑖𝑗</m:t>
                        </m:r>
                      </m:sub>
                    </m:sSub>
                  </m:oMath>
                </a14:m>
                <a:r>
                  <a:rPr lang="es-MX" sz="1800"/>
                  <a:t> y </a:t>
                </a:r>
                <a:r>
                  <a:rPr lang="es-MX" sz="1800" b="1"/>
                  <a:t>varianza</a:t>
                </a:r>
                <a:r>
                  <a:rPr lang="es-MX" sz="1800"/>
                  <a:t> </a:t>
                </a:r>
                <a14:m>
                  <m:oMath xmlns:m="http://schemas.openxmlformats.org/officeDocument/2006/math">
                    <m:sSubSup>
                      <m:sSubSupPr>
                        <m:ctrlPr>
                          <a:rPr lang="ar-AE" sz="1800" i="1">
                            <a:latin typeface="Cambria Math" panose="02040503050406030204" pitchFamily="18" charset="0"/>
                          </a:rPr>
                        </m:ctrlPr>
                      </m:sSubSupPr>
                      <m:e>
                        <m:r>
                          <a:rPr lang="ar-AE" sz="1800" i="1">
                            <a:latin typeface="Cambria Math" panose="02040503050406030204" pitchFamily="18" charset="0"/>
                          </a:rPr>
                          <m:t>𝜎</m:t>
                        </m:r>
                      </m:e>
                      <m:sub>
                        <m:r>
                          <a:rPr lang="ar-AE" sz="1800" i="1">
                            <a:latin typeface="Cambria Math" panose="02040503050406030204" pitchFamily="18" charset="0"/>
                          </a:rPr>
                          <m:t>𝑖𝑗</m:t>
                        </m:r>
                      </m:sub>
                      <m:sup>
                        <m:r>
                          <a:rPr lang="ar-AE" sz="1800">
                            <a:latin typeface="Cambria Math" panose="02040503050406030204" pitchFamily="18" charset="0"/>
                          </a:rPr>
                          <m:t>2</m:t>
                        </m:r>
                      </m:sup>
                    </m:sSubSup>
                    <m:r>
                      <a:rPr lang="ar-AE" sz="1800" i="1">
                        <a:latin typeface="Cambria Math" panose="02040503050406030204" pitchFamily="18" charset="0"/>
                      </a:rPr>
                      <m:t> </m:t>
                    </m:r>
                  </m:oMath>
                </a14:m>
                <a:r>
                  <a:rPr lang="es-MX" sz="1800"/>
                  <a:t>de cada característica </a:t>
                </a:r>
              </a:p>
              <a:p>
                <a:pPr marL="514350" indent="-514350">
                  <a:buFont typeface="+mj-lt"/>
                  <a:buAutoNum type="arabicPeriod"/>
                </a:pPr>
                <a:r>
                  <a:rPr lang="es-MX" sz="1800"/>
                  <a:t>Estimar la </a:t>
                </a:r>
                <a:r>
                  <a:rPr lang="es-MX" sz="1800" b="1"/>
                  <a:t>probabilidad a priori</a:t>
                </a:r>
                <a:r>
                  <a:rPr lang="es-MX" sz="1800"/>
                  <a:t> </a:t>
                </a:r>
                <a14:m>
                  <m:oMath xmlns:m="http://schemas.openxmlformats.org/officeDocument/2006/math">
                    <m:r>
                      <a:rPr lang="es-MX" sz="1800" i="1">
                        <a:latin typeface="Cambria Math" panose="02040503050406030204" pitchFamily="18" charset="0"/>
                      </a:rPr>
                      <m:t>𝑃</m:t>
                    </m:r>
                    <m:d>
                      <m:dPr>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i="1">
                                <a:latin typeface="Cambria Math" panose="02040503050406030204" pitchFamily="18" charset="0"/>
                              </a:rPr>
                              <m:t>𝜔</m:t>
                            </m:r>
                          </m:e>
                          <m:sub>
                            <m:r>
                              <a:rPr lang="ar-AE" sz="1800" i="1">
                                <a:latin typeface="Cambria Math" panose="02040503050406030204" pitchFamily="18" charset="0"/>
                              </a:rPr>
                              <m:t>𝑖</m:t>
                            </m:r>
                          </m:sub>
                        </m:sSub>
                      </m:e>
                    </m:d>
                  </m:oMath>
                </a14:m>
                <a:endParaRPr lang="ar-AE" sz="1800"/>
              </a:p>
              <a:p>
                <a:endParaRPr lang="es-MX" sz="1800"/>
              </a:p>
              <a:p>
                <a:pPr marL="514350" indent="-514350">
                  <a:buFont typeface="+mj-lt"/>
                  <a:buAutoNum type="arabicPeriod"/>
                </a:pPr>
                <a:endParaRPr lang="es-MX" sz="1800"/>
              </a:p>
            </p:txBody>
          </p:sp>
        </mc:Choice>
        <mc:Fallback xmlns="">
          <p:sp>
            <p:nvSpPr>
              <p:cNvPr id="3" name="Marcador de contenido 2">
                <a:extLst>
                  <a:ext uri="{FF2B5EF4-FFF2-40B4-BE49-F238E27FC236}">
                    <a16:creationId xmlns:a16="http://schemas.microsoft.com/office/drawing/2014/main" id="{FA168685-5ABB-36C4-9DB0-87BCBE5AD8AB}"/>
                  </a:ext>
                </a:extLst>
              </p:cNvPr>
              <p:cNvSpPr>
                <a:spLocks noGrp="1" noRot="1" noChangeAspect="1" noMove="1" noResize="1" noEditPoints="1" noAdjustHandles="1" noChangeArrowheads="1" noChangeShapeType="1" noTextEdit="1"/>
              </p:cNvSpPr>
              <p:nvPr>
                <p:ph idx="1"/>
              </p:nvPr>
            </p:nvSpPr>
            <p:spPr>
              <a:xfrm>
                <a:off x="411480" y="2684095"/>
                <a:ext cx="4443154" cy="3492868"/>
              </a:xfrm>
              <a:blipFill>
                <a:blip r:embed="rId2"/>
                <a:stretch>
                  <a:fillRect l="-1236" t="-1745" r="-824"/>
                </a:stretch>
              </a:blipFill>
            </p:spPr>
            <p:txBody>
              <a:bodyPr/>
              <a:lstStyle/>
              <a:p>
                <a:r>
                  <a:rPr lang="es-MX">
                    <a:noFill/>
                  </a:rPr>
                  <a:t> </a:t>
                </a:r>
              </a:p>
            </p:txBody>
          </p:sp>
        </mc:Fallback>
      </mc:AlternateContent>
      <p:pic>
        <p:nvPicPr>
          <p:cNvPr id="6" name="Imagen 5">
            <a:extLst>
              <a:ext uri="{FF2B5EF4-FFF2-40B4-BE49-F238E27FC236}">
                <a16:creationId xmlns:a16="http://schemas.microsoft.com/office/drawing/2014/main" id="{37CDBAD3-78A1-D07C-4DBB-DF0D77EA1B3F}"/>
              </a:ext>
            </a:extLst>
          </p:cNvPr>
          <p:cNvPicPr>
            <a:picLocks noChangeAspect="1"/>
          </p:cNvPicPr>
          <p:nvPr/>
        </p:nvPicPr>
        <p:blipFill>
          <a:blip r:embed="rId3"/>
          <a:stretch>
            <a:fillRect/>
          </a:stretch>
        </p:blipFill>
        <p:spPr>
          <a:xfrm>
            <a:off x="5385816" y="1581903"/>
            <a:ext cx="6440424" cy="3638839"/>
          </a:xfrm>
          <a:prstGeom prst="rect">
            <a:avLst/>
          </a:prstGeom>
        </p:spPr>
      </p:pic>
      <p:sp>
        <p:nvSpPr>
          <p:cNvPr id="4" name="Marcador de número de diapositiva 3">
            <a:extLst>
              <a:ext uri="{FF2B5EF4-FFF2-40B4-BE49-F238E27FC236}">
                <a16:creationId xmlns:a16="http://schemas.microsoft.com/office/drawing/2014/main" id="{B2E0BB0F-54AC-B6D8-000B-BBC68BB93DF0}"/>
              </a:ext>
            </a:extLst>
          </p:cNvPr>
          <p:cNvSpPr>
            <a:spLocks noGrp="1"/>
          </p:cNvSpPr>
          <p:nvPr>
            <p:ph type="sldNum" sz="quarter" idx="12"/>
          </p:nvPr>
        </p:nvSpPr>
        <p:spPr>
          <a:xfrm>
            <a:off x="9037321"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3776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DCE508C-C6C7-4014-3054-EA83C3FC1A13}"/>
                  </a:ext>
                </a:extLst>
              </p:cNvPr>
              <p:cNvSpPr>
                <a:spLocks noGrp="1"/>
              </p:cNvSpPr>
              <p:nvPr>
                <p:ph idx="1"/>
              </p:nvPr>
            </p:nvSpPr>
            <p:spPr>
              <a:xfrm>
                <a:off x="838200" y="963561"/>
                <a:ext cx="10515600" cy="5213402"/>
              </a:xfrm>
            </p:spPr>
            <p:txBody>
              <a:bodyPr>
                <a:normAutofit/>
              </a:bodyPr>
              <a:lstStyle/>
              <a:p>
                <a:r>
                  <a:rPr lang="es-MX" dirty="0"/>
                  <a:t>Variables discretas</a:t>
                </a:r>
              </a:p>
              <a:p>
                <a:pPr marL="0" indent="0">
                  <a:buNone/>
                </a:pPr>
                <a:r>
                  <a:rPr lang="es-MX" dirty="0"/>
                  <a:t>Se puede hacer con una multinomial (para texto, conteos, etc.)</a:t>
                </a:r>
              </a:p>
              <a:p>
                <a:pPr marL="0" indent="0">
                  <a:buNone/>
                </a:pPr>
                <a:endParaRPr lang="es-MX" dirty="0"/>
              </a:p>
              <a:p>
                <a:pPr marL="0" indent="0">
                  <a:buNone/>
                </a:pPr>
                <a14:m>
                  <m:oMathPara xmlns:m="http://schemas.openxmlformats.org/officeDocument/2006/math">
                    <m:oMath>
                      <m:r>
                        <a:rPr lang="es-MX"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e>
                      </m:d>
                      <m:r>
                        <a:rPr lang="ar-AE">
                          <a:latin typeface="Cambria Math" panose="02040503050406030204" pitchFamily="18" charset="0"/>
                        </a:rPr>
                        <m:t>=</m:t>
                      </m:r>
                      <m:f>
                        <m:fPr>
                          <m:ctrlPr>
                            <a:rPr lang="es-MX" i="1"/>
                          </m:ctrlPr>
                        </m:fPr>
                        <m:num>
                          <m:r>
                            <m:rPr>
                              <m:nor/>
                            </m:rPr>
                            <a:rPr lang="es-MX" i="1"/>
                            <m:t>conteo de </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r>
                            <m:rPr>
                              <m:nor/>
                            </m:rPr>
                            <a:rPr lang="ar-AE" i="1"/>
                            <m:t> </m:t>
                          </m:r>
                          <m:r>
                            <m:rPr>
                              <m:nor/>
                            </m:rPr>
                            <a:rPr lang="es-MX" i="1"/>
                            <m:t>en </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num>
                        <m:den>
                          <m:r>
                            <m:rPr>
                              <m:nor/>
                            </m:rPr>
                            <a:rPr lang="es-MX" i="1"/>
                            <m:t>total en </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den>
                      </m:f>
                    </m:oMath>
                  </m:oMathPara>
                </a14:m>
                <a:endParaRPr lang="es-MX" b="0" dirty="0"/>
              </a:p>
              <a:p>
                <a:pPr marL="0" indent="0">
                  <a:buNone/>
                </a:pPr>
                <a:endParaRPr lang="ar-AE" b="0" dirty="0"/>
              </a:p>
              <a:p>
                <a:pPr marL="0" indent="0">
                  <a:buNone/>
                </a:pPr>
                <a:r>
                  <a:rPr lang="es-MX" dirty="0"/>
                  <a:t>Normalmente se usa suavizado de Laplace:</a:t>
                </a:r>
              </a:p>
              <a:p>
                <a:pPr marL="0" indent="0">
                  <a:buNone/>
                </a:pPr>
                <a:endParaRPr lang="es-MX" dirty="0"/>
              </a:p>
              <a:p>
                <a:pPr marL="0" indent="0">
                  <a:buNone/>
                </a:pPr>
                <a14:m>
                  <m:oMathPara xmlns:m="http://schemas.openxmlformats.org/officeDocument/2006/math">
                    <m:oMath>
                      <m:r>
                        <a:rPr lang="es-MX"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e>
                      </m:d>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𝑖𝑗</m:t>
                              </m:r>
                            </m:sub>
                          </m:sSub>
                          <m:r>
                            <a:rPr lang="ar-AE">
                              <a:latin typeface="Cambria Math" panose="02040503050406030204" pitchFamily="18" charset="0"/>
                            </a:rPr>
                            <m:t>+</m:t>
                          </m:r>
                          <m:r>
                            <a:rPr lang="ar-AE" i="1">
                              <a:latin typeface="Cambria Math" panose="02040503050406030204" pitchFamily="18" charset="0"/>
                            </a:rPr>
                            <m:t>𝛼</m:t>
                          </m:r>
                        </m:num>
                        <m:den>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𝛼</m:t>
                          </m:r>
                          <m:r>
                            <a:rPr lang="ar-AE" i="1">
                              <a:latin typeface="Cambria Math" panose="02040503050406030204" pitchFamily="18" charset="0"/>
                            </a:rPr>
                            <m:t>𝑑</m:t>
                          </m:r>
                        </m:den>
                      </m:f>
                    </m:oMath>
                  </m:oMathPara>
                </a14:m>
                <a:endParaRPr lang="ar-AE"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5DCE508C-C6C7-4014-3054-EA83C3FC1A13}"/>
                  </a:ext>
                </a:extLst>
              </p:cNvPr>
              <p:cNvSpPr>
                <a:spLocks noGrp="1" noRot="1" noChangeAspect="1" noMove="1" noResize="1" noEditPoints="1" noAdjustHandles="1" noChangeArrowheads="1" noChangeShapeType="1" noTextEdit="1"/>
              </p:cNvSpPr>
              <p:nvPr>
                <p:ph idx="1"/>
              </p:nvPr>
            </p:nvSpPr>
            <p:spPr>
              <a:xfrm>
                <a:off x="838200" y="963561"/>
                <a:ext cx="10515600" cy="5213402"/>
              </a:xfrm>
              <a:blipFill>
                <a:blip r:embed="rId2"/>
                <a:stretch>
                  <a:fillRect l="-1217" t="-1988"/>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7FBCDB90-7712-D498-2C9B-20F4A79FFADD}"/>
              </a:ext>
            </a:extLst>
          </p:cNvPr>
          <p:cNvSpPr>
            <a:spLocks noGrp="1"/>
          </p:cNvSpPr>
          <p:nvPr>
            <p:ph type="sldNum" sz="quarter" idx="12"/>
          </p:nvPr>
        </p:nvSpPr>
        <p:spPr/>
        <p:txBody>
          <a:bodyPr/>
          <a:lstStyle/>
          <a:p>
            <a:fld id="{01DE96D7-2428-4FB8-BC54-9541E69FDA26}" type="slidenum">
              <a:rPr lang="es-MX" smtClean="0"/>
              <a:t>43</a:t>
            </a:fld>
            <a:endParaRPr lang="es-MX" dirty="0"/>
          </a:p>
        </p:txBody>
      </p:sp>
    </p:spTree>
    <p:extLst>
      <p:ext uri="{BB962C8B-B14F-4D97-AF65-F5344CB8AC3E}">
        <p14:creationId xmlns:p14="http://schemas.microsoft.com/office/powerpoint/2010/main" val="29102428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4A9FC9-93AA-0AA1-8589-57A1A6323E74}"/>
              </a:ext>
            </a:extLst>
          </p:cNvPr>
          <p:cNvSpPr>
            <a:spLocks noGrp="1"/>
          </p:cNvSpPr>
          <p:nvPr>
            <p:ph type="title"/>
          </p:nvPr>
        </p:nvSpPr>
        <p:spPr/>
        <p:txBody>
          <a:bodyPr/>
          <a:lstStyle/>
          <a:p>
            <a:r>
              <a:rPr lang="es-MX" dirty="0"/>
              <a:t>Ejemplo. Clasificador de Spam</a:t>
            </a:r>
          </a:p>
        </p:txBody>
      </p:sp>
      <p:sp>
        <p:nvSpPr>
          <p:cNvPr id="3" name="Marcador de contenido 2">
            <a:extLst>
              <a:ext uri="{FF2B5EF4-FFF2-40B4-BE49-F238E27FC236}">
                <a16:creationId xmlns:a16="http://schemas.microsoft.com/office/drawing/2014/main" id="{6E00C30A-6A56-39E9-936C-8DA1DE67024D}"/>
              </a:ext>
            </a:extLst>
          </p:cNvPr>
          <p:cNvSpPr>
            <a:spLocks noGrp="1"/>
          </p:cNvSpPr>
          <p:nvPr>
            <p:ph idx="1"/>
          </p:nvPr>
        </p:nvSpPr>
        <p:spPr>
          <a:xfrm>
            <a:off x="838200" y="1838632"/>
            <a:ext cx="10515600" cy="4367827"/>
          </a:xfrm>
        </p:spPr>
        <p:txBody>
          <a:bodyPr/>
          <a:lstStyle/>
          <a:p>
            <a:r>
              <a:rPr lang="es-MX" dirty="0"/>
              <a:t>Tenemos 8 correos donde 3 son spam y 5 son no spam. </a:t>
            </a:r>
          </a:p>
        </p:txBody>
      </p:sp>
      <p:sp>
        <p:nvSpPr>
          <p:cNvPr id="4" name="Marcador de número de diapositiva 3">
            <a:extLst>
              <a:ext uri="{FF2B5EF4-FFF2-40B4-BE49-F238E27FC236}">
                <a16:creationId xmlns:a16="http://schemas.microsoft.com/office/drawing/2014/main" id="{CDFEDE26-3911-0A38-3FD7-ABF020F201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graphicFrame>
        <p:nvGraphicFramePr>
          <p:cNvPr id="5" name="Tabla 4">
            <a:extLst>
              <a:ext uri="{FF2B5EF4-FFF2-40B4-BE49-F238E27FC236}">
                <a16:creationId xmlns:a16="http://schemas.microsoft.com/office/drawing/2014/main" id="{24CD21B0-3301-2CCC-4F72-31451D1651EC}"/>
              </a:ext>
            </a:extLst>
          </p:cNvPr>
          <p:cNvGraphicFramePr>
            <a:graphicFrameLocks noGrp="1"/>
          </p:cNvGraphicFramePr>
          <p:nvPr/>
        </p:nvGraphicFramePr>
        <p:xfrm>
          <a:off x="1461729" y="2961051"/>
          <a:ext cx="8242710" cy="2225040"/>
        </p:xfrm>
        <a:graphic>
          <a:graphicData uri="http://schemas.openxmlformats.org/drawingml/2006/table">
            <a:tbl>
              <a:tblPr firstRow="1" bandRow="1">
                <a:tableStyleId>{5C22544A-7EE6-4342-B048-85BDC9FD1C3A}</a:tableStyleId>
              </a:tblPr>
              <a:tblGrid>
                <a:gridCol w="4121355">
                  <a:extLst>
                    <a:ext uri="{9D8B030D-6E8A-4147-A177-3AD203B41FA5}">
                      <a16:colId xmlns:a16="http://schemas.microsoft.com/office/drawing/2014/main" val="2485505974"/>
                    </a:ext>
                  </a:extLst>
                </a:gridCol>
                <a:gridCol w="4121355">
                  <a:extLst>
                    <a:ext uri="{9D8B030D-6E8A-4147-A177-3AD203B41FA5}">
                      <a16:colId xmlns:a16="http://schemas.microsoft.com/office/drawing/2014/main" val="2401478986"/>
                    </a:ext>
                  </a:extLst>
                </a:gridCol>
              </a:tblGrid>
              <a:tr h="370840">
                <a:tc>
                  <a:txBody>
                    <a:bodyPr/>
                    <a:lstStyle/>
                    <a:p>
                      <a:r>
                        <a:rPr lang="es-MX" dirty="0"/>
                        <a:t>Spam</a:t>
                      </a:r>
                    </a:p>
                  </a:txBody>
                  <a:tcPr/>
                </a:tc>
                <a:tc>
                  <a:txBody>
                    <a:bodyPr/>
                    <a:lstStyle/>
                    <a:p>
                      <a:r>
                        <a:rPr lang="es-MX" dirty="0"/>
                        <a:t>No Spam</a:t>
                      </a:r>
                    </a:p>
                  </a:txBody>
                  <a:tcPr/>
                </a:tc>
                <a:extLst>
                  <a:ext uri="{0D108BD9-81ED-4DB2-BD59-A6C34878D82A}">
                    <a16:rowId xmlns:a16="http://schemas.microsoft.com/office/drawing/2014/main" val="1107414092"/>
                  </a:ext>
                </a:extLst>
              </a:tr>
              <a:tr h="370840">
                <a:tc>
                  <a:txBody>
                    <a:bodyPr/>
                    <a:lstStyle/>
                    <a:p>
                      <a:r>
                        <a:rPr lang="es-MX" dirty="0"/>
                        <a:t>Secreto oferta gratis</a:t>
                      </a:r>
                    </a:p>
                  </a:txBody>
                  <a:tcPr/>
                </a:tc>
                <a:tc>
                  <a:txBody>
                    <a:bodyPr/>
                    <a:lstStyle/>
                    <a:p>
                      <a:r>
                        <a:rPr lang="es-MX" dirty="0"/>
                        <a:t>Hoy reunión secreto evento amigo</a:t>
                      </a:r>
                    </a:p>
                  </a:txBody>
                  <a:tcPr/>
                </a:tc>
                <a:extLst>
                  <a:ext uri="{0D108BD9-81ED-4DB2-BD59-A6C34878D82A}">
                    <a16:rowId xmlns:a16="http://schemas.microsoft.com/office/drawing/2014/main" val="50324755"/>
                  </a:ext>
                </a:extLst>
              </a:tr>
              <a:tr h="370840">
                <a:tc>
                  <a:txBody>
                    <a:bodyPr/>
                    <a:lstStyle/>
                    <a:p>
                      <a:r>
                        <a:rPr lang="es-MX" dirty="0"/>
                        <a:t>Secreto es dinero gratis</a:t>
                      </a:r>
                    </a:p>
                  </a:txBody>
                  <a:tcPr/>
                </a:tc>
                <a:tc>
                  <a:txBody>
                    <a:bodyPr/>
                    <a:lstStyle/>
                    <a:p>
                      <a:r>
                        <a:rPr lang="es-MX" dirty="0"/>
                        <a:t>Hoy es reunión proyecto evento</a:t>
                      </a:r>
                    </a:p>
                  </a:txBody>
                  <a:tcPr/>
                </a:tc>
                <a:extLst>
                  <a:ext uri="{0D108BD9-81ED-4DB2-BD59-A6C34878D82A}">
                    <a16:rowId xmlns:a16="http://schemas.microsoft.com/office/drawing/2014/main" val="2461297854"/>
                  </a:ext>
                </a:extLst>
              </a:tr>
              <a:tr h="370840">
                <a:tc>
                  <a:txBody>
                    <a:bodyPr/>
                    <a:lstStyle/>
                    <a:p>
                      <a:r>
                        <a:rPr lang="es-MX" dirty="0"/>
                        <a:t>Hoy secreto dinero</a:t>
                      </a:r>
                    </a:p>
                  </a:txBody>
                  <a:tcPr/>
                </a:tc>
                <a:tc>
                  <a:txBody>
                    <a:bodyPr/>
                    <a:lstStyle/>
                    <a:p>
                      <a:r>
                        <a:rPr lang="es-MX" dirty="0"/>
                        <a:t>Proyecto reunión evento</a:t>
                      </a:r>
                    </a:p>
                  </a:txBody>
                  <a:tcPr/>
                </a:tc>
                <a:extLst>
                  <a:ext uri="{0D108BD9-81ED-4DB2-BD59-A6C34878D82A}">
                    <a16:rowId xmlns:a16="http://schemas.microsoft.com/office/drawing/2014/main" val="1193963345"/>
                  </a:ext>
                </a:extLst>
              </a:tr>
              <a:tr h="370840">
                <a:tc>
                  <a:txBody>
                    <a:bodyPr/>
                    <a:lstStyle/>
                    <a:p>
                      <a:endParaRPr lang="es-MX"/>
                    </a:p>
                  </a:txBody>
                  <a:tcPr/>
                </a:tc>
                <a:tc>
                  <a:txBody>
                    <a:bodyPr/>
                    <a:lstStyle/>
                    <a:p>
                      <a:r>
                        <a:rPr lang="es-MX" dirty="0"/>
                        <a:t>Fue reunión amigo cuesta</a:t>
                      </a:r>
                    </a:p>
                  </a:txBody>
                  <a:tcPr/>
                </a:tc>
                <a:extLst>
                  <a:ext uri="{0D108BD9-81ED-4DB2-BD59-A6C34878D82A}">
                    <a16:rowId xmlns:a16="http://schemas.microsoft.com/office/drawing/2014/main" val="970446097"/>
                  </a:ext>
                </a:extLst>
              </a:tr>
              <a:tr h="370840">
                <a:tc>
                  <a:txBody>
                    <a:bodyPr/>
                    <a:lstStyle/>
                    <a:p>
                      <a:endParaRPr lang="es-MX"/>
                    </a:p>
                  </a:txBody>
                  <a:tcPr/>
                </a:tc>
                <a:tc>
                  <a:txBody>
                    <a:bodyPr/>
                    <a:lstStyle/>
                    <a:p>
                      <a:r>
                        <a:rPr lang="es-MX" dirty="0"/>
                        <a:t>Reunión fue evento amigo </a:t>
                      </a:r>
                    </a:p>
                  </a:txBody>
                  <a:tcPr/>
                </a:tc>
                <a:extLst>
                  <a:ext uri="{0D108BD9-81ED-4DB2-BD59-A6C34878D82A}">
                    <a16:rowId xmlns:a16="http://schemas.microsoft.com/office/drawing/2014/main" val="510733137"/>
                  </a:ext>
                </a:extLst>
              </a:tr>
            </a:tbl>
          </a:graphicData>
        </a:graphic>
      </p:graphicFrame>
    </p:spTree>
    <p:extLst>
      <p:ext uri="{BB962C8B-B14F-4D97-AF65-F5344CB8AC3E}">
        <p14:creationId xmlns:p14="http://schemas.microsoft.com/office/powerpoint/2010/main" val="2498698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D246FB-622F-7593-F4FE-67A3BA2B64CF}"/>
              </a:ext>
            </a:extLst>
          </p:cNvPr>
          <p:cNvSpPr>
            <a:spLocks noGrp="1"/>
          </p:cNvSpPr>
          <p:nvPr>
            <p:ph type="title"/>
          </p:nvPr>
        </p:nvSpPr>
        <p:spPr>
          <a:xfrm>
            <a:off x="838203" y="0"/>
            <a:ext cx="10515600" cy="1325563"/>
          </a:xfrm>
        </p:spPr>
        <p:txBody>
          <a:bodyPr/>
          <a:lstStyle/>
          <a:p>
            <a:pPr algn="ctr"/>
            <a:r>
              <a:rPr lang="es-MX" dirty="0"/>
              <a:t>Entrenamiento (Contar)</a:t>
            </a:r>
          </a:p>
        </p:txBody>
      </p:sp>
      <p:graphicFrame>
        <p:nvGraphicFramePr>
          <p:cNvPr id="5" name="Marcador de contenido 4">
            <a:extLst>
              <a:ext uri="{FF2B5EF4-FFF2-40B4-BE49-F238E27FC236}">
                <a16:creationId xmlns:a16="http://schemas.microsoft.com/office/drawing/2014/main" id="{69FE356A-3899-A85A-0C3F-204998F28971}"/>
              </a:ext>
            </a:extLst>
          </p:cNvPr>
          <p:cNvGraphicFramePr>
            <a:graphicFrameLocks noGrp="1"/>
          </p:cNvGraphicFramePr>
          <p:nvPr>
            <p:ph idx="1"/>
          </p:nvPr>
        </p:nvGraphicFramePr>
        <p:xfrm>
          <a:off x="2046339" y="1164590"/>
          <a:ext cx="8099322" cy="5191760"/>
        </p:xfrm>
        <a:graphic>
          <a:graphicData uri="http://schemas.openxmlformats.org/drawingml/2006/table">
            <a:tbl>
              <a:tblPr firstRow="1" bandRow="1">
                <a:tableStyleId>{5C22544A-7EE6-4342-B048-85BDC9FD1C3A}</a:tableStyleId>
              </a:tblPr>
              <a:tblGrid>
                <a:gridCol w="2699774">
                  <a:extLst>
                    <a:ext uri="{9D8B030D-6E8A-4147-A177-3AD203B41FA5}">
                      <a16:colId xmlns:a16="http://schemas.microsoft.com/office/drawing/2014/main" val="3065504809"/>
                    </a:ext>
                  </a:extLst>
                </a:gridCol>
                <a:gridCol w="2699774">
                  <a:extLst>
                    <a:ext uri="{9D8B030D-6E8A-4147-A177-3AD203B41FA5}">
                      <a16:colId xmlns:a16="http://schemas.microsoft.com/office/drawing/2014/main" val="727033366"/>
                    </a:ext>
                  </a:extLst>
                </a:gridCol>
                <a:gridCol w="2699774">
                  <a:extLst>
                    <a:ext uri="{9D8B030D-6E8A-4147-A177-3AD203B41FA5}">
                      <a16:colId xmlns:a16="http://schemas.microsoft.com/office/drawing/2014/main" val="3017695554"/>
                    </a:ext>
                  </a:extLst>
                </a:gridCol>
              </a:tblGrid>
              <a:tr h="370840">
                <a:tc>
                  <a:txBody>
                    <a:bodyPr/>
                    <a:lstStyle/>
                    <a:p>
                      <a:r>
                        <a:rPr lang="es-MX" dirty="0"/>
                        <a:t>Palabra</a:t>
                      </a:r>
                    </a:p>
                  </a:txBody>
                  <a:tcPr/>
                </a:tc>
                <a:tc>
                  <a:txBody>
                    <a:bodyPr/>
                    <a:lstStyle/>
                    <a:p>
                      <a:r>
                        <a:rPr lang="es-MX" dirty="0"/>
                        <a:t>Spam</a:t>
                      </a:r>
                    </a:p>
                  </a:txBody>
                  <a:tcPr/>
                </a:tc>
                <a:tc>
                  <a:txBody>
                    <a:bodyPr/>
                    <a:lstStyle/>
                    <a:p>
                      <a:r>
                        <a:rPr lang="es-MX" dirty="0"/>
                        <a:t>No Spam</a:t>
                      </a:r>
                    </a:p>
                  </a:txBody>
                  <a:tcPr/>
                </a:tc>
                <a:extLst>
                  <a:ext uri="{0D108BD9-81ED-4DB2-BD59-A6C34878D82A}">
                    <a16:rowId xmlns:a16="http://schemas.microsoft.com/office/drawing/2014/main" val="552914860"/>
                  </a:ext>
                </a:extLst>
              </a:tr>
              <a:tr h="370840">
                <a:tc>
                  <a:txBody>
                    <a:bodyPr/>
                    <a:lstStyle/>
                    <a:p>
                      <a:r>
                        <a:rPr lang="es-MX" dirty="0"/>
                        <a:t>Oferta</a:t>
                      </a:r>
                    </a:p>
                  </a:txBody>
                  <a:tcPr/>
                </a:tc>
                <a:tc>
                  <a:txBody>
                    <a:bodyPr/>
                    <a:lstStyle/>
                    <a:p>
                      <a:r>
                        <a:rPr lang="es-MX" dirty="0"/>
                        <a:t>1</a:t>
                      </a:r>
                    </a:p>
                  </a:txBody>
                  <a:tcPr/>
                </a:tc>
                <a:tc>
                  <a:txBody>
                    <a:bodyPr/>
                    <a:lstStyle/>
                    <a:p>
                      <a:r>
                        <a:rPr lang="es-MX" dirty="0"/>
                        <a:t>0</a:t>
                      </a:r>
                    </a:p>
                  </a:txBody>
                  <a:tcPr/>
                </a:tc>
                <a:extLst>
                  <a:ext uri="{0D108BD9-81ED-4DB2-BD59-A6C34878D82A}">
                    <a16:rowId xmlns:a16="http://schemas.microsoft.com/office/drawing/2014/main" val="2469725686"/>
                  </a:ext>
                </a:extLst>
              </a:tr>
              <a:tr h="370840">
                <a:tc>
                  <a:txBody>
                    <a:bodyPr/>
                    <a:lstStyle/>
                    <a:p>
                      <a:r>
                        <a:rPr lang="es-MX" dirty="0"/>
                        <a:t>Gratis</a:t>
                      </a:r>
                    </a:p>
                  </a:txBody>
                  <a:tcPr/>
                </a:tc>
                <a:tc>
                  <a:txBody>
                    <a:bodyPr/>
                    <a:lstStyle/>
                    <a:p>
                      <a:r>
                        <a:rPr lang="es-MX" dirty="0"/>
                        <a:t>2</a:t>
                      </a:r>
                    </a:p>
                  </a:txBody>
                  <a:tcPr/>
                </a:tc>
                <a:tc>
                  <a:txBody>
                    <a:bodyPr/>
                    <a:lstStyle/>
                    <a:p>
                      <a:r>
                        <a:rPr lang="es-MX" dirty="0"/>
                        <a:t>0</a:t>
                      </a:r>
                    </a:p>
                  </a:txBody>
                  <a:tcPr/>
                </a:tc>
                <a:extLst>
                  <a:ext uri="{0D108BD9-81ED-4DB2-BD59-A6C34878D82A}">
                    <a16:rowId xmlns:a16="http://schemas.microsoft.com/office/drawing/2014/main" val="1731762163"/>
                  </a:ext>
                </a:extLst>
              </a:tr>
              <a:tr h="370840">
                <a:tc>
                  <a:txBody>
                    <a:bodyPr/>
                    <a:lstStyle/>
                    <a:p>
                      <a:r>
                        <a:rPr lang="es-MX" dirty="0"/>
                        <a:t>Es</a:t>
                      </a:r>
                    </a:p>
                  </a:txBody>
                  <a:tcPr/>
                </a:tc>
                <a:tc>
                  <a:txBody>
                    <a:bodyPr/>
                    <a:lstStyle/>
                    <a:p>
                      <a:r>
                        <a:rPr lang="es-MX" dirty="0"/>
                        <a:t>1</a:t>
                      </a:r>
                    </a:p>
                  </a:txBody>
                  <a:tcPr/>
                </a:tc>
                <a:tc>
                  <a:txBody>
                    <a:bodyPr/>
                    <a:lstStyle/>
                    <a:p>
                      <a:r>
                        <a:rPr lang="es-MX" dirty="0"/>
                        <a:t>1</a:t>
                      </a:r>
                    </a:p>
                  </a:txBody>
                  <a:tcPr/>
                </a:tc>
                <a:extLst>
                  <a:ext uri="{0D108BD9-81ED-4DB2-BD59-A6C34878D82A}">
                    <a16:rowId xmlns:a16="http://schemas.microsoft.com/office/drawing/2014/main" val="1900526391"/>
                  </a:ext>
                </a:extLst>
              </a:tr>
              <a:tr h="370840">
                <a:tc>
                  <a:txBody>
                    <a:bodyPr/>
                    <a:lstStyle/>
                    <a:p>
                      <a:r>
                        <a:rPr lang="es-MX" dirty="0"/>
                        <a:t>Dinero</a:t>
                      </a:r>
                    </a:p>
                  </a:txBody>
                  <a:tcPr/>
                </a:tc>
                <a:tc>
                  <a:txBody>
                    <a:bodyPr/>
                    <a:lstStyle/>
                    <a:p>
                      <a:r>
                        <a:rPr lang="es-MX" dirty="0"/>
                        <a:t>2</a:t>
                      </a:r>
                    </a:p>
                  </a:txBody>
                  <a:tcPr/>
                </a:tc>
                <a:tc>
                  <a:txBody>
                    <a:bodyPr/>
                    <a:lstStyle/>
                    <a:p>
                      <a:r>
                        <a:rPr lang="es-MX" dirty="0"/>
                        <a:t>0</a:t>
                      </a:r>
                    </a:p>
                  </a:txBody>
                  <a:tcPr/>
                </a:tc>
                <a:extLst>
                  <a:ext uri="{0D108BD9-81ED-4DB2-BD59-A6C34878D82A}">
                    <a16:rowId xmlns:a16="http://schemas.microsoft.com/office/drawing/2014/main" val="2088146895"/>
                  </a:ext>
                </a:extLst>
              </a:tr>
              <a:tr h="370840">
                <a:tc>
                  <a:txBody>
                    <a:bodyPr/>
                    <a:lstStyle/>
                    <a:p>
                      <a:r>
                        <a:rPr lang="es-MX" dirty="0"/>
                        <a:t>Secreto</a:t>
                      </a:r>
                    </a:p>
                  </a:txBody>
                  <a:tcPr/>
                </a:tc>
                <a:tc>
                  <a:txBody>
                    <a:bodyPr/>
                    <a:lstStyle/>
                    <a:p>
                      <a:r>
                        <a:rPr lang="es-MX" dirty="0"/>
                        <a:t>3</a:t>
                      </a:r>
                    </a:p>
                  </a:txBody>
                  <a:tcPr/>
                </a:tc>
                <a:tc>
                  <a:txBody>
                    <a:bodyPr/>
                    <a:lstStyle/>
                    <a:p>
                      <a:r>
                        <a:rPr lang="es-MX" dirty="0"/>
                        <a:t>1</a:t>
                      </a:r>
                    </a:p>
                  </a:txBody>
                  <a:tcPr/>
                </a:tc>
                <a:extLst>
                  <a:ext uri="{0D108BD9-81ED-4DB2-BD59-A6C34878D82A}">
                    <a16:rowId xmlns:a16="http://schemas.microsoft.com/office/drawing/2014/main" val="1738903876"/>
                  </a:ext>
                </a:extLst>
              </a:tr>
              <a:tr h="370840">
                <a:tc>
                  <a:txBody>
                    <a:bodyPr/>
                    <a:lstStyle/>
                    <a:p>
                      <a:r>
                        <a:rPr lang="es-MX" dirty="0"/>
                        <a:t>Hoy</a:t>
                      </a:r>
                    </a:p>
                  </a:txBody>
                  <a:tcPr/>
                </a:tc>
                <a:tc>
                  <a:txBody>
                    <a:bodyPr/>
                    <a:lstStyle/>
                    <a:p>
                      <a:r>
                        <a:rPr lang="es-MX" dirty="0"/>
                        <a:t>1</a:t>
                      </a:r>
                    </a:p>
                  </a:txBody>
                  <a:tcPr/>
                </a:tc>
                <a:tc>
                  <a:txBody>
                    <a:bodyPr/>
                    <a:lstStyle/>
                    <a:p>
                      <a:r>
                        <a:rPr lang="es-MX" dirty="0"/>
                        <a:t>2</a:t>
                      </a:r>
                    </a:p>
                  </a:txBody>
                  <a:tcPr/>
                </a:tc>
                <a:extLst>
                  <a:ext uri="{0D108BD9-81ED-4DB2-BD59-A6C34878D82A}">
                    <a16:rowId xmlns:a16="http://schemas.microsoft.com/office/drawing/2014/main" val="599488446"/>
                  </a:ext>
                </a:extLst>
              </a:tr>
              <a:tr h="370840">
                <a:tc>
                  <a:txBody>
                    <a:bodyPr/>
                    <a:lstStyle/>
                    <a:p>
                      <a:r>
                        <a:rPr lang="es-MX" dirty="0"/>
                        <a:t>Reunión</a:t>
                      </a:r>
                    </a:p>
                  </a:txBody>
                  <a:tcPr/>
                </a:tc>
                <a:tc>
                  <a:txBody>
                    <a:bodyPr/>
                    <a:lstStyle/>
                    <a:p>
                      <a:r>
                        <a:rPr lang="es-MX" dirty="0"/>
                        <a:t>0</a:t>
                      </a:r>
                    </a:p>
                  </a:txBody>
                  <a:tcPr/>
                </a:tc>
                <a:tc>
                  <a:txBody>
                    <a:bodyPr/>
                    <a:lstStyle/>
                    <a:p>
                      <a:r>
                        <a:rPr lang="es-MX" dirty="0"/>
                        <a:t>5</a:t>
                      </a:r>
                    </a:p>
                  </a:txBody>
                  <a:tcPr/>
                </a:tc>
                <a:extLst>
                  <a:ext uri="{0D108BD9-81ED-4DB2-BD59-A6C34878D82A}">
                    <a16:rowId xmlns:a16="http://schemas.microsoft.com/office/drawing/2014/main" val="1147674639"/>
                  </a:ext>
                </a:extLst>
              </a:tr>
              <a:tr h="370840">
                <a:tc>
                  <a:txBody>
                    <a:bodyPr/>
                    <a:lstStyle/>
                    <a:p>
                      <a:r>
                        <a:rPr lang="es-MX" dirty="0"/>
                        <a:t>Proyecto</a:t>
                      </a:r>
                    </a:p>
                  </a:txBody>
                  <a:tcPr/>
                </a:tc>
                <a:tc>
                  <a:txBody>
                    <a:bodyPr/>
                    <a:lstStyle/>
                    <a:p>
                      <a:r>
                        <a:rPr lang="es-MX" dirty="0"/>
                        <a:t>0</a:t>
                      </a:r>
                    </a:p>
                  </a:txBody>
                  <a:tcPr/>
                </a:tc>
                <a:tc>
                  <a:txBody>
                    <a:bodyPr/>
                    <a:lstStyle/>
                    <a:p>
                      <a:r>
                        <a:rPr lang="es-MX" dirty="0"/>
                        <a:t>2</a:t>
                      </a:r>
                    </a:p>
                  </a:txBody>
                  <a:tcPr/>
                </a:tc>
                <a:extLst>
                  <a:ext uri="{0D108BD9-81ED-4DB2-BD59-A6C34878D82A}">
                    <a16:rowId xmlns:a16="http://schemas.microsoft.com/office/drawing/2014/main" val="4067737291"/>
                  </a:ext>
                </a:extLst>
              </a:tr>
              <a:tr h="370840">
                <a:tc>
                  <a:txBody>
                    <a:bodyPr/>
                    <a:lstStyle/>
                    <a:p>
                      <a:r>
                        <a:rPr lang="es-MX" dirty="0"/>
                        <a:t>Evento</a:t>
                      </a:r>
                    </a:p>
                  </a:txBody>
                  <a:tcPr/>
                </a:tc>
                <a:tc>
                  <a:txBody>
                    <a:bodyPr/>
                    <a:lstStyle/>
                    <a:p>
                      <a:r>
                        <a:rPr lang="es-MX" dirty="0"/>
                        <a:t>0</a:t>
                      </a:r>
                    </a:p>
                  </a:txBody>
                  <a:tcPr/>
                </a:tc>
                <a:tc>
                  <a:txBody>
                    <a:bodyPr/>
                    <a:lstStyle/>
                    <a:p>
                      <a:r>
                        <a:rPr lang="es-MX" dirty="0"/>
                        <a:t>4</a:t>
                      </a:r>
                    </a:p>
                  </a:txBody>
                  <a:tcPr/>
                </a:tc>
                <a:extLst>
                  <a:ext uri="{0D108BD9-81ED-4DB2-BD59-A6C34878D82A}">
                    <a16:rowId xmlns:a16="http://schemas.microsoft.com/office/drawing/2014/main" val="2994263225"/>
                  </a:ext>
                </a:extLst>
              </a:tr>
              <a:tr h="370840">
                <a:tc>
                  <a:txBody>
                    <a:bodyPr/>
                    <a:lstStyle/>
                    <a:p>
                      <a:r>
                        <a:rPr lang="es-MX" dirty="0"/>
                        <a:t>Cuesta</a:t>
                      </a:r>
                    </a:p>
                  </a:txBody>
                  <a:tcPr/>
                </a:tc>
                <a:tc>
                  <a:txBody>
                    <a:bodyPr/>
                    <a:lstStyle/>
                    <a:p>
                      <a:r>
                        <a:rPr lang="es-MX" dirty="0"/>
                        <a:t>0</a:t>
                      </a:r>
                    </a:p>
                  </a:txBody>
                  <a:tcPr/>
                </a:tc>
                <a:tc>
                  <a:txBody>
                    <a:bodyPr/>
                    <a:lstStyle/>
                    <a:p>
                      <a:r>
                        <a:rPr lang="es-MX" dirty="0"/>
                        <a:t>1</a:t>
                      </a:r>
                    </a:p>
                  </a:txBody>
                  <a:tcPr/>
                </a:tc>
                <a:extLst>
                  <a:ext uri="{0D108BD9-81ED-4DB2-BD59-A6C34878D82A}">
                    <a16:rowId xmlns:a16="http://schemas.microsoft.com/office/drawing/2014/main" val="3185006522"/>
                  </a:ext>
                </a:extLst>
              </a:tr>
              <a:tr h="370840">
                <a:tc>
                  <a:txBody>
                    <a:bodyPr/>
                    <a:lstStyle/>
                    <a:p>
                      <a:r>
                        <a:rPr lang="es-MX" dirty="0"/>
                        <a:t>Fue</a:t>
                      </a:r>
                    </a:p>
                  </a:txBody>
                  <a:tcPr/>
                </a:tc>
                <a:tc>
                  <a:txBody>
                    <a:bodyPr/>
                    <a:lstStyle/>
                    <a:p>
                      <a:r>
                        <a:rPr lang="es-MX" dirty="0"/>
                        <a:t>0</a:t>
                      </a:r>
                    </a:p>
                  </a:txBody>
                  <a:tcPr/>
                </a:tc>
                <a:tc>
                  <a:txBody>
                    <a:bodyPr/>
                    <a:lstStyle/>
                    <a:p>
                      <a:r>
                        <a:rPr lang="es-MX" dirty="0"/>
                        <a:t>2</a:t>
                      </a:r>
                    </a:p>
                  </a:txBody>
                  <a:tcPr/>
                </a:tc>
                <a:extLst>
                  <a:ext uri="{0D108BD9-81ED-4DB2-BD59-A6C34878D82A}">
                    <a16:rowId xmlns:a16="http://schemas.microsoft.com/office/drawing/2014/main" val="1330472916"/>
                  </a:ext>
                </a:extLst>
              </a:tr>
              <a:tr h="370840">
                <a:tc>
                  <a:txBody>
                    <a:bodyPr/>
                    <a:lstStyle/>
                    <a:p>
                      <a:r>
                        <a:rPr lang="es-MX" dirty="0"/>
                        <a:t>Amigo</a:t>
                      </a:r>
                    </a:p>
                  </a:txBody>
                  <a:tcPr/>
                </a:tc>
                <a:tc>
                  <a:txBody>
                    <a:bodyPr/>
                    <a:lstStyle/>
                    <a:p>
                      <a:r>
                        <a:rPr lang="es-MX" dirty="0"/>
                        <a:t>0</a:t>
                      </a:r>
                    </a:p>
                  </a:txBody>
                  <a:tcPr/>
                </a:tc>
                <a:tc>
                  <a:txBody>
                    <a:bodyPr/>
                    <a:lstStyle/>
                    <a:p>
                      <a:r>
                        <a:rPr lang="es-MX" dirty="0"/>
                        <a:t>3</a:t>
                      </a:r>
                    </a:p>
                  </a:txBody>
                  <a:tcPr/>
                </a:tc>
                <a:extLst>
                  <a:ext uri="{0D108BD9-81ED-4DB2-BD59-A6C34878D82A}">
                    <a16:rowId xmlns:a16="http://schemas.microsoft.com/office/drawing/2014/main" val="2872049089"/>
                  </a:ext>
                </a:extLst>
              </a:tr>
              <a:tr h="370840">
                <a:tc>
                  <a:txBody>
                    <a:bodyPr/>
                    <a:lstStyle/>
                    <a:p>
                      <a:r>
                        <a:rPr lang="es-MX" b="1" dirty="0"/>
                        <a:t>Total</a:t>
                      </a:r>
                    </a:p>
                  </a:txBody>
                  <a:tcPr/>
                </a:tc>
                <a:tc>
                  <a:txBody>
                    <a:bodyPr/>
                    <a:lstStyle/>
                    <a:p>
                      <a:r>
                        <a:rPr lang="es-MX" b="1" dirty="0"/>
                        <a:t>10</a:t>
                      </a:r>
                    </a:p>
                  </a:txBody>
                  <a:tcPr/>
                </a:tc>
                <a:tc>
                  <a:txBody>
                    <a:bodyPr/>
                    <a:lstStyle/>
                    <a:p>
                      <a:r>
                        <a:rPr lang="es-MX" b="1" dirty="0"/>
                        <a:t>21</a:t>
                      </a:r>
                    </a:p>
                  </a:txBody>
                  <a:tcPr/>
                </a:tc>
                <a:extLst>
                  <a:ext uri="{0D108BD9-81ED-4DB2-BD59-A6C34878D82A}">
                    <a16:rowId xmlns:a16="http://schemas.microsoft.com/office/drawing/2014/main" val="4276890294"/>
                  </a:ext>
                </a:extLst>
              </a:tr>
            </a:tbl>
          </a:graphicData>
        </a:graphic>
      </p:graphicFrame>
      <p:sp>
        <p:nvSpPr>
          <p:cNvPr id="4" name="Marcador de número de diapositiva 3">
            <a:extLst>
              <a:ext uri="{FF2B5EF4-FFF2-40B4-BE49-F238E27FC236}">
                <a16:creationId xmlns:a16="http://schemas.microsoft.com/office/drawing/2014/main" id="{FE34A6CB-5DC1-6BAF-54B6-E24C79C4EE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5756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A275F-6671-8755-327D-C74E03A810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D9D9D9-BF91-FF53-DD08-576A1FF374C1}"/>
              </a:ext>
            </a:extLst>
          </p:cNvPr>
          <p:cNvSpPr>
            <a:spLocks noGrp="1"/>
          </p:cNvSpPr>
          <p:nvPr>
            <p:ph type="title"/>
          </p:nvPr>
        </p:nvSpPr>
        <p:spPr>
          <a:xfrm>
            <a:off x="838203" y="0"/>
            <a:ext cx="10515600" cy="1325563"/>
          </a:xfrm>
        </p:spPr>
        <p:txBody>
          <a:bodyPr/>
          <a:lstStyle/>
          <a:p>
            <a:pPr algn="ctr"/>
            <a:r>
              <a:rPr lang="es-MX" dirty="0"/>
              <a:t>Calcular probabilidades</a:t>
            </a:r>
          </a:p>
        </p:txBody>
      </p:sp>
      <p:graphicFrame>
        <p:nvGraphicFramePr>
          <p:cNvPr id="5" name="Marcador de contenido 4">
            <a:extLst>
              <a:ext uri="{FF2B5EF4-FFF2-40B4-BE49-F238E27FC236}">
                <a16:creationId xmlns:a16="http://schemas.microsoft.com/office/drawing/2014/main" id="{B9F3982C-DD32-B736-1C31-20DA46F27DC4}"/>
              </a:ext>
            </a:extLst>
          </p:cNvPr>
          <p:cNvGraphicFramePr>
            <a:graphicFrameLocks noGrp="1"/>
          </p:cNvGraphicFramePr>
          <p:nvPr>
            <p:ph idx="1"/>
          </p:nvPr>
        </p:nvGraphicFramePr>
        <p:xfrm>
          <a:off x="2046339" y="1164590"/>
          <a:ext cx="8099322" cy="5191760"/>
        </p:xfrm>
        <a:graphic>
          <a:graphicData uri="http://schemas.openxmlformats.org/drawingml/2006/table">
            <a:tbl>
              <a:tblPr firstRow="1" bandRow="1">
                <a:tableStyleId>{5C22544A-7EE6-4342-B048-85BDC9FD1C3A}</a:tableStyleId>
              </a:tblPr>
              <a:tblGrid>
                <a:gridCol w="2699774">
                  <a:extLst>
                    <a:ext uri="{9D8B030D-6E8A-4147-A177-3AD203B41FA5}">
                      <a16:colId xmlns:a16="http://schemas.microsoft.com/office/drawing/2014/main" val="3065504809"/>
                    </a:ext>
                  </a:extLst>
                </a:gridCol>
                <a:gridCol w="2699774">
                  <a:extLst>
                    <a:ext uri="{9D8B030D-6E8A-4147-A177-3AD203B41FA5}">
                      <a16:colId xmlns:a16="http://schemas.microsoft.com/office/drawing/2014/main" val="727033366"/>
                    </a:ext>
                  </a:extLst>
                </a:gridCol>
                <a:gridCol w="2699774">
                  <a:extLst>
                    <a:ext uri="{9D8B030D-6E8A-4147-A177-3AD203B41FA5}">
                      <a16:colId xmlns:a16="http://schemas.microsoft.com/office/drawing/2014/main" val="3017695554"/>
                    </a:ext>
                  </a:extLst>
                </a:gridCol>
              </a:tblGrid>
              <a:tr h="370840">
                <a:tc>
                  <a:txBody>
                    <a:bodyPr/>
                    <a:lstStyle/>
                    <a:p>
                      <a:r>
                        <a:rPr lang="es-MX" dirty="0"/>
                        <a:t>Palabra</a:t>
                      </a:r>
                    </a:p>
                  </a:txBody>
                  <a:tcPr/>
                </a:tc>
                <a:tc>
                  <a:txBody>
                    <a:bodyPr/>
                    <a:lstStyle/>
                    <a:p>
                      <a:r>
                        <a:rPr lang="es-MX" dirty="0"/>
                        <a:t>Spam</a:t>
                      </a:r>
                    </a:p>
                  </a:txBody>
                  <a:tcPr/>
                </a:tc>
                <a:tc>
                  <a:txBody>
                    <a:bodyPr/>
                    <a:lstStyle/>
                    <a:p>
                      <a:r>
                        <a:rPr lang="es-MX" dirty="0"/>
                        <a:t>No Spam</a:t>
                      </a:r>
                    </a:p>
                  </a:txBody>
                  <a:tcPr/>
                </a:tc>
                <a:extLst>
                  <a:ext uri="{0D108BD9-81ED-4DB2-BD59-A6C34878D82A}">
                    <a16:rowId xmlns:a16="http://schemas.microsoft.com/office/drawing/2014/main" val="552914860"/>
                  </a:ext>
                </a:extLst>
              </a:tr>
              <a:tr h="370840">
                <a:tc>
                  <a:txBody>
                    <a:bodyPr/>
                    <a:lstStyle/>
                    <a:p>
                      <a:r>
                        <a:rPr lang="es-MX" dirty="0"/>
                        <a:t>Oferta</a:t>
                      </a:r>
                    </a:p>
                  </a:txBody>
                  <a:tcPr/>
                </a:tc>
                <a:tc>
                  <a:txBody>
                    <a:bodyPr/>
                    <a:lstStyle/>
                    <a:p>
                      <a:r>
                        <a:rPr lang="es-MX" dirty="0"/>
                        <a:t>1/10</a:t>
                      </a:r>
                    </a:p>
                  </a:txBody>
                  <a:tcPr/>
                </a:tc>
                <a:tc>
                  <a:txBody>
                    <a:bodyPr/>
                    <a:lstStyle/>
                    <a:p>
                      <a:r>
                        <a:rPr lang="es-MX" dirty="0"/>
                        <a:t>0</a:t>
                      </a:r>
                    </a:p>
                  </a:txBody>
                  <a:tcPr/>
                </a:tc>
                <a:extLst>
                  <a:ext uri="{0D108BD9-81ED-4DB2-BD59-A6C34878D82A}">
                    <a16:rowId xmlns:a16="http://schemas.microsoft.com/office/drawing/2014/main" val="2469725686"/>
                  </a:ext>
                </a:extLst>
              </a:tr>
              <a:tr h="370840">
                <a:tc>
                  <a:txBody>
                    <a:bodyPr/>
                    <a:lstStyle/>
                    <a:p>
                      <a:r>
                        <a:rPr lang="es-MX" dirty="0"/>
                        <a:t>Gratis</a:t>
                      </a:r>
                    </a:p>
                  </a:txBody>
                  <a:tcPr/>
                </a:tc>
                <a:tc>
                  <a:txBody>
                    <a:bodyPr/>
                    <a:lstStyle/>
                    <a:p>
                      <a:r>
                        <a:rPr lang="es-MX" dirty="0"/>
                        <a:t>2/10</a:t>
                      </a:r>
                    </a:p>
                  </a:txBody>
                  <a:tcPr/>
                </a:tc>
                <a:tc>
                  <a:txBody>
                    <a:bodyPr/>
                    <a:lstStyle/>
                    <a:p>
                      <a:r>
                        <a:rPr lang="es-MX" dirty="0"/>
                        <a:t>0</a:t>
                      </a:r>
                    </a:p>
                  </a:txBody>
                  <a:tcPr/>
                </a:tc>
                <a:extLst>
                  <a:ext uri="{0D108BD9-81ED-4DB2-BD59-A6C34878D82A}">
                    <a16:rowId xmlns:a16="http://schemas.microsoft.com/office/drawing/2014/main" val="1731762163"/>
                  </a:ext>
                </a:extLst>
              </a:tr>
              <a:tr h="370840">
                <a:tc>
                  <a:txBody>
                    <a:bodyPr/>
                    <a:lstStyle/>
                    <a:p>
                      <a:r>
                        <a:rPr lang="es-MX" dirty="0"/>
                        <a:t>Es</a:t>
                      </a:r>
                    </a:p>
                  </a:txBody>
                  <a:tcPr/>
                </a:tc>
                <a:tc>
                  <a:txBody>
                    <a:bodyPr/>
                    <a:lstStyle/>
                    <a:p>
                      <a:r>
                        <a:rPr lang="es-MX" dirty="0"/>
                        <a:t>1/10</a:t>
                      </a:r>
                    </a:p>
                  </a:txBody>
                  <a:tcPr/>
                </a:tc>
                <a:tc>
                  <a:txBody>
                    <a:bodyPr/>
                    <a:lstStyle/>
                    <a:p>
                      <a:r>
                        <a:rPr lang="es-MX" dirty="0"/>
                        <a:t>1/21</a:t>
                      </a:r>
                    </a:p>
                  </a:txBody>
                  <a:tcPr/>
                </a:tc>
                <a:extLst>
                  <a:ext uri="{0D108BD9-81ED-4DB2-BD59-A6C34878D82A}">
                    <a16:rowId xmlns:a16="http://schemas.microsoft.com/office/drawing/2014/main" val="1900526391"/>
                  </a:ext>
                </a:extLst>
              </a:tr>
              <a:tr h="370840">
                <a:tc>
                  <a:txBody>
                    <a:bodyPr/>
                    <a:lstStyle/>
                    <a:p>
                      <a:r>
                        <a:rPr lang="es-MX" dirty="0"/>
                        <a:t>Dinero</a:t>
                      </a:r>
                    </a:p>
                  </a:txBody>
                  <a:tcPr/>
                </a:tc>
                <a:tc>
                  <a:txBody>
                    <a:bodyPr/>
                    <a:lstStyle/>
                    <a:p>
                      <a:r>
                        <a:rPr lang="es-MX" dirty="0"/>
                        <a:t>2/10</a:t>
                      </a:r>
                    </a:p>
                  </a:txBody>
                  <a:tcPr/>
                </a:tc>
                <a:tc>
                  <a:txBody>
                    <a:bodyPr/>
                    <a:lstStyle/>
                    <a:p>
                      <a:r>
                        <a:rPr lang="es-MX" dirty="0"/>
                        <a:t>0</a:t>
                      </a:r>
                    </a:p>
                  </a:txBody>
                  <a:tcPr/>
                </a:tc>
                <a:extLst>
                  <a:ext uri="{0D108BD9-81ED-4DB2-BD59-A6C34878D82A}">
                    <a16:rowId xmlns:a16="http://schemas.microsoft.com/office/drawing/2014/main" val="2088146895"/>
                  </a:ext>
                </a:extLst>
              </a:tr>
              <a:tr h="370840">
                <a:tc>
                  <a:txBody>
                    <a:bodyPr/>
                    <a:lstStyle/>
                    <a:p>
                      <a:r>
                        <a:rPr lang="es-MX" dirty="0"/>
                        <a:t>Secreto</a:t>
                      </a:r>
                    </a:p>
                  </a:txBody>
                  <a:tcPr/>
                </a:tc>
                <a:tc>
                  <a:txBody>
                    <a:bodyPr/>
                    <a:lstStyle/>
                    <a:p>
                      <a:r>
                        <a:rPr lang="es-MX" dirty="0"/>
                        <a:t>3/10</a:t>
                      </a:r>
                    </a:p>
                  </a:txBody>
                  <a:tcPr/>
                </a:tc>
                <a:tc>
                  <a:txBody>
                    <a:bodyPr/>
                    <a:lstStyle/>
                    <a:p>
                      <a:r>
                        <a:rPr lang="es-MX" dirty="0"/>
                        <a:t>1/21</a:t>
                      </a:r>
                    </a:p>
                  </a:txBody>
                  <a:tcPr/>
                </a:tc>
                <a:extLst>
                  <a:ext uri="{0D108BD9-81ED-4DB2-BD59-A6C34878D82A}">
                    <a16:rowId xmlns:a16="http://schemas.microsoft.com/office/drawing/2014/main" val="1738903876"/>
                  </a:ext>
                </a:extLst>
              </a:tr>
              <a:tr h="370840">
                <a:tc>
                  <a:txBody>
                    <a:bodyPr/>
                    <a:lstStyle/>
                    <a:p>
                      <a:r>
                        <a:rPr lang="es-MX" dirty="0"/>
                        <a:t>Hoy</a:t>
                      </a:r>
                    </a:p>
                  </a:txBody>
                  <a:tcPr/>
                </a:tc>
                <a:tc>
                  <a:txBody>
                    <a:bodyPr/>
                    <a:lstStyle/>
                    <a:p>
                      <a:r>
                        <a:rPr lang="es-MX" dirty="0"/>
                        <a:t>1/10</a:t>
                      </a:r>
                    </a:p>
                  </a:txBody>
                  <a:tcPr/>
                </a:tc>
                <a:tc>
                  <a:txBody>
                    <a:bodyPr/>
                    <a:lstStyle/>
                    <a:p>
                      <a:r>
                        <a:rPr lang="es-MX" dirty="0"/>
                        <a:t>2/21</a:t>
                      </a:r>
                    </a:p>
                  </a:txBody>
                  <a:tcPr/>
                </a:tc>
                <a:extLst>
                  <a:ext uri="{0D108BD9-81ED-4DB2-BD59-A6C34878D82A}">
                    <a16:rowId xmlns:a16="http://schemas.microsoft.com/office/drawing/2014/main" val="599488446"/>
                  </a:ext>
                </a:extLst>
              </a:tr>
              <a:tr h="370840">
                <a:tc>
                  <a:txBody>
                    <a:bodyPr/>
                    <a:lstStyle/>
                    <a:p>
                      <a:r>
                        <a:rPr lang="es-MX" dirty="0"/>
                        <a:t>Reunión</a:t>
                      </a:r>
                    </a:p>
                  </a:txBody>
                  <a:tcPr/>
                </a:tc>
                <a:tc>
                  <a:txBody>
                    <a:bodyPr/>
                    <a:lstStyle/>
                    <a:p>
                      <a:r>
                        <a:rPr lang="es-MX" dirty="0"/>
                        <a:t>0</a:t>
                      </a:r>
                    </a:p>
                  </a:txBody>
                  <a:tcPr/>
                </a:tc>
                <a:tc>
                  <a:txBody>
                    <a:bodyPr/>
                    <a:lstStyle/>
                    <a:p>
                      <a:r>
                        <a:rPr lang="es-MX" dirty="0"/>
                        <a:t>5/21</a:t>
                      </a:r>
                    </a:p>
                  </a:txBody>
                  <a:tcPr/>
                </a:tc>
                <a:extLst>
                  <a:ext uri="{0D108BD9-81ED-4DB2-BD59-A6C34878D82A}">
                    <a16:rowId xmlns:a16="http://schemas.microsoft.com/office/drawing/2014/main" val="1147674639"/>
                  </a:ext>
                </a:extLst>
              </a:tr>
              <a:tr h="370840">
                <a:tc>
                  <a:txBody>
                    <a:bodyPr/>
                    <a:lstStyle/>
                    <a:p>
                      <a:r>
                        <a:rPr lang="es-MX" dirty="0"/>
                        <a:t>Proyecto</a:t>
                      </a:r>
                    </a:p>
                  </a:txBody>
                  <a:tcPr/>
                </a:tc>
                <a:tc>
                  <a:txBody>
                    <a:bodyPr/>
                    <a:lstStyle/>
                    <a:p>
                      <a:r>
                        <a:rPr lang="es-MX" dirty="0"/>
                        <a:t>0</a:t>
                      </a:r>
                    </a:p>
                  </a:txBody>
                  <a:tcPr/>
                </a:tc>
                <a:tc>
                  <a:txBody>
                    <a:bodyPr/>
                    <a:lstStyle/>
                    <a:p>
                      <a:r>
                        <a:rPr lang="es-MX" dirty="0"/>
                        <a:t>2/21</a:t>
                      </a:r>
                    </a:p>
                  </a:txBody>
                  <a:tcPr/>
                </a:tc>
                <a:extLst>
                  <a:ext uri="{0D108BD9-81ED-4DB2-BD59-A6C34878D82A}">
                    <a16:rowId xmlns:a16="http://schemas.microsoft.com/office/drawing/2014/main" val="4067737291"/>
                  </a:ext>
                </a:extLst>
              </a:tr>
              <a:tr h="370840">
                <a:tc>
                  <a:txBody>
                    <a:bodyPr/>
                    <a:lstStyle/>
                    <a:p>
                      <a:r>
                        <a:rPr lang="es-MX" dirty="0"/>
                        <a:t>Evento</a:t>
                      </a:r>
                    </a:p>
                  </a:txBody>
                  <a:tcPr/>
                </a:tc>
                <a:tc>
                  <a:txBody>
                    <a:bodyPr/>
                    <a:lstStyle/>
                    <a:p>
                      <a:r>
                        <a:rPr lang="es-MX" dirty="0"/>
                        <a:t>0</a:t>
                      </a:r>
                    </a:p>
                  </a:txBody>
                  <a:tcPr/>
                </a:tc>
                <a:tc>
                  <a:txBody>
                    <a:bodyPr/>
                    <a:lstStyle/>
                    <a:p>
                      <a:r>
                        <a:rPr lang="es-MX" dirty="0"/>
                        <a:t>4/21</a:t>
                      </a:r>
                    </a:p>
                  </a:txBody>
                  <a:tcPr/>
                </a:tc>
                <a:extLst>
                  <a:ext uri="{0D108BD9-81ED-4DB2-BD59-A6C34878D82A}">
                    <a16:rowId xmlns:a16="http://schemas.microsoft.com/office/drawing/2014/main" val="2994263225"/>
                  </a:ext>
                </a:extLst>
              </a:tr>
              <a:tr h="370840">
                <a:tc>
                  <a:txBody>
                    <a:bodyPr/>
                    <a:lstStyle/>
                    <a:p>
                      <a:r>
                        <a:rPr lang="es-MX" dirty="0"/>
                        <a:t>Cuesta</a:t>
                      </a:r>
                    </a:p>
                  </a:txBody>
                  <a:tcPr/>
                </a:tc>
                <a:tc>
                  <a:txBody>
                    <a:bodyPr/>
                    <a:lstStyle/>
                    <a:p>
                      <a:r>
                        <a:rPr lang="es-MX" dirty="0"/>
                        <a:t>0</a:t>
                      </a:r>
                    </a:p>
                  </a:txBody>
                  <a:tcPr/>
                </a:tc>
                <a:tc>
                  <a:txBody>
                    <a:bodyPr/>
                    <a:lstStyle/>
                    <a:p>
                      <a:r>
                        <a:rPr lang="es-MX" dirty="0"/>
                        <a:t>1/21</a:t>
                      </a:r>
                    </a:p>
                  </a:txBody>
                  <a:tcPr/>
                </a:tc>
                <a:extLst>
                  <a:ext uri="{0D108BD9-81ED-4DB2-BD59-A6C34878D82A}">
                    <a16:rowId xmlns:a16="http://schemas.microsoft.com/office/drawing/2014/main" val="3185006522"/>
                  </a:ext>
                </a:extLst>
              </a:tr>
              <a:tr h="370840">
                <a:tc>
                  <a:txBody>
                    <a:bodyPr/>
                    <a:lstStyle/>
                    <a:p>
                      <a:r>
                        <a:rPr lang="es-MX" dirty="0"/>
                        <a:t>Fue</a:t>
                      </a:r>
                    </a:p>
                  </a:txBody>
                  <a:tcPr/>
                </a:tc>
                <a:tc>
                  <a:txBody>
                    <a:bodyPr/>
                    <a:lstStyle/>
                    <a:p>
                      <a:r>
                        <a:rPr lang="es-MX" dirty="0"/>
                        <a:t>0</a:t>
                      </a:r>
                    </a:p>
                  </a:txBody>
                  <a:tcPr/>
                </a:tc>
                <a:tc>
                  <a:txBody>
                    <a:bodyPr/>
                    <a:lstStyle/>
                    <a:p>
                      <a:r>
                        <a:rPr lang="es-MX" dirty="0"/>
                        <a:t>2/21</a:t>
                      </a:r>
                    </a:p>
                  </a:txBody>
                  <a:tcPr/>
                </a:tc>
                <a:extLst>
                  <a:ext uri="{0D108BD9-81ED-4DB2-BD59-A6C34878D82A}">
                    <a16:rowId xmlns:a16="http://schemas.microsoft.com/office/drawing/2014/main" val="1330472916"/>
                  </a:ext>
                </a:extLst>
              </a:tr>
              <a:tr h="370840">
                <a:tc>
                  <a:txBody>
                    <a:bodyPr/>
                    <a:lstStyle/>
                    <a:p>
                      <a:r>
                        <a:rPr lang="es-MX" dirty="0"/>
                        <a:t>Amigo</a:t>
                      </a:r>
                    </a:p>
                  </a:txBody>
                  <a:tcPr/>
                </a:tc>
                <a:tc>
                  <a:txBody>
                    <a:bodyPr/>
                    <a:lstStyle/>
                    <a:p>
                      <a:r>
                        <a:rPr lang="es-MX" dirty="0"/>
                        <a:t>0</a:t>
                      </a:r>
                    </a:p>
                  </a:txBody>
                  <a:tcPr/>
                </a:tc>
                <a:tc>
                  <a:txBody>
                    <a:bodyPr/>
                    <a:lstStyle/>
                    <a:p>
                      <a:r>
                        <a:rPr lang="es-MX" dirty="0"/>
                        <a:t>3/21</a:t>
                      </a:r>
                    </a:p>
                  </a:txBody>
                  <a:tcPr/>
                </a:tc>
                <a:extLst>
                  <a:ext uri="{0D108BD9-81ED-4DB2-BD59-A6C34878D82A}">
                    <a16:rowId xmlns:a16="http://schemas.microsoft.com/office/drawing/2014/main" val="2872049089"/>
                  </a:ext>
                </a:extLst>
              </a:tr>
              <a:tr h="370840">
                <a:tc>
                  <a:txBody>
                    <a:bodyPr/>
                    <a:lstStyle/>
                    <a:p>
                      <a:r>
                        <a:rPr lang="es-MX" b="1" dirty="0"/>
                        <a:t>Total</a:t>
                      </a:r>
                    </a:p>
                  </a:txBody>
                  <a:tcPr/>
                </a:tc>
                <a:tc>
                  <a:txBody>
                    <a:bodyPr/>
                    <a:lstStyle/>
                    <a:p>
                      <a:r>
                        <a:rPr lang="es-MX" b="1" dirty="0"/>
                        <a:t>1</a:t>
                      </a:r>
                    </a:p>
                  </a:txBody>
                  <a:tcPr/>
                </a:tc>
                <a:tc>
                  <a:txBody>
                    <a:bodyPr/>
                    <a:lstStyle/>
                    <a:p>
                      <a:r>
                        <a:rPr lang="es-MX" b="1" dirty="0"/>
                        <a:t>1</a:t>
                      </a:r>
                    </a:p>
                  </a:txBody>
                  <a:tcPr/>
                </a:tc>
                <a:extLst>
                  <a:ext uri="{0D108BD9-81ED-4DB2-BD59-A6C34878D82A}">
                    <a16:rowId xmlns:a16="http://schemas.microsoft.com/office/drawing/2014/main" val="4276890294"/>
                  </a:ext>
                </a:extLst>
              </a:tr>
            </a:tbl>
          </a:graphicData>
        </a:graphic>
      </p:graphicFrame>
      <p:sp>
        <p:nvSpPr>
          <p:cNvPr id="4" name="Marcador de número de diapositiva 3">
            <a:extLst>
              <a:ext uri="{FF2B5EF4-FFF2-40B4-BE49-F238E27FC236}">
                <a16:creationId xmlns:a16="http://schemas.microsoft.com/office/drawing/2014/main" id="{4AB9DF5C-49B7-CEB4-150C-4281C30598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5854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1E46CC26-FCB1-59DC-8245-9E435F125BDC}"/>
              </a:ext>
            </a:extLst>
          </p:cNvPr>
          <p:cNvSpPr>
            <a:spLocks noGrp="1"/>
          </p:cNvSpPr>
          <p:nvPr>
            <p:ph idx="1"/>
          </p:nvPr>
        </p:nvSpPr>
        <p:spPr>
          <a:xfrm>
            <a:off x="1115568" y="2481943"/>
            <a:ext cx="10168128" cy="3695020"/>
          </a:xfrm>
        </p:spPr>
        <p:txBody>
          <a:bodyPr>
            <a:normAutofit/>
          </a:bodyPr>
          <a:lstStyle/>
          <a:p>
            <a:r>
              <a:rPr lang="es-MX" sz="2400" dirty="0"/>
              <a:t>Se calculan las probabilidades a priori P(Ci)</a:t>
            </a:r>
          </a:p>
          <a:p>
            <a:pPr marL="0" indent="0">
              <a:buNone/>
            </a:pPr>
            <a:r>
              <a:rPr lang="es-MX" sz="2400" dirty="0"/>
              <a:t>Recordando que se tenían 5 correos de no spam y 3 de spam:</a:t>
            </a:r>
          </a:p>
          <a:p>
            <a:pPr marL="0" indent="0">
              <a:buNone/>
            </a:pPr>
            <a:r>
              <a:rPr lang="es-MX" sz="2400" dirty="0"/>
              <a:t>P(Spam) = 3/8</a:t>
            </a:r>
          </a:p>
          <a:p>
            <a:pPr marL="0" indent="0">
              <a:buNone/>
            </a:pPr>
            <a:r>
              <a:rPr lang="es-MX" sz="2400" dirty="0"/>
              <a:t>P(No Spam) = 5/8</a:t>
            </a:r>
          </a:p>
          <a:p>
            <a:pPr marL="0" indent="0">
              <a:buNone/>
            </a:pPr>
            <a:endParaRPr lang="es-MX" sz="2400" dirty="0"/>
          </a:p>
          <a:p>
            <a:pPr marL="0" indent="0">
              <a:buNone/>
            </a:pPr>
            <a:r>
              <a:rPr lang="es-MX" sz="2400" dirty="0"/>
              <a:t>De esta forma ya se tienen la probabilidades </a:t>
            </a:r>
            <a:r>
              <a:rPr lang="en-US" sz="2400" dirty="0"/>
              <a:t>P(</a:t>
            </a:r>
            <a:r>
              <a:rPr lang="en-US" sz="2400" dirty="0" err="1"/>
              <a:t>xj</a:t>
            </a:r>
            <a:r>
              <a:rPr lang="en-US" sz="2400" dirty="0"/>
              <a:t> | Ci)</a:t>
            </a:r>
            <a:r>
              <a:rPr lang="es-MX" sz="2400" dirty="0"/>
              <a:t> y P(Ci) por lo que ya se tiene lo necesario para hacer una predicción.</a:t>
            </a:r>
            <a:endParaRPr lang="en-US" sz="2400" dirty="0"/>
          </a:p>
        </p:txBody>
      </p:sp>
      <p:sp>
        <p:nvSpPr>
          <p:cNvPr id="4" name="Marcador de número de diapositiva 3">
            <a:extLst>
              <a:ext uri="{FF2B5EF4-FFF2-40B4-BE49-F238E27FC236}">
                <a16:creationId xmlns:a16="http://schemas.microsoft.com/office/drawing/2014/main" id="{5DA0E115-ED88-C9B1-0241-E3F21C01E1C0}"/>
              </a:ext>
            </a:extLst>
          </p:cNvPr>
          <p:cNvSpPr>
            <a:spLocks noGrp="1"/>
          </p:cNvSpPr>
          <p:nvPr>
            <p:ph type="sldNum" sz="quarter" idx="12"/>
          </p:nvPr>
        </p:nvSpPr>
        <p:spPr>
          <a:xfrm>
            <a:off x="8540496"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s-MX"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61933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4FAC4-52E6-0A3F-9B40-B42B45326FA9}"/>
              </a:ext>
            </a:extLst>
          </p:cNvPr>
          <p:cNvSpPr>
            <a:spLocks noGrp="1"/>
          </p:cNvSpPr>
          <p:nvPr>
            <p:ph type="title"/>
          </p:nvPr>
        </p:nvSpPr>
        <p:spPr>
          <a:xfrm>
            <a:off x="874208" y="600714"/>
            <a:ext cx="6705206" cy="920910"/>
          </a:xfrm>
        </p:spPr>
        <p:txBody>
          <a:bodyPr anchor="b">
            <a:normAutofit/>
          </a:bodyPr>
          <a:lstStyle/>
          <a:p>
            <a:r>
              <a:rPr lang="es-MX" sz="3600" dirty="0"/>
              <a:t>Ejemplo de predicción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FB0787C-27EF-4F50-0D80-2A609F6386F6}"/>
                  </a:ext>
                </a:extLst>
              </p:cNvPr>
              <p:cNvSpPr>
                <a:spLocks noGrp="1"/>
              </p:cNvSpPr>
              <p:nvPr>
                <p:ph idx="1"/>
              </p:nvPr>
            </p:nvSpPr>
            <p:spPr>
              <a:xfrm>
                <a:off x="874208" y="1919235"/>
                <a:ext cx="10771832" cy="4420872"/>
              </a:xfrm>
            </p:spPr>
            <p:txBody>
              <a:bodyPr anchor="t">
                <a:normAutofit/>
              </a:bodyPr>
              <a:lstStyle/>
              <a:p>
                <a:pPr marL="0" indent="0">
                  <a:buNone/>
                </a:pPr>
                <a:r>
                  <a:rPr lang="es-MX" sz="2400" noProof="0" dirty="0"/>
                  <a:t>Tenemos un mensaje M, lo preprocesamos y terminamos con “Hoy es secreto"</a:t>
                </a:r>
              </a:p>
              <a:p>
                <a:pPr marL="0" indent="0">
                  <a:buNone/>
                </a:pPr>
                <a:r>
                  <a:rPr lang="es-MX" sz="2400" noProof="0" dirty="0"/>
                  <a:t>Queremos clasificarlo, así que buscaremos calcular:</a:t>
                </a:r>
              </a:p>
              <a:p>
                <a:pPr marL="0" indent="0">
                  <a:buNone/>
                </a:pPr>
                <a:endParaRPr lang="es-MX" sz="2400" dirty="0"/>
              </a:p>
              <a:p>
                <a:pPr marL="0" indent="0">
                  <a:buNone/>
                </a:pPr>
                <a14:m>
                  <m:oMathPara xmlns:m="http://schemas.openxmlformats.org/officeDocument/2006/math">
                    <m:oMath>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spam</m:t>
                      </m:r>
                      <m:r>
                        <a:rPr lang="es-MX" sz="2400" b="0" i="1">
                          <a:latin typeface="Cambria Math" panose="02040503050406030204" pitchFamily="18" charset="0"/>
                        </a:rPr>
                        <m:t>|</m:t>
                      </m:r>
                      <m:r>
                        <m:rPr>
                          <m:sty m:val="p"/>
                        </m:rPr>
                        <a:rPr lang="es-MX" sz="2400" b="0" i="1">
                          <a:latin typeface="Cambria Math" panose="02040503050406030204" pitchFamily="18" charset="0"/>
                        </a:rPr>
                        <m:t>hoy</m:t>
                      </m:r>
                      <m:r>
                        <a:rPr lang="es-MX" sz="2400" b="0" i="1">
                          <a:latin typeface="Cambria Math" panose="02040503050406030204" pitchFamily="18" charset="0"/>
                        </a:rPr>
                        <m:t> </m:t>
                      </m:r>
                      <m:r>
                        <m:rPr>
                          <m:sty m:val="p"/>
                        </m:rPr>
                        <a:rPr lang="es-MX" sz="2400" b="0" i="1">
                          <a:latin typeface="Cambria Math" panose="02040503050406030204" pitchFamily="18" charset="0"/>
                        </a:rPr>
                        <m:t>es</m:t>
                      </m:r>
                      <m:r>
                        <a:rPr lang="es-MX" sz="2400" b="0" i="1">
                          <a:latin typeface="Cambria Math" panose="02040503050406030204" pitchFamily="18" charset="0"/>
                        </a:rPr>
                        <m:t> </m:t>
                      </m:r>
                      <m:r>
                        <m:rPr>
                          <m:sty m:val="p"/>
                        </m:rPr>
                        <a:rPr lang="es-MX" sz="2400" b="0" i="1">
                          <a:latin typeface="Cambria Math" panose="02040503050406030204" pitchFamily="18" charset="0"/>
                        </a:rPr>
                        <m:t>secreto</m:t>
                      </m:r>
                      <m:r>
                        <a:rPr lang="es-MX" sz="2400" b="0" i="1">
                          <a:latin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P</m:t>
                      </m:r>
                      <m:r>
                        <a:rPr lang="es-MX" sz="2400" b="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hoy</m:t>
                      </m:r>
                      <m:r>
                        <a:rPr lang="es-MX" sz="2400" b="0" i="1">
                          <a:latin typeface="Cambria Math" panose="02040503050406030204" pitchFamily="18" charset="0"/>
                          <a:ea typeface="Cambria Math" panose="02040503050406030204" pitchFamily="18" charset="0"/>
                        </a:rPr>
                        <m:t> </m:t>
                      </m:r>
                      <m:r>
                        <m:rPr>
                          <m:sty m:val="p"/>
                        </m:rPr>
                        <a:rPr lang="es-MX" sz="2400" b="0" i="1">
                          <a:latin typeface="Cambria Math" panose="02040503050406030204" pitchFamily="18" charset="0"/>
                          <a:ea typeface="Cambria Math" panose="02040503050406030204" pitchFamily="18" charset="0"/>
                        </a:rPr>
                        <m:t>es</m:t>
                      </m:r>
                      <m:r>
                        <a:rPr lang="es-MX" sz="2400" b="0" i="1">
                          <a:latin typeface="Cambria Math" panose="02040503050406030204" pitchFamily="18" charset="0"/>
                          <a:ea typeface="Cambria Math" panose="02040503050406030204" pitchFamily="18" charset="0"/>
                        </a:rPr>
                        <m:t> </m:t>
                      </m:r>
                      <m:r>
                        <m:rPr>
                          <m:sty m:val="p"/>
                        </m:rPr>
                        <a:rPr lang="es-MX" sz="2400" b="0" i="1">
                          <a:latin typeface="Cambria Math" panose="02040503050406030204" pitchFamily="18" charset="0"/>
                          <a:ea typeface="Cambria Math" panose="02040503050406030204" pitchFamily="18" charset="0"/>
                        </a:rPr>
                        <m:t>secreto</m:t>
                      </m:r>
                      <m:r>
                        <a:rPr lang="es-MX" sz="2400" b="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spam</m:t>
                      </m:r>
                      <m:r>
                        <a:rPr lang="es-MX" sz="2400" b="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P</m:t>
                      </m:r>
                      <m:r>
                        <a:rPr lang="es-MX" sz="2400" b="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spam</m:t>
                      </m:r>
                      <m:r>
                        <a:rPr lang="es-MX" sz="2400" b="0" i="1">
                          <a:latin typeface="Cambria Math" panose="02040503050406030204" pitchFamily="18" charset="0"/>
                          <a:ea typeface="Cambria Math" panose="02040503050406030204" pitchFamily="18" charset="0"/>
                        </a:rPr>
                        <m:t>)</m:t>
                      </m:r>
                    </m:oMath>
                  </m:oMathPara>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b="0" i="1">
                          <a:latin typeface="Cambria Math" panose="02040503050406030204" pitchFamily="18" charset="0"/>
                        </a:rPr>
                        <m:t>no</m:t>
                      </m:r>
                      <m:r>
                        <a:rPr lang="es-MX" sz="2400" b="0" i="1">
                          <a:latin typeface="Cambria Math" panose="02040503050406030204" pitchFamily="18" charset="0"/>
                        </a:rPr>
                        <m:t> </m:t>
                      </m:r>
                      <m:r>
                        <m:rPr>
                          <m:sty m:val="p"/>
                        </m:rPr>
                        <a:rPr lang="es-MX" sz="2400" i="1">
                          <a:latin typeface="Cambria Math" panose="02040503050406030204" pitchFamily="18" charset="0"/>
                        </a:rPr>
                        <m:t>spam</m:t>
                      </m:r>
                      <m:r>
                        <a:rPr lang="es-MX" sz="2400" i="1">
                          <a:latin typeface="Cambria Math" panose="02040503050406030204" pitchFamily="18" charset="0"/>
                        </a:rPr>
                        <m:t>|</m:t>
                      </m:r>
                      <m:r>
                        <m:rPr>
                          <m:sty m:val="p"/>
                        </m:rPr>
                        <a:rPr lang="es-MX" sz="2400" i="1">
                          <a:latin typeface="Cambria Math" panose="02040503050406030204" pitchFamily="18" charset="0"/>
                        </a:rPr>
                        <m:t>hoy</m:t>
                      </m:r>
                      <m:r>
                        <a:rPr lang="es-MX" sz="2400" i="1">
                          <a:latin typeface="Cambria Math" panose="02040503050406030204" pitchFamily="18" charset="0"/>
                        </a:rPr>
                        <m:t> </m:t>
                      </m:r>
                      <m:r>
                        <m:rPr>
                          <m:sty m:val="p"/>
                        </m:rPr>
                        <a:rPr lang="es-MX" sz="2400" i="1">
                          <a:latin typeface="Cambria Math" panose="02040503050406030204" pitchFamily="18" charset="0"/>
                        </a:rPr>
                        <m:t>es</m:t>
                      </m:r>
                      <m:r>
                        <a:rPr lang="es-MX" sz="2400" i="1">
                          <a:latin typeface="Cambria Math" panose="02040503050406030204" pitchFamily="18" charset="0"/>
                        </a:rPr>
                        <m:t> </m:t>
                      </m:r>
                      <m:r>
                        <m:rPr>
                          <m:sty m:val="p"/>
                        </m:rPr>
                        <a:rPr lang="es-MX" sz="2400" i="1">
                          <a:latin typeface="Cambria Math" panose="02040503050406030204" pitchFamily="18" charset="0"/>
                        </a:rPr>
                        <m:t>secreto</m:t>
                      </m:r>
                      <m:r>
                        <a:rPr lang="es-MX" sz="2400" i="1">
                          <a:latin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hoy</m:t>
                      </m:r>
                      <m:r>
                        <a:rPr lang="es-MX" sz="240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es</m:t>
                      </m:r>
                      <m:r>
                        <a:rPr lang="es-MX" sz="240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secreto</m:t>
                      </m:r>
                      <m:r>
                        <a:rPr lang="es-MX" sz="240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no</m:t>
                      </m:r>
                      <m:r>
                        <a:rPr lang="es-MX" sz="2400" b="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b="0" i="1">
                          <a:latin typeface="Cambria Math" panose="02040503050406030204" pitchFamily="18" charset="0"/>
                          <a:ea typeface="Cambria Math" panose="02040503050406030204" pitchFamily="18" charset="0"/>
                        </a:rPr>
                        <m:t>no</m:t>
                      </m:r>
                      <m:r>
                        <a:rPr lang="es-MX" sz="2400" b="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m:t>
                      </m:r>
                    </m:oMath>
                  </m:oMathPara>
                </a14:m>
                <a:endParaRPr lang="es-MX" sz="2400" dirty="0"/>
              </a:p>
              <a:p>
                <a:pPr marL="0" indent="0">
                  <a:buNone/>
                </a:pPr>
                <a:endParaRPr lang="es-MX" sz="2000" dirty="0"/>
              </a:p>
            </p:txBody>
          </p:sp>
        </mc:Choice>
        <mc:Fallback xmlns="">
          <p:sp>
            <p:nvSpPr>
              <p:cNvPr id="3" name="Marcador de contenido 2">
                <a:extLst>
                  <a:ext uri="{FF2B5EF4-FFF2-40B4-BE49-F238E27FC236}">
                    <a16:creationId xmlns:a16="http://schemas.microsoft.com/office/drawing/2014/main" id="{6FB0787C-27EF-4F50-0D80-2A609F6386F6}"/>
                  </a:ext>
                </a:extLst>
              </p:cNvPr>
              <p:cNvSpPr>
                <a:spLocks noGrp="1" noRot="1" noChangeAspect="1" noMove="1" noResize="1" noEditPoints="1" noAdjustHandles="1" noChangeArrowheads="1" noChangeShapeType="1" noTextEdit="1"/>
              </p:cNvSpPr>
              <p:nvPr>
                <p:ph idx="1"/>
              </p:nvPr>
            </p:nvSpPr>
            <p:spPr>
              <a:xfrm>
                <a:off x="874208" y="1919235"/>
                <a:ext cx="10771832" cy="4420872"/>
              </a:xfrm>
              <a:blipFill>
                <a:blip r:embed="rId2"/>
                <a:stretch>
                  <a:fillRect l="-849" t="-1793"/>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E9F7DF38-1391-8334-1E8F-045BC0F93A46}"/>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48</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pSp>
        <p:nvGrpSpPr>
          <p:cNvPr id="9" name="Group 8">
            <a:extLst>
              <a:ext uri="{FF2B5EF4-FFF2-40B4-BE49-F238E27FC236}">
                <a16:creationId xmlns:a16="http://schemas.microsoft.com/office/drawing/2014/main" id="{26D12BCC-61D9-328E-F085-BB357865E8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CE600A4-5138-6E7C-0A6C-3653FBD81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4652843-24E8-329C-92EE-9B5CA2D4D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754930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D0F043B-93CF-2668-72F1-B5674C845D90}"/>
                  </a:ext>
                </a:extLst>
              </p:cNvPr>
              <p:cNvSpPr>
                <a:spLocks noGrp="1"/>
              </p:cNvSpPr>
              <p:nvPr>
                <p:ph idx="1"/>
              </p:nvPr>
            </p:nvSpPr>
            <p:spPr>
              <a:xfrm>
                <a:off x="904352" y="914400"/>
                <a:ext cx="10349802" cy="5066908"/>
              </a:xfrm>
            </p:spPr>
            <p:txBody>
              <a:bodyPr anchor="t">
                <a:normAutofit/>
              </a:bodyPr>
              <a:lstStyle/>
              <a:p>
                <a:pPr marL="0" indent="0">
                  <a:buNone/>
                </a:pPr>
                <a:r>
                  <a:rPr lang="es-MX" sz="2400" dirty="0"/>
                  <a:t>Se utiliza Bayes ingenuo para modelar la probabilidad de cada palabra de forma independiente</a:t>
                </a:r>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spam</m:t>
                      </m:r>
                      <m:r>
                        <a:rPr lang="es-MX" sz="2400" i="1">
                          <a:latin typeface="Cambria Math" panose="02040503050406030204" pitchFamily="18" charset="0"/>
                        </a:rPr>
                        <m:t>|</m:t>
                      </m:r>
                      <m:r>
                        <m:rPr>
                          <m:sty m:val="p"/>
                        </m:rPr>
                        <a:rPr lang="es-MX" sz="2400" i="1">
                          <a:latin typeface="Cambria Math" panose="02040503050406030204" pitchFamily="18" charset="0"/>
                        </a:rPr>
                        <m:t>hoy</m:t>
                      </m:r>
                      <m:r>
                        <a:rPr lang="es-MX" sz="2400" i="1">
                          <a:latin typeface="Cambria Math" panose="02040503050406030204" pitchFamily="18" charset="0"/>
                        </a:rPr>
                        <m:t> </m:t>
                      </m:r>
                      <m:r>
                        <m:rPr>
                          <m:sty m:val="p"/>
                        </m:rPr>
                        <a:rPr lang="es-MX" sz="2400" i="1">
                          <a:latin typeface="Cambria Math" panose="02040503050406030204" pitchFamily="18" charset="0"/>
                        </a:rPr>
                        <m:t>es</m:t>
                      </m:r>
                      <m:r>
                        <a:rPr lang="es-MX" sz="2400" i="1">
                          <a:latin typeface="Cambria Math" panose="02040503050406030204" pitchFamily="18" charset="0"/>
                        </a:rPr>
                        <m:t> </m:t>
                      </m:r>
                      <m:r>
                        <m:rPr>
                          <m:sty m:val="p"/>
                        </m:rPr>
                        <a:rPr lang="es-MX" sz="2400" i="1">
                          <a:latin typeface="Cambria Math" panose="02040503050406030204" pitchFamily="18" charset="0"/>
                        </a:rPr>
                        <m:t>secreto</m:t>
                      </m:r>
                      <m:r>
                        <a:rPr lang="es-MX" sz="2400" i="1">
                          <a:latin typeface="Cambria Math" panose="02040503050406030204" pitchFamily="18" charset="0"/>
                        </a:rPr>
                        <m:t>)≈</m:t>
                      </m:r>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hoy</m:t>
                      </m:r>
                      <m:r>
                        <a:rPr lang="es-MX" sz="2400" b="0" i="1">
                          <a:latin typeface="Cambria Math" panose="02040503050406030204" pitchFamily="18" charset="0"/>
                        </a:rPr>
                        <m:t>|</m:t>
                      </m:r>
                      <m:r>
                        <m:rPr>
                          <m:sty m:val="p"/>
                        </m:rPr>
                        <a:rPr lang="es-MX" sz="2400" b="0" i="1">
                          <a:latin typeface="Cambria Math" panose="02040503050406030204" pitchFamily="18" charset="0"/>
                        </a:rPr>
                        <m:t>spam</m:t>
                      </m:r>
                      <m:r>
                        <a:rPr lang="es-MX" sz="2400" b="0" i="1">
                          <a:latin typeface="Cambria Math" panose="02040503050406030204" pitchFamily="18" charset="0"/>
                        </a:rPr>
                        <m:t>)</m:t>
                      </m:r>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es</m:t>
                      </m:r>
                      <m:r>
                        <a:rPr lang="es-MX" sz="2400" b="0" i="1">
                          <a:latin typeface="Cambria Math" panose="02040503050406030204" pitchFamily="18" charset="0"/>
                        </a:rPr>
                        <m:t>|</m:t>
                      </m:r>
                      <m:r>
                        <m:rPr>
                          <m:sty m:val="p"/>
                        </m:rPr>
                        <a:rPr lang="es-MX" sz="2400" b="0" i="1">
                          <a:latin typeface="Cambria Math" panose="02040503050406030204" pitchFamily="18" charset="0"/>
                        </a:rPr>
                        <m:t>spam</m:t>
                      </m:r>
                      <m:r>
                        <a:rPr lang="es-MX" sz="2400" b="0" i="1">
                          <a:latin typeface="Cambria Math" panose="02040503050406030204" pitchFamily="18" charset="0"/>
                        </a:rPr>
                        <m:t>)</m:t>
                      </m:r>
                      <m:r>
                        <m:rPr>
                          <m:sty m:val="p"/>
                        </m:rPr>
                        <a:rPr lang="es-MX" sz="2400" b="0" i="1">
                          <a:latin typeface="Cambria Math" panose="02040503050406030204" pitchFamily="18" charset="0"/>
                        </a:rPr>
                        <m:t>P</m:t>
                      </m:r>
                      <m:r>
                        <a:rPr lang="es-MX" sz="2400" b="0" i="1">
                          <a:latin typeface="Cambria Math" panose="02040503050406030204" pitchFamily="18" charset="0"/>
                        </a:rPr>
                        <m:t>(</m:t>
                      </m:r>
                      <m:r>
                        <m:rPr>
                          <m:sty m:val="p"/>
                        </m:rPr>
                        <a:rPr lang="es-MX" sz="2400" b="0" i="1">
                          <a:latin typeface="Cambria Math" panose="02040503050406030204" pitchFamily="18" charset="0"/>
                        </a:rPr>
                        <m:t>secreto</m:t>
                      </m:r>
                      <m:r>
                        <a:rPr lang="es-MX" sz="2400" b="0" i="1">
                          <a:latin typeface="Cambria Math" panose="02040503050406030204" pitchFamily="18" charset="0"/>
                        </a:rPr>
                        <m:t>|</m:t>
                      </m:r>
                      <m:r>
                        <m:rPr>
                          <m:sty m:val="p"/>
                        </m:rPr>
                        <a:rPr lang="es-MX" sz="2400" b="0" i="1">
                          <a:latin typeface="Cambria Math" panose="02040503050406030204" pitchFamily="18" charset="0"/>
                        </a:rPr>
                        <m:t>spam</m:t>
                      </m:r>
                      <m:r>
                        <a:rPr lang="es-MX" sz="2400" b="0" i="1">
                          <a:latin typeface="Cambria Math" panose="02040503050406030204" pitchFamily="18" charset="0"/>
                        </a:rPr>
                        <m:t>)</m:t>
                      </m:r>
                    </m:oMath>
                  </m:oMathPara>
                </a14:m>
                <a:endParaRPr lang="es-MX" sz="2400" dirty="0"/>
              </a:p>
              <a:p>
                <a:pPr marL="0" indent="0">
                  <a:buNone/>
                </a:pPr>
                <a14:m>
                  <m:oMathPara xmlns:m="http://schemas.openxmlformats.org/officeDocument/2006/math">
                    <m:oMath>
                      <m:r>
                        <a:rPr lang="es-MX" sz="2400" b="0" i="1">
                          <a:latin typeface="Cambria Math" panose="02040503050406030204" pitchFamily="18" charset="0"/>
                        </a:rPr>
                        <m:t>=(1/10)(1/10)(3/10)(3/8)=0.0011</m:t>
                      </m:r>
                    </m:oMath>
                  </m:oMathPara>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b="0" i="1">
                          <a:latin typeface="Cambria Math" panose="02040503050406030204" pitchFamily="18" charset="0"/>
                        </a:rPr>
                        <m:t>no</m:t>
                      </m:r>
                      <m:r>
                        <a:rPr lang="es-MX" sz="2400" b="0" i="1">
                          <a:latin typeface="Cambria Math" panose="02040503050406030204" pitchFamily="18" charset="0"/>
                        </a:rPr>
                        <m:t> </m:t>
                      </m:r>
                      <m:r>
                        <m:rPr>
                          <m:sty m:val="p"/>
                        </m:rPr>
                        <a:rPr lang="es-MX" sz="2400" i="1">
                          <a:latin typeface="Cambria Math" panose="02040503050406030204" pitchFamily="18" charset="0"/>
                        </a:rPr>
                        <m:t>spam</m:t>
                      </m:r>
                      <m:r>
                        <a:rPr lang="es-MX" sz="2400" i="1">
                          <a:latin typeface="Cambria Math" panose="02040503050406030204" pitchFamily="18" charset="0"/>
                        </a:rPr>
                        <m:t>|</m:t>
                      </m:r>
                      <m:r>
                        <m:rPr>
                          <m:sty m:val="p"/>
                        </m:rPr>
                        <a:rPr lang="es-MX" sz="2400" i="1">
                          <a:latin typeface="Cambria Math" panose="02040503050406030204" pitchFamily="18" charset="0"/>
                        </a:rPr>
                        <m:t>hoy</m:t>
                      </m:r>
                      <m:r>
                        <a:rPr lang="es-MX" sz="2400" i="1">
                          <a:latin typeface="Cambria Math" panose="02040503050406030204" pitchFamily="18" charset="0"/>
                        </a:rPr>
                        <m:t> </m:t>
                      </m:r>
                      <m:r>
                        <m:rPr>
                          <m:sty m:val="p"/>
                        </m:rPr>
                        <a:rPr lang="es-MX" sz="2400" i="1">
                          <a:latin typeface="Cambria Math" panose="02040503050406030204" pitchFamily="18" charset="0"/>
                        </a:rPr>
                        <m:t>es</m:t>
                      </m:r>
                      <m:r>
                        <a:rPr lang="es-MX" sz="2400" i="1">
                          <a:latin typeface="Cambria Math" panose="02040503050406030204" pitchFamily="18" charset="0"/>
                        </a:rPr>
                        <m:t> </m:t>
                      </m:r>
                      <m:r>
                        <m:rPr>
                          <m:sty m:val="p"/>
                        </m:rPr>
                        <a:rPr lang="es-MX" sz="2400" i="1">
                          <a:latin typeface="Cambria Math" panose="02040503050406030204" pitchFamily="18" charset="0"/>
                        </a:rPr>
                        <m:t>secreto</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hoy</m:t>
                      </m:r>
                      <m:r>
                        <a:rPr lang="es-MX" sz="2400" i="1">
                          <a:latin typeface="Cambria Math" panose="02040503050406030204" pitchFamily="18" charset="0"/>
                        </a:rPr>
                        <m:t>|</m:t>
                      </m:r>
                      <m:r>
                        <m:rPr>
                          <m:sty m:val="p"/>
                        </m:rPr>
                        <a:rPr lang="es-MX" sz="2400" b="0" i="1">
                          <a:latin typeface="Cambria Math" panose="02040503050406030204" pitchFamily="18" charset="0"/>
                        </a:rPr>
                        <m:t>no</m:t>
                      </m:r>
                      <m:r>
                        <a:rPr lang="es-MX" sz="2400" b="0" i="1">
                          <a:latin typeface="Cambria Math" panose="02040503050406030204" pitchFamily="18" charset="0"/>
                        </a:rPr>
                        <m:t> </m:t>
                      </m:r>
                      <m:r>
                        <m:rPr>
                          <m:sty m:val="p"/>
                        </m:rPr>
                        <a:rPr lang="es-MX" sz="2400" i="1">
                          <a:latin typeface="Cambria Math" panose="02040503050406030204" pitchFamily="18" charset="0"/>
                        </a:rPr>
                        <m:t>spam</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es</m:t>
                      </m:r>
                      <m:r>
                        <a:rPr lang="es-MX" sz="2400" i="1">
                          <a:latin typeface="Cambria Math" panose="02040503050406030204" pitchFamily="18" charset="0"/>
                        </a:rPr>
                        <m:t>|</m:t>
                      </m:r>
                      <m:r>
                        <m:rPr>
                          <m:sty m:val="p"/>
                        </m:rPr>
                        <a:rPr lang="es-MX" sz="2400" b="0" i="1">
                          <a:latin typeface="Cambria Math" panose="02040503050406030204" pitchFamily="18" charset="0"/>
                        </a:rPr>
                        <m:t>no</m:t>
                      </m:r>
                      <m:r>
                        <a:rPr lang="es-MX" sz="2400" b="0" i="1">
                          <a:latin typeface="Cambria Math" panose="02040503050406030204" pitchFamily="18" charset="0"/>
                        </a:rPr>
                        <m:t> </m:t>
                      </m:r>
                      <m:r>
                        <m:rPr>
                          <m:sty m:val="p"/>
                        </m:rPr>
                        <a:rPr lang="es-MX" sz="2400" i="1">
                          <a:latin typeface="Cambria Math" panose="02040503050406030204" pitchFamily="18" charset="0"/>
                        </a:rPr>
                        <m:t>spam</m:t>
                      </m:r>
                      <m:r>
                        <a:rPr lang="es-MX" sz="2400" i="1">
                          <a:latin typeface="Cambria Math" panose="02040503050406030204" pitchFamily="18" charset="0"/>
                        </a:rPr>
                        <m:t>)</m:t>
                      </m:r>
                      <m:r>
                        <m:rPr>
                          <m:sty m:val="p"/>
                        </m:rPr>
                        <a:rPr lang="es-MX" sz="2400" i="1">
                          <a:latin typeface="Cambria Math" panose="02040503050406030204" pitchFamily="18" charset="0"/>
                        </a:rPr>
                        <m:t>P</m:t>
                      </m:r>
                      <m:r>
                        <a:rPr lang="es-MX" sz="2400" i="1">
                          <a:latin typeface="Cambria Math" panose="02040503050406030204" pitchFamily="18" charset="0"/>
                        </a:rPr>
                        <m:t>(</m:t>
                      </m:r>
                      <m:r>
                        <m:rPr>
                          <m:sty m:val="p"/>
                        </m:rPr>
                        <a:rPr lang="es-MX" sz="2400" i="1">
                          <a:latin typeface="Cambria Math" panose="02040503050406030204" pitchFamily="18" charset="0"/>
                        </a:rPr>
                        <m:t>secreto</m:t>
                      </m:r>
                      <m:r>
                        <a:rPr lang="es-MX" sz="2400" i="1">
                          <a:latin typeface="Cambria Math" panose="02040503050406030204" pitchFamily="18" charset="0"/>
                        </a:rPr>
                        <m:t>|</m:t>
                      </m:r>
                      <m:r>
                        <m:rPr>
                          <m:sty m:val="p"/>
                        </m:rPr>
                        <a:rPr lang="es-MX" sz="2400" b="0" i="1">
                          <a:latin typeface="Cambria Math" panose="02040503050406030204" pitchFamily="18" charset="0"/>
                        </a:rPr>
                        <m:t>no</m:t>
                      </m:r>
                      <m:r>
                        <a:rPr lang="es-MX" sz="2400" b="0" i="1">
                          <a:latin typeface="Cambria Math" panose="02040503050406030204" pitchFamily="18" charset="0"/>
                        </a:rPr>
                        <m:t> </m:t>
                      </m:r>
                      <m:r>
                        <m:rPr>
                          <m:sty m:val="p"/>
                        </m:rPr>
                        <a:rPr lang="es-MX" sz="2400" i="1">
                          <a:latin typeface="Cambria Math" panose="02040503050406030204" pitchFamily="18" charset="0"/>
                        </a:rPr>
                        <m:t>spam</m:t>
                      </m:r>
                      <m:r>
                        <a:rPr lang="es-MX" sz="2400" i="1">
                          <a:latin typeface="Cambria Math" panose="02040503050406030204" pitchFamily="18" charset="0"/>
                        </a:rPr>
                        <m:t>)</m:t>
                      </m:r>
                    </m:oMath>
                  </m:oMathPara>
                </a14:m>
                <a:endParaRPr lang="es-MX" sz="2400" dirty="0"/>
              </a:p>
              <a:p>
                <a:pPr marL="0" indent="0">
                  <a:buNone/>
                </a:pPr>
                <a14:m>
                  <m:oMathPara xmlns:m="http://schemas.openxmlformats.org/officeDocument/2006/math">
                    <m:oMath>
                      <m:r>
                        <a:rPr lang="es-MX" sz="2400" i="1">
                          <a:latin typeface="Cambria Math" panose="02040503050406030204" pitchFamily="18" charset="0"/>
                        </a:rPr>
                        <m:t>=(</m:t>
                      </m:r>
                      <m:r>
                        <a:rPr lang="es-MX" sz="2400" b="0" i="1">
                          <a:latin typeface="Cambria Math" panose="02040503050406030204" pitchFamily="18" charset="0"/>
                        </a:rPr>
                        <m:t>2</m:t>
                      </m:r>
                      <m:r>
                        <a:rPr lang="es-MX" sz="2400" i="1">
                          <a:latin typeface="Cambria Math" panose="02040503050406030204" pitchFamily="18" charset="0"/>
                        </a:rPr>
                        <m:t>/</m:t>
                      </m:r>
                      <m:r>
                        <a:rPr lang="es-MX" sz="2400" b="0" i="1">
                          <a:latin typeface="Cambria Math" panose="02040503050406030204" pitchFamily="18" charset="0"/>
                        </a:rPr>
                        <m:t>21</m:t>
                      </m:r>
                      <m:r>
                        <a:rPr lang="es-MX" sz="2400" i="1">
                          <a:latin typeface="Cambria Math" panose="02040503050406030204" pitchFamily="18" charset="0"/>
                        </a:rPr>
                        <m:t>)(1/</m:t>
                      </m:r>
                      <m:r>
                        <a:rPr lang="es-MX" sz="2400" b="0" i="1">
                          <a:latin typeface="Cambria Math" panose="02040503050406030204" pitchFamily="18" charset="0"/>
                        </a:rPr>
                        <m:t>21</m:t>
                      </m:r>
                      <m:r>
                        <a:rPr lang="es-MX" sz="2400" i="1">
                          <a:latin typeface="Cambria Math" panose="02040503050406030204" pitchFamily="18" charset="0"/>
                        </a:rPr>
                        <m:t>)(</m:t>
                      </m:r>
                      <m:r>
                        <a:rPr lang="es-MX" sz="2400" b="0" i="1">
                          <a:latin typeface="Cambria Math" panose="02040503050406030204" pitchFamily="18" charset="0"/>
                        </a:rPr>
                        <m:t>1</m:t>
                      </m:r>
                      <m:r>
                        <a:rPr lang="es-MX" sz="2400" i="1">
                          <a:latin typeface="Cambria Math" panose="02040503050406030204" pitchFamily="18" charset="0"/>
                        </a:rPr>
                        <m:t>/</m:t>
                      </m:r>
                      <m:r>
                        <a:rPr lang="es-MX" sz="2400" b="0" i="1">
                          <a:latin typeface="Cambria Math" panose="02040503050406030204" pitchFamily="18" charset="0"/>
                        </a:rPr>
                        <m:t>21</m:t>
                      </m:r>
                      <m:r>
                        <a:rPr lang="es-MX" sz="2400" i="1">
                          <a:latin typeface="Cambria Math" panose="02040503050406030204" pitchFamily="18" charset="0"/>
                        </a:rPr>
                        <m:t>)(</m:t>
                      </m:r>
                      <m:r>
                        <a:rPr lang="es-MX" sz="2400" b="0" i="1">
                          <a:latin typeface="Cambria Math" panose="02040503050406030204" pitchFamily="18" charset="0"/>
                        </a:rPr>
                        <m:t>5</m:t>
                      </m:r>
                      <m:r>
                        <a:rPr lang="es-MX" sz="2400" i="1">
                          <a:latin typeface="Cambria Math" panose="02040503050406030204" pitchFamily="18" charset="0"/>
                        </a:rPr>
                        <m:t>/8)=</m:t>
                      </m:r>
                      <m:r>
                        <a:rPr lang="es-MX" sz="2400" b="0" i="1">
                          <a:latin typeface="Cambria Math" panose="02040503050406030204" pitchFamily="18" charset="0"/>
                        </a:rPr>
                        <m:t>0.0001</m:t>
                      </m:r>
                    </m:oMath>
                  </m:oMathPara>
                </a14:m>
                <a:endParaRPr lang="es-MX" sz="2400" dirty="0"/>
              </a:p>
              <a:p>
                <a:pPr marL="0" indent="0">
                  <a:buNone/>
                </a:pPr>
                <a:endParaRPr lang="es-MX" sz="2400" dirty="0"/>
              </a:p>
              <a:p>
                <a:pPr marL="0" indent="0">
                  <a:buNone/>
                </a:pPr>
                <a:r>
                  <a:rPr lang="es-MX" sz="2400" dirty="0"/>
                  <a:t>Por lo tanto se clasifica como </a:t>
                </a:r>
                <a:r>
                  <a:rPr lang="es-MX" sz="2400" b="1" dirty="0"/>
                  <a:t>Spam</a:t>
                </a:r>
              </a:p>
            </p:txBody>
          </p:sp>
        </mc:Choice>
        <mc:Fallback xmlns="">
          <p:sp>
            <p:nvSpPr>
              <p:cNvPr id="3" name="Marcador de contenido 2">
                <a:extLst>
                  <a:ext uri="{FF2B5EF4-FFF2-40B4-BE49-F238E27FC236}">
                    <a16:creationId xmlns:a16="http://schemas.microsoft.com/office/drawing/2014/main" id="{ED0F043B-93CF-2668-72F1-B5674C845D90}"/>
                  </a:ext>
                </a:extLst>
              </p:cNvPr>
              <p:cNvSpPr>
                <a:spLocks noGrp="1" noRot="1" noChangeAspect="1" noMove="1" noResize="1" noEditPoints="1" noAdjustHandles="1" noChangeArrowheads="1" noChangeShapeType="1" noTextEdit="1"/>
              </p:cNvSpPr>
              <p:nvPr>
                <p:ph idx="1"/>
              </p:nvPr>
            </p:nvSpPr>
            <p:spPr>
              <a:xfrm>
                <a:off x="904352" y="914400"/>
                <a:ext cx="10349802" cy="5066908"/>
              </a:xfrm>
              <a:blipFill>
                <a:blip r:embed="rId2"/>
                <a:stretch>
                  <a:fillRect l="-883" t="-1564"/>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CC768E67-862A-B3AF-DA8C-28D54D90F2A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49</a:t>
            </a:fld>
            <a:endParaRPr kumimoji="0" lang="es-MX"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pSp>
        <p:nvGrpSpPr>
          <p:cNvPr id="9" name="Group 8">
            <a:extLst>
              <a:ext uri="{FF2B5EF4-FFF2-40B4-BE49-F238E27FC236}">
                <a16:creationId xmlns:a16="http://schemas.microsoft.com/office/drawing/2014/main" id="{26D12BCC-61D9-328E-F085-BB357865E8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CE600A4-5138-6E7C-0A6C-3653FBD81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4652843-24E8-329C-92EE-9B5CA2D4D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1164178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9240AD-5E4E-442A-8734-C410CFB6D221}"/>
              </a:ext>
            </a:extLst>
          </p:cNvPr>
          <p:cNvSpPr>
            <a:spLocks noGrp="1"/>
          </p:cNvSpPr>
          <p:nvPr>
            <p:ph type="title"/>
          </p:nvPr>
        </p:nvSpPr>
        <p:spPr/>
        <p:txBody>
          <a:bodyPr/>
          <a:lstStyle/>
          <a:p>
            <a:r>
              <a:rPr lang="es-MX" dirty="0"/>
              <a:t>Problema: Datos no vistos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5A6AE38-DB40-7F6D-D9A0-B05F8BA04F39}"/>
                  </a:ext>
                </a:extLst>
              </p:cNvPr>
              <p:cNvSpPr>
                <a:spLocks noGrp="1"/>
              </p:cNvSpPr>
              <p:nvPr>
                <p:ph idx="1"/>
              </p:nvPr>
            </p:nvSpPr>
            <p:spPr/>
            <p:txBody>
              <a:bodyPr/>
              <a:lstStyle/>
              <a:p>
                <a:r>
                  <a:rPr lang="es-MX" dirty="0"/>
                  <a:t>Si tenemos “Hoy oferta evento” pasaría lo siguiente:</a:t>
                </a:r>
              </a:p>
              <a:p>
                <a:endParaRPr lang="es-MX" dirty="0"/>
              </a:p>
              <a:p>
                <a:pPr marL="0" indent="0">
                  <a:buNone/>
                </a:pPr>
                <a14:m>
                  <m:oMathPara xmlns:m="http://schemas.openxmlformats.org/officeDocument/2006/math">
                    <m:oMath>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hoy</m:t>
                      </m:r>
                      <m:r>
                        <a:rPr lang="es-MX" sz="2400" i="1">
                          <a:latin typeface="Cambria Math" panose="02040503050406030204" pitchFamily="18" charset="0"/>
                          <a:ea typeface="Cambria Math" panose="02040503050406030204" pitchFamily="18" charset="0"/>
                        </a:rPr>
                        <m:t> </m:t>
                      </m:r>
                      <m:r>
                        <m:rPr>
                          <m:sty m:val="p"/>
                        </m:rPr>
                        <a:rPr lang="es-MX" sz="2400" b="0" i="1" smtClean="0">
                          <a:latin typeface="Cambria Math" panose="02040503050406030204" pitchFamily="18" charset="0"/>
                          <a:ea typeface="Cambria Math" panose="02040503050406030204" pitchFamily="18" charset="0"/>
                        </a:rPr>
                        <m:t>oferta</m:t>
                      </m:r>
                      <m:r>
                        <a:rPr lang="es-MX" sz="2400" b="0" i="1" smtClean="0">
                          <a:latin typeface="Cambria Math" panose="02040503050406030204" pitchFamily="18" charset="0"/>
                          <a:ea typeface="Cambria Math" panose="02040503050406030204" pitchFamily="18" charset="0"/>
                        </a:rPr>
                        <m:t> </m:t>
                      </m:r>
                      <m:r>
                        <m:rPr>
                          <m:sty m:val="p"/>
                        </m:rPr>
                        <a:rPr lang="es-MX" sz="2400" b="0" i="1" smtClean="0">
                          <a:latin typeface="Cambria Math" panose="02040503050406030204" pitchFamily="18" charset="0"/>
                          <a:ea typeface="Cambria Math" panose="02040503050406030204" pitchFamily="18" charset="0"/>
                        </a:rPr>
                        <m:t>evento</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)≈(1/10)(1/10)(0)(3/8)=0</m:t>
                      </m:r>
                    </m:oMath>
                  </m:oMathPara>
                </a14:m>
                <a:endParaRPr lang="es-MX" sz="2400" dirty="0"/>
              </a:p>
              <a:p>
                <a:pPr marL="0" indent="0">
                  <a:buNone/>
                </a:pPr>
                <a:endParaRPr lang="es-MX" sz="2400" dirty="0"/>
              </a:p>
              <a:p>
                <a:pPr marL="0" indent="0">
                  <a:buNone/>
                </a:pPr>
                <a14:m>
                  <m:oMathPara xmlns:m="http://schemas.openxmlformats.org/officeDocument/2006/math">
                    <m:oMath>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hoy</m:t>
                      </m:r>
                      <m:r>
                        <a:rPr lang="es-MX" sz="2400" i="1">
                          <a:latin typeface="Cambria Math" panose="02040503050406030204" pitchFamily="18" charset="0"/>
                          <a:ea typeface="Cambria Math" panose="02040503050406030204" pitchFamily="18" charset="0"/>
                        </a:rPr>
                        <m:t> </m:t>
                      </m:r>
                      <m:r>
                        <m:rPr>
                          <m:sty m:val="p"/>
                        </m:rPr>
                        <a:rPr lang="es-MX" sz="2400" b="0" i="1" smtClean="0">
                          <a:latin typeface="Cambria Math" panose="02040503050406030204" pitchFamily="18" charset="0"/>
                          <a:ea typeface="Cambria Math" panose="02040503050406030204" pitchFamily="18" charset="0"/>
                        </a:rPr>
                        <m:t>oferta</m:t>
                      </m:r>
                      <m:r>
                        <a:rPr lang="es-MX" sz="2400" b="0" i="1" smtClean="0">
                          <a:latin typeface="Cambria Math" panose="02040503050406030204" pitchFamily="18" charset="0"/>
                          <a:ea typeface="Cambria Math" panose="02040503050406030204" pitchFamily="18" charset="0"/>
                        </a:rPr>
                        <m:t> </m:t>
                      </m:r>
                      <m:r>
                        <m:rPr>
                          <m:sty m:val="p"/>
                        </m:rPr>
                        <a:rPr lang="es-MX" sz="2400" b="0" i="1" smtClean="0">
                          <a:latin typeface="Cambria Math" panose="02040503050406030204" pitchFamily="18" charset="0"/>
                          <a:ea typeface="Cambria Math" panose="02040503050406030204" pitchFamily="18" charset="0"/>
                        </a:rPr>
                        <m:t>evento</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no</m:t>
                      </m:r>
                      <m:r>
                        <a:rPr lang="es-MX" sz="240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P</m:t>
                      </m:r>
                      <m:r>
                        <a:rPr lang="es-MX" sz="2400" i="1">
                          <a:latin typeface="Cambria Math" panose="02040503050406030204" pitchFamily="18" charset="0"/>
                          <a:ea typeface="Cambria Math" panose="02040503050406030204" pitchFamily="18" charset="0"/>
                        </a:rPr>
                        <m:t>(</m:t>
                      </m:r>
                      <m:r>
                        <m:rPr>
                          <m:sty m:val="p"/>
                        </m:rPr>
                        <a:rPr lang="es-MX" sz="2400" i="1">
                          <a:latin typeface="Cambria Math" panose="02040503050406030204" pitchFamily="18" charset="0"/>
                          <a:ea typeface="Cambria Math" panose="02040503050406030204" pitchFamily="18" charset="0"/>
                        </a:rPr>
                        <m:t>no</m:t>
                      </m:r>
                      <m:r>
                        <a:rPr lang="es-MX" sz="2400" i="1">
                          <a:latin typeface="Cambria Math" panose="02040503050406030204" pitchFamily="18" charset="0"/>
                          <a:ea typeface="Cambria Math" panose="02040503050406030204" pitchFamily="18" charset="0"/>
                        </a:rPr>
                        <m:t> </m:t>
                      </m:r>
                      <m:r>
                        <m:rPr>
                          <m:sty m:val="p"/>
                        </m:rPr>
                        <a:rPr lang="es-MX" sz="2400" i="1">
                          <a:latin typeface="Cambria Math" panose="02040503050406030204" pitchFamily="18" charset="0"/>
                          <a:ea typeface="Cambria Math" panose="02040503050406030204" pitchFamily="18" charset="0"/>
                        </a:rPr>
                        <m:t>spam</m:t>
                      </m:r>
                      <m:r>
                        <a:rPr lang="es-MX" sz="2400" i="1">
                          <a:latin typeface="Cambria Math" panose="02040503050406030204" pitchFamily="18" charset="0"/>
                          <a:ea typeface="Cambria Math" panose="02040503050406030204" pitchFamily="18" charset="0"/>
                        </a:rPr>
                        <m:t>)≈(2/21)(0)(4/21)(5/8)=0</m:t>
                      </m:r>
                    </m:oMath>
                  </m:oMathPara>
                </a14:m>
                <a:endParaRPr lang="es-MX" sz="2400" dirty="0"/>
              </a:p>
              <a:p>
                <a:pPr marL="0" indent="0">
                  <a:buNone/>
                </a:pPr>
                <a:endParaRPr lang="es-MX" dirty="0"/>
              </a:p>
              <a:p>
                <a:pPr marL="0" indent="0">
                  <a:buNone/>
                </a:pPr>
                <a:r>
                  <a:rPr lang="es-MX" dirty="0"/>
                  <a:t>¡No se puede clasificar!</a:t>
                </a:r>
              </a:p>
            </p:txBody>
          </p:sp>
        </mc:Choice>
        <mc:Fallback xmlns="">
          <p:sp>
            <p:nvSpPr>
              <p:cNvPr id="3" name="Marcador de contenido 2">
                <a:extLst>
                  <a:ext uri="{FF2B5EF4-FFF2-40B4-BE49-F238E27FC236}">
                    <a16:creationId xmlns:a16="http://schemas.microsoft.com/office/drawing/2014/main" id="{B5A6AE38-DB40-7F6D-D9A0-B05F8BA04F39}"/>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s-MX">
                    <a:noFill/>
                  </a:rPr>
                  <a:t> </a:t>
                </a:r>
              </a:p>
            </p:txBody>
          </p:sp>
        </mc:Fallback>
      </mc:AlternateContent>
      <p:sp>
        <p:nvSpPr>
          <p:cNvPr id="4" name="Marcador de número de diapositiva 3">
            <a:extLst>
              <a:ext uri="{FF2B5EF4-FFF2-40B4-BE49-F238E27FC236}">
                <a16:creationId xmlns:a16="http://schemas.microsoft.com/office/drawing/2014/main" id="{5D8C1173-CE0E-B5E0-5711-B25EE246CB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311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4F86-2E09-1A57-D444-781F02B0A6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756402-6BDA-8415-D8A3-3362C7EC53DF}"/>
              </a:ext>
            </a:extLst>
          </p:cNvPr>
          <p:cNvSpPr>
            <a:spLocks noGrp="1"/>
          </p:cNvSpPr>
          <p:nvPr>
            <p:ph type="title"/>
          </p:nvPr>
        </p:nvSpPr>
        <p:spPr>
          <a:xfrm>
            <a:off x="838203" y="0"/>
            <a:ext cx="10515600" cy="1325563"/>
          </a:xfrm>
        </p:spPr>
        <p:txBody>
          <a:bodyPr/>
          <a:lstStyle/>
          <a:p>
            <a:pPr algn="ctr"/>
            <a:r>
              <a:rPr lang="es-MX" dirty="0"/>
              <a:t>Solución: </a:t>
            </a:r>
            <a:r>
              <a:rPr lang="es-MX" dirty="0" err="1"/>
              <a:t>Smoothing</a:t>
            </a:r>
            <a:endParaRPr lang="es-MX" dirty="0"/>
          </a:p>
        </p:txBody>
      </p:sp>
      <p:graphicFrame>
        <p:nvGraphicFramePr>
          <p:cNvPr id="5" name="Marcador de contenido 4">
            <a:extLst>
              <a:ext uri="{FF2B5EF4-FFF2-40B4-BE49-F238E27FC236}">
                <a16:creationId xmlns:a16="http://schemas.microsoft.com/office/drawing/2014/main" id="{F30B0C5F-9969-A408-514A-08283E9E4805}"/>
              </a:ext>
            </a:extLst>
          </p:cNvPr>
          <p:cNvGraphicFramePr>
            <a:graphicFrameLocks noGrp="1"/>
          </p:cNvGraphicFramePr>
          <p:nvPr>
            <p:ph idx="1"/>
          </p:nvPr>
        </p:nvGraphicFramePr>
        <p:xfrm>
          <a:off x="2046339" y="1164590"/>
          <a:ext cx="8099322" cy="5191760"/>
        </p:xfrm>
        <a:graphic>
          <a:graphicData uri="http://schemas.openxmlformats.org/drawingml/2006/table">
            <a:tbl>
              <a:tblPr firstRow="1" bandRow="1">
                <a:tableStyleId>{5C22544A-7EE6-4342-B048-85BDC9FD1C3A}</a:tableStyleId>
              </a:tblPr>
              <a:tblGrid>
                <a:gridCol w="2699774">
                  <a:extLst>
                    <a:ext uri="{9D8B030D-6E8A-4147-A177-3AD203B41FA5}">
                      <a16:colId xmlns:a16="http://schemas.microsoft.com/office/drawing/2014/main" val="3065504809"/>
                    </a:ext>
                  </a:extLst>
                </a:gridCol>
                <a:gridCol w="2687074">
                  <a:extLst>
                    <a:ext uri="{9D8B030D-6E8A-4147-A177-3AD203B41FA5}">
                      <a16:colId xmlns:a16="http://schemas.microsoft.com/office/drawing/2014/main" val="727033366"/>
                    </a:ext>
                  </a:extLst>
                </a:gridCol>
                <a:gridCol w="2712474">
                  <a:extLst>
                    <a:ext uri="{9D8B030D-6E8A-4147-A177-3AD203B41FA5}">
                      <a16:colId xmlns:a16="http://schemas.microsoft.com/office/drawing/2014/main" val="3017695554"/>
                    </a:ext>
                  </a:extLst>
                </a:gridCol>
              </a:tblGrid>
              <a:tr h="370840">
                <a:tc>
                  <a:txBody>
                    <a:bodyPr/>
                    <a:lstStyle/>
                    <a:p>
                      <a:r>
                        <a:rPr lang="es-MX" dirty="0"/>
                        <a:t>Palabra</a:t>
                      </a:r>
                    </a:p>
                  </a:txBody>
                  <a:tcPr/>
                </a:tc>
                <a:tc>
                  <a:txBody>
                    <a:bodyPr/>
                    <a:lstStyle/>
                    <a:p>
                      <a:r>
                        <a:rPr lang="es-MX" dirty="0"/>
                        <a:t>Spam</a:t>
                      </a:r>
                    </a:p>
                  </a:txBody>
                  <a:tcPr/>
                </a:tc>
                <a:tc>
                  <a:txBody>
                    <a:bodyPr/>
                    <a:lstStyle/>
                    <a:p>
                      <a:r>
                        <a:rPr lang="es-MX" dirty="0"/>
                        <a:t>No Spam</a:t>
                      </a:r>
                    </a:p>
                  </a:txBody>
                  <a:tcPr/>
                </a:tc>
                <a:extLst>
                  <a:ext uri="{0D108BD9-81ED-4DB2-BD59-A6C34878D82A}">
                    <a16:rowId xmlns:a16="http://schemas.microsoft.com/office/drawing/2014/main" val="552914860"/>
                  </a:ext>
                </a:extLst>
              </a:tr>
              <a:tr h="370840">
                <a:tc>
                  <a:txBody>
                    <a:bodyPr/>
                    <a:lstStyle/>
                    <a:p>
                      <a:r>
                        <a:rPr lang="es-MX" dirty="0"/>
                        <a:t>Oferta</a:t>
                      </a:r>
                    </a:p>
                  </a:txBody>
                  <a:tcPr/>
                </a:tc>
                <a:tc>
                  <a:txBody>
                    <a:bodyPr/>
                    <a:lstStyle/>
                    <a:p>
                      <a:r>
                        <a:rPr lang="es-MX" dirty="0"/>
                        <a:t>(1+1)/(10+12)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(0+1)/(21+12)</a:t>
                      </a:r>
                    </a:p>
                  </a:txBody>
                  <a:tcPr/>
                </a:tc>
                <a:extLst>
                  <a:ext uri="{0D108BD9-81ED-4DB2-BD59-A6C34878D82A}">
                    <a16:rowId xmlns:a16="http://schemas.microsoft.com/office/drawing/2014/main" val="2469725686"/>
                  </a:ext>
                </a:extLst>
              </a:tr>
              <a:tr h="370840">
                <a:tc>
                  <a:txBody>
                    <a:bodyPr/>
                    <a:lstStyle/>
                    <a:p>
                      <a:r>
                        <a:rPr lang="es-MX" dirty="0"/>
                        <a:t>Gratis</a:t>
                      </a:r>
                    </a:p>
                  </a:txBody>
                  <a:tcPr/>
                </a:tc>
                <a:tc>
                  <a:txBody>
                    <a:bodyPr/>
                    <a:lstStyle/>
                    <a:p>
                      <a:r>
                        <a:rPr lang="es-MX" dirty="0"/>
                        <a:t>(2+1)/(10+12)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(0+1)/(21+12)</a:t>
                      </a:r>
                    </a:p>
                  </a:txBody>
                  <a:tcPr/>
                </a:tc>
                <a:extLst>
                  <a:ext uri="{0D108BD9-81ED-4DB2-BD59-A6C34878D82A}">
                    <a16:rowId xmlns:a16="http://schemas.microsoft.com/office/drawing/2014/main" val="1731762163"/>
                  </a:ext>
                </a:extLst>
              </a:tr>
              <a:tr h="370840">
                <a:tc>
                  <a:txBody>
                    <a:bodyPr/>
                    <a:lstStyle/>
                    <a:p>
                      <a:r>
                        <a:rPr lang="es-MX" dirty="0"/>
                        <a:t>Es</a:t>
                      </a:r>
                    </a:p>
                  </a:txBody>
                  <a:tcPr/>
                </a:tc>
                <a:tc>
                  <a:txBody>
                    <a:bodyPr/>
                    <a:lstStyle/>
                    <a:p>
                      <a:r>
                        <a:rPr lang="es-MX" dirty="0"/>
                        <a:t>(1+1)/(10+12)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(1+1)/(21+12)</a:t>
                      </a:r>
                    </a:p>
                  </a:txBody>
                  <a:tcPr/>
                </a:tc>
                <a:extLst>
                  <a:ext uri="{0D108BD9-81ED-4DB2-BD59-A6C34878D82A}">
                    <a16:rowId xmlns:a16="http://schemas.microsoft.com/office/drawing/2014/main" val="1900526391"/>
                  </a:ext>
                </a:extLst>
              </a:tr>
              <a:tr h="370840">
                <a:tc>
                  <a:txBody>
                    <a:bodyPr/>
                    <a:lstStyle/>
                    <a:p>
                      <a:r>
                        <a:rPr lang="es-MX" dirty="0"/>
                        <a:t>Dinero</a:t>
                      </a:r>
                    </a:p>
                  </a:txBody>
                  <a:tcPr/>
                </a:tc>
                <a:tc>
                  <a:txBody>
                    <a:bodyPr/>
                    <a:lstStyle/>
                    <a:p>
                      <a:r>
                        <a:rPr lang="es-MX" dirty="0"/>
                        <a:t>(2+1)/(10+12)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(0+1)/(21+12)</a:t>
                      </a:r>
                    </a:p>
                  </a:txBody>
                  <a:tcPr/>
                </a:tc>
                <a:extLst>
                  <a:ext uri="{0D108BD9-81ED-4DB2-BD59-A6C34878D82A}">
                    <a16:rowId xmlns:a16="http://schemas.microsoft.com/office/drawing/2014/main" val="2088146895"/>
                  </a:ext>
                </a:extLst>
              </a:tr>
              <a:tr h="370840">
                <a:tc>
                  <a:txBody>
                    <a:bodyPr/>
                    <a:lstStyle/>
                    <a:p>
                      <a:r>
                        <a:rPr lang="es-MX" dirty="0"/>
                        <a:t>Secreto</a:t>
                      </a:r>
                    </a:p>
                  </a:txBody>
                  <a:tcPr/>
                </a:tc>
                <a:tc>
                  <a:txBody>
                    <a:bodyPr/>
                    <a:lstStyle/>
                    <a:p>
                      <a:r>
                        <a:rPr lang="es-MX" dirty="0"/>
                        <a:t>(3+1)/(10+12)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(1+1)/(21+12)</a:t>
                      </a:r>
                    </a:p>
                  </a:txBody>
                  <a:tcPr/>
                </a:tc>
                <a:extLst>
                  <a:ext uri="{0D108BD9-81ED-4DB2-BD59-A6C34878D82A}">
                    <a16:rowId xmlns:a16="http://schemas.microsoft.com/office/drawing/2014/main" val="1738903876"/>
                  </a:ext>
                </a:extLst>
              </a:tr>
              <a:tr h="370840">
                <a:tc>
                  <a:txBody>
                    <a:bodyPr/>
                    <a:lstStyle/>
                    <a:p>
                      <a:r>
                        <a:rPr lang="es-MX" dirty="0"/>
                        <a:t>Hoy</a:t>
                      </a:r>
                    </a:p>
                  </a:txBody>
                  <a:tcPr/>
                </a:tc>
                <a:tc>
                  <a:txBody>
                    <a:bodyPr/>
                    <a:lstStyle/>
                    <a:p>
                      <a:r>
                        <a:rPr lang="es-MX" dirty="0"/>
                        <a:t>(1+1)/(10+12)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(2+1)/(21+12)</a:t>
                      </a:r>
                    </a:p>
                  </a:txBody>
                  <a:tcPr/>
                </a:tc>
                <a:extLst>
                  <a:ext uri="{0D108BD9-81ED-4DB2-BD59-A6C34878D82A}">
                    <a16:rowId xmlns:a16="http://schemas.microsoft.com/office/drawing/2014/main" val="599488446"/>
                  </a:ext>
                </a:extLst>
              </a:tr>
              <a:tr h="370840">
                <a:tc>
                  <a:txBody>
                    <a:bodyPr/>
                    <a:lstStyle/>
                    <a:p>
                      <a:r>
                        <a:rPr lang="es-MX" dirty="0"/>
                        <a:t>Reunión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(5+1)/(21+12)</a:t>
                      </a:r>
                    </a:p>
                  </a:txBody>
                  <a:tcPr/>
                </a:tc>
                <a:extLst>
                  <a:ext uri="{0D108BD9-81ED-4DB2-BD59-A6C34878D82A}">
                    <a16:rowId xmlns:a16="http://schemas.microsoft.com/office/drawing/2014/main" val="1147674639"/>
                  </a:ext>
                </a:extLst>
              </a:tr>
              <a:tr h="370840">
                <a:tc>
                  <a:txBody>
                    <a:bodyPr/>
                    <a:lstStyle/>
                    <a:p>
                      <a:r>
                        <a:rPr lang="es-MX" dirty="0"/>
                        <a:t>Proyecto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(2+1)/(21+12)</a:t>
                      </a:r>
                    </a:p>
                  </a:txBody>
                  <a:tcPr/>
                </a:tc>
                <a:extLst>
                  <a:ext uri="{0D108BD9-81ED-4DB2-BD59-A6C34878D82A}">
                    <a16:rowId xmlns:a16="http://schemas.microsoft.com/office/drawing/2014/main" val="4067737291"/>
                  </a:ext>
                </a:extLst>
              </a:tr>
              <a:tr h="370840">
                <a:tc>
                  <a:txBody>
                    <a:bodyPr/>
                    <a:lstStyle/>
                    <a:p>
                      <a:r>
                        <a:rPr lang="es-MX" dirty="0"/>
                        <a:t>Evento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(4+1)/(21+12)</a:t>
                      </a:r>
                    </a:p>
                  </a:txBody>
                  <a:tcPr/>
                </a:tc>
                <a:extLst>
                  <a:ext uri="{0D108BD9-81ED-4DB2-BD59-A6C34878D82A}">
                    <a16:rowId xmlns:a16="http://schemas.microsoft.com/office/drawing/2014/main" val="2994263225"/>
                  </a:ext>
                </a:extLst>
              </a:tr>
              <a:tr h="370840">
                <a:tc>
                  <a:txBody>
                    <a:bodyPr/>
                    <a:lstStyle/>
                    <a:p>
                      <a:r>
                        <a:rPr lang="es-MX" dirty="0"/>
                        <a:t>Cuesta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(1+1)/(21+12)</a:t>
                      </a:r>
                    </a:p>
                  </a:txBody>
                  <a:tcPr/>
                </a:tc>
                <a:extLst>
                  <a:ext uri="{0D108BD9-81ED-4DB2-BD59-A6C34878D82A}">
                    <a16:rowId xmlns:a16="http://schemas.microsoft.com/office/drawing/2014/main" val="3185006522"/>
                  </a:ext>
                </a:extLst>
              </a:tr>
              <a:tr h="370840">
                <a:tc>
                  <a:txBody>
                    <a:bodyPr/>
                    <a:lstStyle/>
                    <a:p>
                      <a:r>
                        <a:rPr lang="es-MX" dirty="0"/>
                        <a:t>Fue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(2+1)/(21+12)</a:t>
                      </a:r>
                    </a:p>
                  </a:txBody>
                  <a:tcPr/>
                </a:tc>
                <a:extLst>
                  <a:ext uri="{0D108BD9-81ED-4DB2-BD59-A6C34878D82A}">
                    <a16:rowId xmlns:a16="http://schemas.microsoft.com/office/drawing/2014/main" val="1330472916"/>
                  </a:ext>
                </a:extLst>
              </a:tr>
              <a:tr h="370840">
                <a:tc>
                  <a:txBody>
                    <a:bodyPr/>
                    <a:lstStyle/>
                    <a:p>
                      <a:r>
                        <a:rPr lang="es-MX" dirty="0"/>
                        <a:t>Amigo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(0+1)/(10+12)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(3+1)/(21+12)</a:t>
                      </a:r>
                    </a:p>
                  </a:txBody>
                  <a:tcPr/>
                </a:tc>
                <a:extLst>
                  <a:ext uri="{0D108BD9-81ED-4DB2-BD59-A6C34878D82A}">
                    <a16:rowId xmlns:a16="http://schemas.microsoft.com/office/drawing/2014/main" val="2872049089"/>
                  </a:ext>
                </a:extLst>
              </a:tr>
              <a:tr h="370840">
                <a:tc>
                  <a:txBody>
                    <a:bodyPr/>
                    <a:lstStyle/>
                    <a:p>
                      <a:r>
                        <a:rPr lang="es-MX" b="1" dirty="0"/>
                        <a:t>Total</a:t>
                      </a:r>
                    </a:p>
                  </a:txBody>
                  <a:tcPr/>
                </a:tc>
                <a:tc>
                  <a:txBody>
                    <a:bodyPr/>
                    <a:lstStyle/>
                    <a:p>
                      <a:r>
                        <a:rPr lang="es-MX" b="1" dirty="0"/>
                        <a:t>1</a:t>
                      </a:r>
                    </a:p>
                  </a:txBody>
                  <a:tcPr/>
                </a:tc>
                <a:tc>
                  <a:txBody>
                    <a:bodyPr/>
                    <a:lstStyle/>
                    <a:p>
                      <a:r>
                        <a:rPr lang="es-MX" b="1" dirty="0"/>
                        <a:t>1</a:t>
                      </a:r>
                    </a:p>
                  </a:txBody>
                  <a:tcPr/>
                </a:tc>
                <a:extLst>
                  <a:ext uri="{0D108BD9-81ED-4DB2-BD59-A6C34878D82A}">
                    <a16:rowId xmlns:a16="http://schemas.microsoft.com/office/drawing/2014/main" val="4276890294"/>
                  </a:ext>
                </a:extLst>
              </a:tr>
            </a:tbl>
          </a:graphicData>
        </a:graphic>
      </p:graphicFrame>
      <p:sp>
        <p:nvSpPr>
          <p:cNvPr id="4" name="Marcador de número de diapositiva 3">
            <a:extLst>
              <a:ext uri="{FF2B5EF4-FFF2-40B4-BE49-F238E27FC236}">
                <a16:creationId xmlns:a16="http://schemas.microsoft.com/office/drawing/2014/main" id="{632C6057-1BA7-FD51-4748-DF9CA15535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DE96D7-2428-4FB8-BC54-9541E69FDA26}" type="slidenum">
              <a:rPr kumimoji="0" lang="es-MX"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s-MX"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86862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C886788-700E-4D20-9F80-E0E96837A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7" name="Freeform: Shape 16">
            <a:extLst>
              <a:ext uri="{FF2B5EF4-FFF2-40B4-BE49-F238E27FC236}">
                <a16:creationId xmlns:a16="http://schemas.microsoft.com/office/drawing/2014/main" id="{1850674C-4E08-4C62-A3E2-6337FE4F7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BCE4FF05-2B0C-4C97-A9B4-E163085A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D37F764-E820-F60C-10CB-CEC5CA52E463}"/>
              </a:ext>
            </a:extLst>
          </p:cNvPr>
          <p:cNvSpPr>
            <a:spLocks noGrp="1"/>
          </p:cNvSpPr>
          <p:nvPr>
            <p:ph type="title"/>
          </p:nvPr>
        </p:nvSpPr>
        <p:spPr>
          <a:xfrm>
            <a:off x="475488" y="1124712"/>
            <a:ext cx="4023360" cy="3200400"/>
          </a:xfrm>
        </p:spPr>
        <p:txBody>
          <a:bodyPr vert="horz" lIns="91440" tIns="45720" rIns="91440" bIns="45720" rtlCol="0" anchor="b">
            <a:normAutofit/>
          </a:bodyPr>
          <a:lstStyle/>
          <a:p>
            <a:r>
              <a:rPr lang="en-US" sz="4800"/>
              <a:t>Gaussian Naive Bayes</a:t>
            </a:r>
          </a:p>
        </p:txBody>
      </p:sp>
      <p:sp>
        <p:nvSpPr>
          <p:cNvPr id="21" name="Rectangle 20">
            <a:extLst>
              <a:ext uri="{FF2B5EF4-FFF2-40B4-BE49-F238E27FC236}">
                <a16:creationId xmlns:a16="http://schemas.microsoft.com/office/drawing/2014/main" id="{529C2A7A-A6B6-4A56-B11C-8E967D88A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FDBD7205-E536-4134-8768-AC3E1A3C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8C2A01A2-9C95-58B5-11B0-FA85D26E5D8D}"/>
              </a:ext>
            </a:extLst>
          </p:cNvPr>
          <p:cNvPicPr>
            <a:picLocks noChangeAspect="1"/>
          </p:cNvPicPr>
          <p:nvPr/>
        </p:nvPicPr>
        <p:blipFill>
          <a:blip r:embed="rId2"/>
          <a:stretch>
            <a:fillRect/>
          </a:stretch>
        </p:blipFill>
        <p:spPr>
          <a:xfrm>
            <a:off x="5344100" y="960785"/>
            <a:ext cx="6288446" cy="4936429"/>
          </a:xfrm>
          <a:prstGeom prst="rect">
            <a:avLst/>
          </a:prstGeom>
        </p:spPr>
      </p:pic>
      <p:sp>
        <p:nvSpPr>
          <p:cNvPr id="4" name="Marcador de número de diapositiva 3">
            <a:extLst>
              <a:ext uri="{FF2B5EF4-FFF2-40B4-BE49-F238E27FC236}">
                <a16:creationId xmlns:a16="http://schemas.microsoft.com/office/drawing/2014/main" id="{3CB3FADB-FC28-0176-0237-24954301EFDF}"/>
              </a:ext>
            </a:extLst>
          </p:cNvPr>
          <p:cNvSpPr>
            <a:spLocks noGrp="1"/>
          </p:cNvSpPr>
          <p:nvPr>
            <p:ph type="sldNum" sz="quarter" idx="12"/>
          </p:nvPr>
        </p:nvSpPr>
        <p:spPr>
          <a:xfrm>
            <a:off x="9714962" y="6356350"/>
            <a:ext cx="1821267"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n-US"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52</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8382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 name="Imagen 7">
            <a:extLst>
              <a:ext uri="{FF2B5EF4-FFF2-40B4-BE49-F238E27FC236}">
                <a16:creationId xmlns:a16="http://schemas.microsoft.com/office/drawing/2014/main" id="{DBE20501-8C9B-993D-B35F-907576803E68}"/>
              </a:ext>
            </a:extLst>
          </p:cNvPr>
          <p:cNvPicPr>
            <a:picLocks noChangeAspect="1"/>
          </p:cNvPicPr>
          <p:nvPr/>
        </p:nvPicPr>
        <p:blipFill>
          <a:blip r:embed="rId2"/>
          <a:stretch>
            <a:fillRect/>
          </a:stretch>
        </p:blipFill>
        <p:spPr>
          <a:xfrm>
            <a:off x="1218675" y="677130"/>
            <a:ext cx="8083330" cy="969999"/>
          </a:xfrm>
          <a:prstGeom prst="rect">
            <a:avLst/>
          </a:prstGeom>
        </p:spPr>
      </p:pic>
      <p:pic>
        <p:nvPicPr>
          <p:cNvPr id="10" name="Imagen 9">
            <a:extLst>
              <a:ext uri="{FF2B5EF4-FFF2-40B4-BE49-F238E27FC236}">
                <a16:creationId xmlns:a16="http://schemas.microsoft.com/office/drawing/2014/main" id="{3EC204E2-F192-7DE5-9C12-84F1314E6F25}"/>
              </a:ext>
            </a:extLst>
          </p:cNvPr>
          <p:cNvPicPr>
            <a:picLocks noChangeAspect="1"/>
          </p:cNvPicPr>
          <p:nvPr/>
        </p:nvPicPr>
        <p:blipFill>
          <a:blip r:embed="rId3"/>
          <a:stretch>
            <a:fillRect/>
          </a:stretch>
        </p:blipFill>
        <p:spPr>
          <a:xfrm>
            <a:off x="1218675" y="1931626"/>
            <a:ext cx="6858241" cy="1268773"/>
          </a:xfrm>
          <a:prstGeom prst="rect">
            <a:avLst/>
          </a:prstGeom>
        </p:spPr>
      </p:pic>
      <p:sp>
        <p:nvSpPr>
          <p:cNvPr id="17" name="Rectangle 16">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540E3089-E0A2-CA58-25E2-5125CDA33C53}"/>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53</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6" name="Imagen 5">
            <a:extLst>
              <a:ext uri="{FF2B5EF4-FFF2-40B4-BE49-F238E27FC236}">
                <a16:creationId xmlns:a16="http://schemas.microsoft.com/office/drawing/2014/main" id="{2C76E965-F7AA-1262-1829-1C1D7772AD64}"/>
              </a:ext>
            </a:extLst>
          </p:cNvPr>
          <p:cNvPicPr>
            <a:picLocks noChangeAspect="1"/>
          </p:cNvPicPr>
          <p:nvPr/>
        </p:nvPicPr>
        <p:blipFill>
          <a:blip r:embed="rId4"/>
          <a:stretch>
            <a:fillRect/>
          </a:stretch>
        </p:blipFill>
        <p:spPr>
          <a:xfrm>
            <a:off x="1218675" y="3429000"/>
            <a:ext cx="9150792" cy="2202303"/>
          </a:xfrm>
          <a:prstGeom prst="rect">
            <a:avLst/>
          </a:prstGeom>
        </p:spPr>
      </p:pic>
    </p:spTree>
    <p:extLst>
      <p:ext uri="{BB962C8B-B14F-4D97-AF65-F5344CB8AC3E}">
        <p14:creationId xmlns:p14="http://schemas.microsoft.com/office/powerpoint/2010/main" val="27272538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Imagen 5">
            <a:extLst>
              <a:ext uri="{FF2B5EF4-FFF2-40B4-BE49-F238E27FC236}">
                <a16:creationId xmlns:a16="http://schemas.microsoft.com/office/drawing/2014/main" id="{98276F15-E8A6-0BB3-B0C6-EBDF0C6F70C0}"/>
              </a:ext>
            </a:extLst>
          </p:cNvPr>
          <p:cNvPicPr>
            <a:picLocks noChangeAspect="1"/>
          </p:cNvPicPr>
          <p:nvPr/>
        </p:nvPicPr>
        <p:blipFill>
          <a:blip r:embed="rId2"/>
          <a:stretch>
            <a:fillRect/>
          </a:stretch>
        </p:blipFill>
        <p:spPr>
          <a:xfrm>
            <a:off x="806555" y="924326"/>
            <a:ext cx="5401857" cy="4672605"/>
          </a:xfrm>
          <a:prstGeom prst="rect">
            <a:avLst/>
          </a:prstGeom>
        </p:spPr>
      </p:pic>
      <p:sp>
        <p:nvSpPr>
          <p:cNvPr id="13" name="Rectangle 12">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6CA9A9F0-57EB-2280-B80F-C55DD4A475EC}"/>
              </a:ext>
            </a:extLst>
          </p:cNvPr>
          <p:cNvSpPr>
            <a:spLocks noGrp="1"/>
          </p:cNvSpPr>
          <p:nvPr>
            <p:ph type="sldNum" sz="quarter" idx="12"/>
          </p:nvPr>
        </p:nvSpPr>
        <p:spPr>
          <a:xfrm>
            <a:off x="11704320" y="6451877"/>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54</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8" name="Imagen 7">
            <a:extLst>
              <a:ext uri="{FF2B5EF4-FFF2-40B4-BE49-F238E27FC236}">
                <a16:creationId xmlns:a16="http://schemas.microsoft.com/office/drawing/2014/main" id="{02011FB5-E1AB-0285-0883-52D86539A70D}"/>
              </a:ext>
            </a:extLst>
          </p:cNvPr>
          <p:cNvPicPr>
            <a:picLocks noChangeAspect="1"/>
          </p:cNvPicPr>
          <p:nvPr/>
        </p:nvPicPr>
        <p:blipFill>
          <a:blip r:embed="rId3"/>
          <a:stretch>
            <a:fillRect/>
          </a:stretch>
        </p:blipFill>
        <p:spPr>
          <a:xfrm>
            <a:off x="6608677" y="2188266"/>
            <a:ext cx="4974567" cy="2144724"/>
          </a:xfrm>
          <a:prstGeom prst="rect">
            <a:avLst/>
          </a:prstGeom>
        </p:spPr>
      </p:pic>
    </p:spTree>
    <p:extLst>
      <p:ext uri="{BB962C8B-B14F-4D97-AF65-F5344CB8AC3E}">
        <p14:creationId xmlns:p14="http://schemas.microsoft.com/office/powerpoint/2010/main" val="1539286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C94C3FFF-26BA-0823-3329-2B2B52D1D4AC}"/>
              </a:ext>
            </a:extLst>
          </p:cNvPr>
          <p:cNvSpPr>
            <a:spLocks noGrp="1"/>
          </p:cNvSpPr>
          <p:nvPr>
            <p:ph type="title"/>
          </p:nvPr>
        </p:nvSpPr>
        <p:spPr>
          <a:xfrm>
            <a:off x="1136397" y="502021"/>
            <a:ext cx="9688296" cy="703781"/>
          </a:xfrm>
        </p:spPr>
        <p:txBody>
          <a:bodyPr anchor="b">
            <a:normAutofit/>
          </a:bodyPr>
          <a:lstStyle/>
          <a:p>
            <a:r>
              <a:rPr lang="es-MX" sz="4000" dirty="0"/>
              <a:t>QDA</a:t>
            </a:r>
          </a:p>
        </p:txBody>
      </p:sp>
      <p:sp>
        <p:nvSpPr>
          <p:cNvPr id="11"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BC99DD00-3D0A-FF44-595E-5A2A654A2773}"/>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55</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6" name="Imagen 5">
            <a:extLst>
              <a:ext uri="{FF2B5EF4-FFF2-40B4-BE49-F238E27FC236}">
                <a16:creationId xmlns:a16="http://schemas.microsoft.com/office/drawing/2014/main" id="{2B6D30C2-F6C1-2B7A-CB07-D5C511DF8F1D}"/>
              </a:ext>
            </a:extLst>
          </p:cNvPr>
          <p:cNvPicPr>
            <a:picLocks noChangeAspect="1"/>
          </p:cNvPicPr>
          <p:nvPr/>
        </p:nvPicPr>
        <p:blipFill>
          <a:blip r:embed="rId2"/>
          <a:stretch>
            <a:fillRect/>
          </a:stretch>
        </p:blipFill>
        <p:spPr>
          <a:xfrm>
            <a:off x="2430461" y="1301559"/>
            <a:ext cx="7331075" cy="1882303"/>
          </a:xfrm>
          <a:prstGeom prst="rect">
            <a:avLst/>
          </a:prstGeom>
        </p:spPr>
      </p:pic>
      <p:pic>
        <p:nvPicPr>
          <p:cNvPr id="8" name="Imagen 7">
            <a:extLst>
              <a:ext uri="{FF2B5EF4-FFF2-40B4-BE49-F238E27FC236}">
                <a16:creationId xmlns:a16="http://schemas.microsoft.com/office/drawing/2014/main" id="{DDA5A94D-BD36-5FA2-1DDE-C0CCC94316AE}"/>
              </a:ext>
            </a:extLst>
          </p:cNvPr>
          <p:cNvPicPr>
            <a:picLocks noChangeAspect="1"/>
          </p:cNvPicPr>
          <p:nvPr/>
        </p:nvPicPr>
        <p:blipFill>
          <a:blip r:embed="rId3"/>
          <a:stretch>
            <a:fillRect/>
          </a:stretch>
        </p:blipFill>
        <p:spPr>
          <a:xfrm>
            <a:off x="528196" y="3514104"/>
            <a:ext cx="3486627" cy="2268000"/>
          </a:xfrm>
          <a:prstGeom prst="rect">
            <a:avLst/>
          </a:prstGeom>
        </p:spPr>
      </p:pic>
      <p:pic>
        <p:nvPicPr>
          <p:cNvPr id="12" name="Imagen 11">
            <a:extLst>
              <a:ext uri="{FF2B5EF4-FFF2-40B4-BE49-F238E27FC236}">
                <a16:creationId xmlns:a16="http://schemas.microsoft.com/office/drawing/2014/main" id="{07A58C0B-EF36-E07F-D434-B2E2566E531E}"/>
              </a:ext>
            </a:extLst>
          </p:cNvPr>
          <p:cNvPicPr>
            <a:picLocks noChangeAspect="1"/>
          </p:cNvPicPr>
          <p:nvPr/>
        </p:nvPicPr>
        <p:blipFill>
          <a:blip r:embed="rId4"/>
          <a:stretch>
            <a:fillRect/>
          </a:stretch>
        </p:blipFill>
        <p:spPr>
          <a:xfrm>
            <a:off x="4369798" y="3503879"/>
            <a:ext cx="3452400" cy="2268000"/>
          </a:xfrm>
          <a:prstGeom prst="rect">
            <a:avLst/>
          </a:prstGeom>
        </p:spPr>
      </p:pic>
      <p:pic>
        <p:nvPicPr>
          <p:cNvPr id="15" name="Imagen 14">
            <a:extLst>
              <a:ext uri="{FF2B5EF4-FFF2-40B4-BE49-F238E27FC236}">
                <a16:creationId xmlns:a16="http://schemas.microsoft.com/office/drawing/2014/main" id="{000F13C4-BB12-6DE9-A49C-444650F7B237}"/>
              </a:ext>
            </a:extLst>
          </p:cNvPr>
          <p:cNvPicPr>
            <a:picLocks noChangeAspect="1"/>
          </p:cNvPicPr>
          <p:nvPr/>
        </p:nvPicPr>
        <p:blipFill>
          <a:blip r:embed="rId5"/>
          <a:stretch>
            <a:fillRect/>
          </a:stretch>
        </p:blipFill>
        <p:spPr>
          <a:xfrm>
            <a:off x="8236790" y="3514104"/>
            <a:ext cx="3427014" cy="2268000"/>
          </a:xfrm>
          <a:prstGeom prst="rect">
            <a:avLst/>
          </a:prstGeom>
        </p:spPr>
      </p:pic>
    </p:spTree>
    <p:extLst>
      <p:ext uri="{BB962C8B-B14F-4D97-AF65-F5344CB8AC3E}">
        <p14:creationId xmlns:p14="http://schemas.microsoft.com/office/powerpoint/2010/main" val="20104579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Marcador de número de diapositiva 3">
            <a:extLst>
              <a:ext uri="{FF2B5EF4-FFF2-40B4-BE49-F238E27FC236}">
                <a16:creationId xmlns:a16="http://schemas.microsoft.com/office/drawing/2014/main" id="{B400F00E-C1EA-4C8E-626B-CB40BA63FED7}"/>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56</a:t>
            </a:fld>
            <a:endParaRPr kumimoji="0" lang="es-MX"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pic>
        <p:nvPicPr>
          <p:cNvPr id="6" name="Imagen 5">
            <a:extLst>
              <a:ext uri="{FF2B5EF4-FFF2-40B4-BE49-F238E27FC236}">
                <a16:creationId xmlns:a16="http://schemas.microsoft.com/office/drawing/2014/main" id="{A5C1D50C-2E20-2648-2C59-9EAD8B6181F4}"/>
              </a:ext>
            </a:extLst>
          </p:cNvPr>
          <p:cNvPicPr>
            <a:picLocks noChangeAspect="1"/>
          </p:cNvPicPr>
          <p:nvPr/>
        </p:nvPicPr>
        <p:blipFill>
          <a:blip r:embed="rId2"/>
          <a:stretch>
            <a:fillRect/>
          </a:stretch>
        </p:blipFill>
        <p:spPr>
          <a:xfrm>
            <a:off x="279463" y="2478376"/>
            <a:ext cx="4884089" cy="1901246"/>
          </a:xfrm>
          <a:prstGeom prst="rect">
            <a:avLst/>
          </a:prstGeom>
        </p:spPr>
      </p:pic>
      <p:pic>
        <p:nvPicPr>
          <p:cNvPr id="8" name="Imagen 7">
            <a:extLst>
              <a:ext uri="{FF2B5EF4-FFF2-40B4-BE49-F238E27FC236}">
                <a16:creationId xmlns:a16="http://schemas.microsoft.com/office/drawing/2014/main" id="{826FE484-9C0F-29DE-B18C-D76FB4616569}"/>
              </a:ext>
            </a:extLst>
          </p:cNvPr>
          <p:cNvPicPr>
            <a:picLocks noChangeAspect="1"/>
          </p:cNvPicPr>
          <p:nvPr/>
        </p:nvPicPr>
        <p:blipFill>
          <a:blip r:embed="rId3"/>
          <a:stretch>
            <a:fillRect/>
          </a:stretch>
        </p:blipFill>
        <p:spPr>
          <a:xfrm>
            <a:off x="5443015" y="1770391"/>
            <a:ext cx="6543551" cy="3317217"/>
          </a:xfrm>
          <a:prstGeom prst="rect">
            <a:avLst/>
          </a:prstGeom>
        </p:spPr>
      </p:pic>
    </p:spTree>
    <p:extLst>
      <p:ext uri="{BB962C8B-B14F-4D97-AF65-F5344CB8AC3E}">
        <p14:creationId xmlns:p14="http://schemas.microsoft.com/office/powerpoint/2010/main" val="1546197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Marcador de contenido 2">
            <a:extLst>
              <a:ext uri="{FF2B5EF4-FFF2-40B4-BE49-F238E27FC236}">
                <a16:creationId xmlns:a16="http://schemas.microsoft.com/office/drawing/2014/main" id="{A7784487-D6CD-171C-E6CB-EDBF8BB43A8D}"/>
              </a:ext>
            </a:extLst>
          </p:cNvPr>
          <p:cNvSpPr>
            <a:spLocks noGrp="1"/>
          </p:cNvSpPr>
          <p:nvPr>
            <p:ph idx="1"/>
          </p:nvPr>
        </p:nvSpPr>
        <p:spPr>
          <a:xfrm>
            <a:off x="4810259" y="649480"/>
            <a:ext cx="6555347" cy="5546047"/>
          </a:xfrm>
        </p:spPr>
        <p:txBody>
          <a:bodyPr anchor="ctr">
            <a:normAutofit/>
          </a:bodyPr>
          <a:lstStyle/>
          <a:p>
            <a:r>
              <a:rPr lang="es-MX" dirty="0">
                <a:solidFill>
                  <a:srgbClr val="00B050"/>
                </a:solidFill>
              </a:rPr>
              <a:t>Ventajas</a:t>
            </a:r>
          </a:p>
          <a:p>
            <a:pPr>
              <a:buFont typeface="Wingdings" panose="05000000000000000000" pitchFamily="2" charset="2"/>
              <a:buChar char="§"/>
            </a:pPr>
            <a:r>
              <a:rPr lang="es-MX" sz="2400" dirty="0"/>
              <a:t>Pocos parámetros</a:t>
            </a:r>
          </a:p>
          <a:p>
            <a:pPr>
              <a:buFont typeface="Wingdings" panose="05000000000000000000" pitchFamily="2" charset="2"/>
              <a:buChar char="§"/>
            </a:pPr>
            <a:r>
              <a:rPr lang="es-MX" sz="2400" dirty="0"/>
              <a:t>Funciona con pocas muestras</a:t>
            </a:r>
          </a:p>
          <a:p>
            <a:pPr>
              <a:buFont typeface="Wingdings" panose="05000000000000000000" pitchFamily="2" charset="2"/>
              <a:buChar char="§"/>
            </a:pPr>
            <a:r>
              <a:rPr lang="es-MX" sz="2400" dirty="0"/>
              <a:t>Funciona bien con muchas dimensiones</a:t>
            </a:r>
          </a:p>
          <a:p>
            <a:pPr>
              <a:buFont typeface="Wingdings" panose="05000000000000000000" pitchFamily="2" charset="2"/>
              <a:buChar char="§"/>
            </a:pPr>
            <a:r>
              <a:rPr lang="es-MX" sz="2400" dirty="0"/>
              <a:t>Actualización en línea</a:t>
            </a:r>
          </a:p>
          <a:p>
            <a:r>
              <a:rPr lang="es-MX" dirty="0">
                <a:solidFill>
                  <a:srgbClr val="FF0000"/>
                </a:solidFill>
              </a:rPr>
              <a:t>Desventajas</a:t>
            </a:r>
          </a:p>
          <a:p>
            <a:pPr>
              <a:buFont typeface="Wingdings" panose="05000000000000000000" pitchFamily="2" charset="2"/>
              <a:buChar char="§"/>
            </a:pPr>
            <a:r>
              <a:rPr lang="es-MX" sz="2400" dirty="0"/>
              <a:t>Las características reales están correlacionadas</a:t>
            </a:r>
          </a:p>
          <a:p>
            <a:pPr>
              <a:buFont typeface="Wingdings" panose="05000000000000000000" pitchFamily="2" charset="2"/>
              <a:buChar char="§"/>
            </a:pPr>
            <a:r>
              <a:rPr lang="es-MX" sz="2400" dirty="0"/>
              <a:t>No aprende a capturar interacciones</a:t>
            </a:r>
          </a:p>
          <a:p>
            <a:pPr>
              <a:buFont typeface="Wingdings" panose="05000000000000000000" pitchFamily="2" charset="2"/>
              <a:buChar char="§"/>
            </a:pPr>
            <a:r>
              <a:rPr lang="es-MX" sz="2400" dirty="0"/>
              <a:t>Sensible a características irrelevantes</a:t>
            </a:r>
          </a:p>
          <a:p>
            <a:pPr>
              <a:buFont typeface="Wingdings" panose="05000000000000000000" pitchFamily="2" charset="2"/>
              <a:buChar char="§"/>
            </a:pPr>
            <a:r>
              <a:rPr lang="es-MX" sz="2400" dirty="0"/>
              <a:t>Problema de frecuencia cero</a:t>
            </a:r>
          </a:p>
        </p:txBody>
      </p:sp>
      <p:sp>
        <p:nvSpPr>
          <p:cNvPr id="4" name="Marcador de número de diapositiva 3">
            <a:extLst>
              <a:ext uri="{FF2B5EF4-FFF2-40B4-BE49-F238E27FC236}">
                <a16:creationId xmlns:a16="http://schemas.microsoft.com/office/drawing/2014/main" id="{7E9A8101-E61D-4447-AAAB-81E458277C79}"/>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1DE96D7-2428-4FB8-BC54-9541E69FDA26}" type="slidenum">
              <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57</a:t>
            </a:fld>
            <a:endParaRPr kumimoji="0" lang="es-MX" sz="11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75257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No más aulas vacías: unis delinean plan de regreso">
            <a:extLst>
              <a:ext uri="{FF2B5EF4-FFF2-40B4-BE49-F238E27FC236}">
                <a16:creationId xmlns:a16="http://schemas.microsoft.com/office/drawing/2014/main" id="{27F6E37A-C390-883B-A9D2-070D4CB26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717" r="11620" b="-1"/>
          <a:stretch>
            <a:fillRect/>
          </a:stretch>
        </p:blipFill>
        <p:spPr bwMode="auto">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7E73045F-EC5D-D14C-93CF-1765A3E6853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s-MX" sz="4800" noProof="0" dirty="0"/>
              <a:t>Para la próxima clase…</a:t>
            </a:r>
          </a:p>
        </p:txBody>
      </p:sp>
      <p:sp>
        <p:nvSpPr>
          <p:cNvPr id="3" name="Marcador de contenido 2">
            <a:extLst>
              <a:ext uri="{FF2B5EF4-FFF2-40B4-BE49-F238E27FC236}">
                <a16:creationId xmlns:a16="http://schemas.microsoft.com/office/drawing/2014/main" id="{C3C0076C-53CB-3289-B817-CBD5B393FF1B}"/>
              </a:ext>
            </a:extLst>
          </p:cNvPr>
          <p:cNvSpPr>
            <a:spLocks noGrp="1"/>
          </p:cNvSpPr>
          <p:nvPr>
            <p:ph idx="1"/>
          </p:nvPr>
        </p:nvSpPr>
        <p:spPr>
          <a:xfrm>
            <a:off x="477981" y="4872922"/>
            <a:ext cx="3933306" cy="1208141"/>
          </a:xfrm>
        </p:spPr>
        <p:txBody>
          <a:bodyPr vert="horz" lIns="91440" tIns="45720" rIns="91440" bIns="45720" rtlCol="0">
            <a:normAutofit/>
          </a:bodyPr>
          <a:lstStyle/>
          <a:p>
            <a:pPr marL="0" indent="0">
              <a:buNone/>
            </a:pPr>
            <a:r>
              <a:rPr lang="es-ES" sz="2000" dirty="0"/>
              <a:t>Clasificadores de aprendizaje automático.</a:t>
            </a:r>
            <a:endParaRPr lang="es-MX" sz="2000" noProof="0" dirty="0"/>
          </a:p>
        </p:txBody>
      </p:sp>
      <p:sp>
        <p:nvSpPr>
          <p:cNvPr id="4" name="Marcador de número de diapositiva 3">
            <a:extLst>
              <a:ext uri="{FF2B5EF4-FFF2-40B4-BE49-F238E27FC236}">
                <a16:creationId xmlns:a16="http://schemas.microsoft.com/office/drawing/2014/main" id="{93268E92-4ECA-9D45-6298-1369B3179614}"/>
              </a:ext>
            </a:extLst>
          </p:cNvPr>
          <p:cNvSpPr>
            <a:spLocks noGrp="1"/>
          </p:cNvSpPr>
          <p:nvPr>
            <p:ph type="sldNum" sz="quarter" idx="12"/>
          </p:nvPr>
        </p:nvSpPr>
        <p:spPr>
          <a:xfrm>
            <a:off x="9753600" y="6356350"/>
            <a:ext cx="1600200" cy="365125"/>
          </a:xfrm>
        </p:spPr>
        <p:txBody>
          <a:bodyPr vert="horz" lIns="91440" tIns="45720" rIns="91440" bIns="45720" rtlCol="0" anchor="ctr">
            <a:normAutofit/>
          </a:bodyPr>
          <a:lstStyle/>
          <a:p>
            <a:pPr>
              <a:spcAft>
                <a:spcPts val="600"/>
              </a:spcAft>
              <a:defRPr/>
            </a:pPr>
            <a:fld id="{01DE96D7-2428-4FB8-BC54-9541E69FDA26}" type="slidenum">
              <a:rPr lang="en-US">
                <a:solidFill>
                  <a:schemeClr val="bg1"/>
                </a:solidFill>
                <a:latin typeface="Calibri" panose="020F0502020204030204"/>
              </a:rPr>
              <a:pPr>
                <a:spcAft>
                  <a:spcPts val="600"/>
                </a:spcAft>
                <a:defRPr/>
              </a:pPr>
              <a:t>58</a:t>
            </a:fld>
            <a:endParaRPr lang="en-US">
              <a:solidFill>
                <a:schemeClr val="bg1"/>
              </a:solidFill>
              <a:latin typeface="Calibri" panose="020F0502020204030204"/>
            </a:endParaRPr>
          </a:p>
        </p:txBody>
      </p:sp>
    </p:spTree>
    <p:extLst>
      <p:ext uri="{BB962C8B-B14F-4D97-AF65-F5344CB8AC3E}">
        <p14:creationId xmlns:p14="http://schemas.microsoft.com/office/powerpoint/2010/main" val="45106276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5799</TotalTime>
  <Words>3783</Words>
  <Application>Microsoft Office PowerPoint</Application>
  <PresentationFormat>Panorámica</PresentationFormat>
  <Paragraphs>623</Paragraphs>
  <Slides>58</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58</vt:i4>
      </vt:variant>
    </vt:vector>
  </HeadingPairs>
  <TitlesOfParts>
    <vt:vector size="67" baseType="lpstr">
      <vt:lpstr>Aptos</vt:lpstr>
      <vt:lpstr>Aptos Display</vt:lpstr>
      <vt:lpstr>Arial</vt:lpstr>
      <vt:lpstr>Calibri</vt:lpstr>
      <vt:lpstr>Cambria Math</vt:lpstr>
      <vt:lpstr>Courier New</vt:lpstr>
      <vt:lpstr>Trebuchet MS</vt:lpstr>
      <vt:lpstr>Wingdings</vt:lpstr>
      <vt:lpstr>Tema de Office</vt:lpstr>
      <vt:lpstr>Reconocimiento de Patrones</vt:lpstr>
      <vt:lpstr>Antes de empezar</vt:lpstr>
      <vt:lpstr>¿Cómo saber que tan bien se construyeron los clústeres?</vt:lpstr>
      <vt:lpstr>Ejemplo</vt:lpstr>
      <vt:lpstr>Presentación de PowerPoint</vt:lpstr>
      <vt:lpstr>Ejemplo</vt:lpstr>
      <vt:lpstr>Presentación de PowerPoint</vt:lpstr>
      <vt:lpstr>Coeficiente Silhouette</vt:lpstr>
      <vt:lpstr>Ejemplo</vt:lpstr>
      <vt:lpstr>Presentación de PowerPoint</vt:lpstr>
      <vt:lpstr>Clasificación mediante funciones de similitud</vt:lpstr>
      <vt:lpstr>Presentación de PowerPoint</vt:lpstr>
      <vt:lpstr>Revisión de Probabilidad</vt:lpstr>
      <vt:lpstr>Presentación de PowerPoint</vt:lpstr>
      <vt:lpstr>Presentación de PowerPoint</vt:lpstr>
      <vt:lpstr>Momentos</vt:lpstr>
      <vt:lpstr>Presentación de PowerPoint</vt:lpstr>
      <vt:lpstr>Presentación de PowerPoint</vt:lpstr>
      <vt:lpstr>Probabilidad Conjunta</vt:lpstr>
      <vt:lpstr>Probabilidad Condicional P(A|B) </vt:lpstr>
      <vt:lpstr>Clasificación de patrones como un problema de decisión estadístico</vt:lpstr>
      <vt:lpstr>Presentación de PowerPoint</vt:lpstr>
      <vt:lpstr>Presentación de PowerPoint</vt:lpstr>
      <vt:lpstr>Presentación de PowerPoint</vt:lpstr>
      <vt:lpstr>Presentación de PowerPoint</vt:lpstr>
      <vt:lpstr>Presentación de PowerPoint</vt:lpstr>
      <vt:lpstr>Clasificación tipo Bayes y Bayes aplicado a patrones normales</vt:lpstr>
      <vt:lpstr>Regla de Bayes</vt:lpstr>
      <vt:lpstr>Presentación de PowerPoint</vt:lpstr>
      <vt:lpstr>Presentación de PowerPoint</vt:lpstr>
      <vt:lpstr>Recapitulando</vt:lpstr>
      <vt:lpstr>Presentación de PowerPoint</vt:lpstr>
      <vt:lpstr>Presentación de PowerPoint</vt:lpstr>
      <vt:lpstr>Presentación de PowerPoint</vt:lpstr>
      <vt:lpstr>Presentación de PowerPoint</vt:lpstr>
      <vt:lpstr>Recordando</vt:lpstr>
      <vt:lpstr>Clasificador Gaussiano de Bayes</vt:lpstr>
      <vt:lpstr>Presentación de PowerPoint</vt:lpstr>
      <vt:lpstr>Clasificador Bayesiano Ingenuo (Naive Bayes)</vt:lpstr>
      <vt:lpstr>Presentación de PowerPoint</vt:lpstr>
      <vt:lpstr>¿Cómo estimo P(x|C_i)?</vt:lpstr>
      <vt:lpstr>Presentación de PowerPoint</vt:lpstr>
      <vt:lpstr>Presentación de PowerPoint</vt:lpstr>
      <vt:lpstr>Ejemplo. Clasificador de Spam</vt:lpstr>
      <vt:lpstr>Entrenamiento (Contar)</vt:lpstr>
      <vt:lpstr>Calcular probabilidades</vt:lpstr>
      <vt:lpstr>Presentación de PowerPoint</vt:lpstr>
      <vt:lpstr>Ejemplo de predicción</vt:lpstr>
      <vt:lpstr>Presentación de PowerPoint</vt:lpstr>
      <vt:lpstr>Problema: Datos no vistos</vt:lpstr>
      <vt:lpstr>Solución: Smoothing</vt:lpstr>
      <vt:lpstr>Gaussian Naive Bayes</vt:lpstr>
      <vt:lpstr>Presentación de PowerPoint</vt:lpstr>
      <vt:lpstr>Presentación de PowerPoint</vt:lpstr>
      <vt:lpstr>QDA</vt:lpstr>
      <vt:lpstr>Presentación de PowerPoint</vt:lpstr>
      <vt:lpstr>Presentación de PowerPoint</vt:lpstr>
      <vt:lpstr>Para la próxima clase…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Rubén Omar Azuara Domínguez</dc:creator>
  <cp:lastModifiedBy>Rubén Omar Azuara Domínguez</cp:lastModifiedBy>
  <cp:revision>80</cp:revision>
  <dcterms:created xsi:type="dcterms:W3CDTF">2026-02-01T18:45:06Z</dcterms:created>
  <dcterms:modified xsi:type="dcterms:W3CDTF">2026-09-20T22:24:51Z</dcterms:modified>
</cp:coreProperties>
</file>
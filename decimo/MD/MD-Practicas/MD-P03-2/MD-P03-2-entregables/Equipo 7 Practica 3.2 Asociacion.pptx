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A8901856-C200-B565-D86C-57CE88DC2391}">
          <p14:sldIdLst>
            <p14:sldId id="256"/>
            <p14:sldId id="257"/>
          </p14:sldIdLst>
        </p14:section>
        <p14:section name="Resultados" id="{282D902F-DC6F-A147-0B0D-34E842833209}">
          <p14:sldIdLst>
            <p14:sldId id="258"/>
            <p14:sldId id="259"/>
          </p14:sldIdLst>
        </p14:section>
        <p14:section name="Conclusiones" id="{2186F5AE-C9E5-153E-1618-5A82147C5661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618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la práctica 3.2 de asociación. Revisamos los tickets de venta para encontrar qué productos se compran juntos y con eso proponer promociones. Lo hicimos en general con todos los productos (requerimiento A) y enfocado en comidas preparadas (requerimiento B), con Apriori y FP-Growth en Python y FP-Growth en RapidMiner. En total analizamos 11,344 tickets y 60 líneas de producto, y encontramos 184 reglas para A y 148 para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del negocio es qué productos se compran juntos. Cada ticket es una canasta. Usamos tres números. Soporte: qué tan común es la combinación; queso americano con jamón está en el 13% de los tickets. Confianza: si compra A, qué tan seguido compra B; el 83% de quienes compran queso americano también lleva jamón. Lift: cuántas veces más de lo normal; el jamón está en el 58% de todos los tickets y con queso americano sube a 83%, lift 1.42. El proceso de RapidMiner es el mismo para A y B: Read CSV carga las canastas, Numerical to Binominal convierte 1 y 0 en true y false, FP-Growth busca las combinaciones frecuentes y Create Association Rules arma las reglas. Comidas preparadas es el enfoque que pide el requerimiento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el requerimiento A usamos soporte mínimo de 5%: con más solo salen los productos más vendidos y con menos salen cientos de reglas de productos que casi no se venden. Con confianza de al menos 50% RapidMiner da 193 reglas; al filtrar las de lift de al menos 1.2 en la tabla de resultados quedan 184, las mismas que en Python. RapidMiner no incluye Apriori; Apriori y FP-Growth se compararon en Python y dieron las mismas reglas. Los resultados coinciden con Python: la regla más fuerte, chorizo y queso madurado hacia queso fresco y salchicha, tiene lift de 2.19 en ambos; es una canasta de desayuno. Jamón, queso fresco, queso madurado y salchicha son las únicas conclusiones porque son los productos más vendidos.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comidas preparadas marcamos sus productos con "CP:", porque algunas líneas, como Pizzas, existen en dos sectores. Se venden poco: flautas 11.7% de los tickets, burritos 6.6% y el resto menos de 2%. Por eso bajamos el soporte a 1% y limitamos las combinaciones a 3 productos. RapidMiner filtra sólo por confianza de 20%; en la tabla de resultados filtramos las reglas cuya conclusión es CP: FLAUTAS o CP: BURRITOS y las ordenamos por lift. Las 148 reglas son las que tienen comida preparada y lift de al menos 1.5. Coinciden con Python: quien compra pechugas rellenas lleva flautas en 37% de los casos, lift 3.18; quien compra pizza refrigerada lleva burritos 3 veces más de lo normal; y quien compra burritos lleva flautas en 30% de los casos, lift 2.56. Son clientes de comida lista para calentar.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dos algoritmos dieron exactamente las mismas combinaciones y reglas, porque los dos son exactos; solo cambia cómo buscan. Apriori arma combinaciones paso a paso y revisa los tickets en cada paso; FP-Growth comprime los tickets en un árbol y saca las combinaciones de ahí. Con 60 líneas de producto Apriori fue más rápido, pero usó hasta 10 veces más memoria y recorre los datos una vez por nivel, de 4 a 7 veces; FP-Growth sólo los recorre 2 veces porque los comprime en el árbol. Por eso FP-Growth conviene cuando hay miles de productos o soportes muy bajos. Promociones para A: paquete desayuno, combo sándwich y combo antojitos; además, a nivel producto encontramos algo poco obvio: los yoghurts griegos de fresa y moras se compran juntos 30 veces más que por azar, para un paquete multisabor. Para comidas preparadas: combo comida rápida en casa, paquetes de flautas con burritos y de burritos surtidos, y ponerlas junto a las carnes frías. Limitación: fuera de flautas y burritos se venden poco, y los datos son de 2014 a 2016.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2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Equipo 7 · Práctica 3.2 Asociación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eria"/>
          <p:cNvSpPr txBox="1"/>
          <p:nvPr/>
        </p:nvSpPr>
        <p:spPr>
          <a:xfrm>
            <a:off x="548640" y="914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3"/>
                </a:solidFill>
              </a:rPr>
              <a:t>MINERÍA DE DATOS · TEMA 3 MODELOS PREDICTIVOS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491524"/>
            <a:ext cx="6949440" cy="1372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accent1"/>
                </a:solidFill>
              </a:rPr>
              <a:t>Práctica 3.2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chemeClr val="accent1"/>
                </a:solidFill>
              </a:rPr>
              <a:t>Asociación de productos</a:t>
            </a:r>
            <a:endParaRPr lang="en-US" sz="4600" dirty="0"/>
          </a:p>
        </p:txBody>
      </p:sp>
      <p:sp>
        <p:nvSpPr>
          <p:cNvPr id="5" name="Equipo"/>
          <p:cNvSpPr txBox="1"/>
          <p:nvPr/>
        </p:nvSpPr>
        <p:spPr>
          <a:xfrm>
            <a:off x="548640" y="5190342"/>
            <a:ext cx="6766560" cy="158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Equipo 7</a:t>
            </a:r>
            <a:endParaRPr lang="en-US" sz="2000" dirty="0"/>
          </a:p>
        </p:txBody>
      </p:sp>
      <p:sp>
        <p:nvSpPr>
          <p:cNvPr id="6" name="Integrantes"/>
          <p:cNvSpPr txBox="1"/>
          <p:nvPr/>
        </p:nvSpPr>
        <p:spPr>
          <a:xfrm>
            <a:off x="548640" y="5601822"/>
            <a:ext cx="6766560" cy="297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Rafael Ortega de la Paz · Claudio Flores García · Barvara Caridad Juarez Valdivia</a:t>
            </a:r>
            <a:endParaRPr lang="en-US" sz="1400" dirty="0"/>
          </a:p>
        </p:txBody>
      </p:sp>
      <p:sp>
        <p:nvSpPr>
          <p:cNvPr id="7" name="Panel de cifras"/>
          <p:cNvSpPr/>
          <p:nvPr/>
        </p:nvSpPr>
        <p:spPr>
          <a:xfrm>
            <a:off x="8001000" y="914400"/>
            <a:ext cx="3639312" cy="4983480"/>
          </a:xfrm>
          <a:prstGeom prst="roundRect">
            <a:avLst>
              <a:gd name="adj" fmla="val 376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ifra 1"/>
          <p:cNvSpPr txBox="1"/>
          <p:nvPr/>
        </p:nvSpPr>
        <p:spPr>
          <a:xfrm>
            <a:off x="8366760" y="13258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11,344</a:t>
            </a:r>
            <a:endParaRPr lang="en-US" sz="4000" dirty="0"/>
          </a:p>
        </p:txBody>
      </p:sp>
      <p:sp>
        <p:nvSpPr>
          <p:cNvPr id="9" name="Etiqueta cifra 1"/>
          <p:cNvSpPr txBox="1"/>
          <p:nvPr/>
        </p:nvSpPr>
        <p:spPr>
          <a:xfrm>
            <a:off x="8366760" y="2039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tickets analizados</a:t>
            </a:r>
            <a:endParaRPr lang="en-US" sz="1500" dirty="0"/>
          </a:p>
        </p:txBody>
      </p:sp>
      <p:sp>
        <p:nvSpPr>
          <p:cNvPr id="10" name="Cifra 2"/>
          <p:cNvSpPr txBox="1"/>
          <p:nvPr/>
        </p:nvSpPr>
        <p:spPr>
          <a:xfrm>
            <a:off x="8366760" y="2834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60</a:t>
            </a:r>
            <a:endParaRPr lang="en-US" sz="4000" dirty="0"/>
          </a:p>
        </p:txBody>
      </p:sp>
      <p:sp>
        <p:nvSpPr>
          <p:cNvPr id="11" name="Etiqueta cifra 2"/>
          <p:cNvSpPr txBox="1"/>
          <p:nvPr/>
        </p:nvSpPr>
        <p:spPr>
          <a:xfrm>
            <a:off x="8366760" y="3547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líneas de producto</a:t>
            </a:r>
            <a:endParaRPr lang="en-US" sz="1500" dirty="0"/>
          </a:p>
        </p:txBody>
      </p:sp>
      <p:sp>
        <p:nvSpPr>
          <p:cNvPr id="12" name="Cifra 3"/>
          <p:cNvSpPr txBox="1"/>
          <p:nvPr/>
        </p:nvSpPr>
        <p:spPr>
          <a:xfrm>
            <a:off x="8366760" y="4343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184 · 148</a:t>
            </a:r>
            <a:endParaRPr lang="en-US" sz="4000" dirty="0"/>
          </a:p>
        </p:txBody>
      </p:sp>
      <p:sp>
        <p:nvSpPr>
          <p:cNvPr id="13" name="Etiqueta cifra 3"/>
          <p:cNvSpPr txBox="1"/>
          <p:nvPr/>
        </p:nvSpPr>
        <p:spPr>
          <a:xfrm>
            <a:off x="8366760" y="5056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reglas encontradas (A · B)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818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Caso de </a:t>
            </a:r>
            <a:r>
              <a:rPr lang="en-US" sz="3400" b="1" dirty="0" err="1">
                <a:solidFill>
                  <a:schemeClr val="accent1"/>
                </a:solidFill>
              </a:rPr>
              <a:t>Negocio</a:t>
            </a:r>
            <a:endParaRPr lang="en-US" sz="3400" dirty="0"/>
          </a:p>
        </p:txBody>
      </p:sp>
      <p:sp>
        <p:nvSpPr>
          <p:cNvPr id="4" name="Planteamiento"/>
          <p:cNvSpPr txBox="1"/>
          <p:nvPr/>
        </p:nvSpPr>
        <p:spPr>
          <a:xfrm>
            <a:off x="548640" y="13030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Buscamos productos que se compran juntos más de lo normal para crear promociones: </a:t>
            </a:r>
            <a:r>
              <a:rPr lang="en-US" sz="1600" b="1" dirty="0">
                <a:solidFill>
                  <a:schemeClr val="tx1"/>
                </a:solidFill>
              </a:rPr>
              <a:t>A</a:t>
            </a:r>
            <a:r>
              <a:rPr lang="en-US" sz="1600" dirty="0">
                <a:solidFill>
                  <a:schemeClr val="tx1"/>
                </a:solidFill>
              </a:rPr>
              <a:t> con todos los productos y </a:t>
            </a:r>
            <a:r>
              <a:rPr lang="en-US" sz="1600" b="1" dirty="0">
                <a:solidFill>
                  <a:schemeClr val="tx1"/>
                </a:solidFill>
              </a:rPr>
              <a:t>B</a:t>
            </a:r>
            <a:r>
              <a:rPr lang="en-US" sz="1600" dirty="0">
                <a:solidFill>
                  <a:schemeClr val="tx1"/>
                </a:solidFill>
              </a:rPr>
              <a:t> enfocado en comidas preparadas, como pide el requerimiento.</a:t>
            </a:r>
            <a:endParaRPr lang="en-US" sz="1600" dirty="0"/>
          </a:p>
        </p:txBody>
      </p:sp>
      <p:sp>
        <p:nvSpPr>
          <p:cNvPr id="5" name="Tarjeta Soporte"/>
          <p:cNvSpPr/>
          <p:nvPr/>
        </p:nvSpPr>
        <p:spPr>
          <a:xfrm>
            <a:off x="548640" y="210312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oporte círculo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Soporte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491740"/>
            <a:ext cx="228600" cy="228600"/>
          </a:xfrm>
          <a:prstGeom prst="rect">
            <a:avLst/>
          </a:prstGeom>
        </p:spPr>
      </p:pic>
      <p:sp>
        <p:nvSpPr>
          <p:cNvPr id="8" name="Título Soporte"/>
          <p:cNvSpPr txBox="1"/>
          <p:nvPr/>
        </p:nvSpPr>
        <p:spPr>
          <a:xfrm>
            <a:off x="141732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Soporte</a:t>
            </a:r>
            <a:endParaRPr lang="en-US" sz="2200" dirty="0"/>
          </a:p>
        </p:txBody>
      </p:sp>
      <p:sp>
        <p:nvSpPr>
          <p:cNvPr id="9" name="Definición Soporte"/>
          <p:cNvSpPr txBox="1"/>
          <p:nvPr/>
        </p:nvSpPr>
        <p:spPr>
          <a:xfrm>
            <a:off x="822960" y="3017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¿Qué tan común es la combinación? 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% de tickets que la tienen.</a:t>
            </a:r>
            <a:endParaRPr lang="en-US" sz="1500" dirty="0"/>
          </a:p>
        </p:txBody>
      </p:sp>
      <p:sp>
        <p:nvSpPr>
          <p:cNvPr id="10" name="Ejemplo Soporte"/>
          <p:cNvSpPr txBox="1"/>
          <p:nvPr/>
        </p:nvSpPr>
        <p:spPr>
          <a:xfrm>
            <a:off x="822960" y="3639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Queso americano + jamón: 13% de los tickets.</a:t>
            </a:r>
            <a:endParaRPr lang="en-US" sz="1400" dirty="0"/>
          </a:p>
        </p:txBody>
      </p:sp>
      <p:sp>
        <p:nvSpPr>
          <p:cNvPr id="11" name="Tarjeta Confianza"/>
          <p:cNvSpPr/>
          <p:nvPr/>
        </p:nvSpPr>
        <p:spPr>
          <a:xfrm>
            <a:off x="4297680" y="210312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onfianza círculo"/>
          <p:cNvSpPr/>
          <p:nvPr/>
        </p:nvSpPr>
        <p:spPr>
          <a:xfrm>
            <a:off x="4572000" y="2377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Confianza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491740"/>
            <a:ext cx="228600" cy="228600"/>
          </a:xfrm>
          <a:prstGeom prst="rect">
            <a:avLst/>
          </a:prstGeom>
        </p:spPr>
      </p:pic>
      <p:sp>
        <p:nvSpPr>
          <p:cNvPr id="14" name="Título Confianza"/>
          <p:cNvSpPr txBox="1"/>
          <p:nvPr/>
        </p:nvSpPr>
        <p:spPr>
          <a:xfrm>
            <a:off x="516636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Confianza</a:t>
            </a:r>
            <a:endParaRPr lang="en-US" sz="2200" dirty="0"/>
          </a:p>
        </p:txBody>
      </p:sp>
      <p:sp>
        <p:nvSpPr>
          <p:cNvPr id="15" name="Definición Confianza"/>
          <p:cNvSpPr txBox="1"/>
          <p:nvPr/>
        </p:nvSpPr>
        <p:spPr>
          <a:xfrm>
            <a:off x="4572000" y="3017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Si compra A, ¿qué tan seguido compra también B?</a:t>
            </a:r>
            <a:endParaRPr lang="en-US" sz="1500" dirty="0"/>
          </a:p>
        </p:txBody>
      </p:sp>
      <p:sp>
        <p:nvSpPr>
          <p:cNvPr id="16" name="Ejemplo Confianza"/>
          <p:cNvSpPr txBox="1"/>
          <p:nvPr/>
        </p:nvSpPr>
        <p:spPr>
          <a:xfrm>
            <a:off x="4572000" y="3639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Queso americano → jamón: 83%.</a:t>
            </a:r>
            <a:endParaRPr lang="en-US" sz="1400" dirty="0"/>
          </a:p>
        </p:txBody>
      </p:sp>
      <p:sp>
        <p:nvSpPr>
          <p:cNvPr id="17" name="Tarjeta Lift"/>
          <p:cNvSpPr/>
          <p:nvPr/>
        </p:nvSpPr>
        <p:spPr>
          <a:xfrm>
            <a:off x="8046720" y="210312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ift círculo"/>
          <p:cNvSpPr/>
          <p:nvPr/>
        </p:nvSpPr>
        <p:spPr>
          <a:xfrm>
            <a:off x="8321040" y="2377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Lift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2491740"/>
            <a:ext cx="228600" cy="228600"/>
          </a:xfrm>
          <a:prstGeom prst="rect">
            <a:avLst/>
          </a:prstGeom>
        </p:spPr>
      </p:pic>
      <p:sp>
        <p:nvSpPr>
          <p:cNvPr id="20" name="Título Lift"/>
          <p:cNvSpPr txBox="1"/>
          <p:nvPr/>
        </p:nvSpPr>
        <p:spPr>
          <a:xfrm>
            <a:off x="891540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Lift</a:t>
            </a:r>
            <a:endParaRPr lang="en-US" sz="2200" dirty="0"/>
          </a:p>
        </p:txBody>
      </p:sp>
      <p:sp>
        <p:nvSpPr>
          <p:cNvPr id="21" name="Definición Lift"/>
          <p:cNvSpPr txBox="1"/>
          <p:nvPr/>
        </p:nvSpPr>
        <p:spPr>
          <a:xfrm>
            <a:off x="8321040" y="3017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¿Cuántas veces más que el azar? Mayor a 1 = hay relación.</a:t>
            </a:r>
            <a:endParaRPr lang="en-US" sz="1500" dirty="0"/>
          </a:p>
        </p:txBody>
      </p:sp>
      <p:sp>
        <p:nvSpPr>
          <p:cNvPr id="22" name="Ejemplo Lift"/>
          <p:cNvSpPr txBox="1"/>
          <p:nvPr/>
        </p:nvSpPr>
        <p:spPr>
          <a:xfrm>
            <a:off x="8321040" y="3639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Jamón pasa de 58% a 83%: lift 1.42.</a:t>
            </a:r>
            <a:endParaRPr lang="en-US" sz="1400" dirty="0"/>
          </a:p>
        </p:txBody>
      </p:sp>
      <p:sp>
        <p:nvSpPr>
          <p:cNvPr id="23" name="Etiqueta proceso"/>
          <p:cNvSpPr txBox="1"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Proceso en RapidMiner (igual para A y B)</a:t>
            </a:r>
            <a:endParaRPr lang="en-US" sz="1500" dirty="0"/>
          </a:p>
        </p:txBody>
      </p:sp>
      <p:sp>
        <p:nvSpPr>
          <p:cNvPr id="24" name="Captura proceso RapidMiner marco"/>
          <p:cNvSpPr/>
          <p:nvPr/>
        </p:nvSpPr>
        <p:spPr>
          <a:xfrm>
            <a:off x="548640" y="4892040"/>
            <a:ext cx="7498080" cy="1038758"/>
          </a:xfrm>
          <a:prstGeom prst="roundRect">
            <a:avLst>
              <a:gd name="adj" fmla="val 70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B2433">
                <a:alpha val="12000"/>
              </a:srgbClr>
            </a:outerShdw>
          </a:effectLst>
        </p:spPr>
      </p:sp>
      <p:pic>
        <p:nvPicPr>
          <p:cNvPr id="25" name="Captura proceso RapidMiner" descr="Proceso de RapidMiner: Read CSV, Numerical to Binominal, FP-Growth y Create Association Rul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83480"/>
            <a:ext cx="7315200" cy="855878"/>
          </a:xfrm>
          <a:prstGeom prst="rect">
            <a:avLst/>
          </a:prstGeom>
        </p:spPr>
      </p:pic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3"/>
                </a:solidFill>
              </a:rPr>
              <a:t>REQUERIMIENTO A · EN GENERAL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Reglas en RapidMiner (FP-Growth)</a:t>
            </a:r>
            <a:endParaRPr lang="en-US" sz="3400" dirty="0"/>
          </a:p>
        </p:txBody>
      </p:sp>
      <p:sp>
        <p:nvSpPr>
          <p:cNvPr id="4" name="Parámetros A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Soporte mínimo 5%</a:t>
            </a:r>
            <a:r>
              <a:rPr lang="en-US" sz="1600" dirty="0">
                <a:solidFill>
                  <a:schemeClr val="tx1"/>
                </a:solidFill>
              </a:rPr>
              <a:t> (567 tickets) · confianza ≥ 50% → 193 reglas en RapidMiner · con lift ≥ 1.2 → </a:t>
            </a:r>
            <a:r>
              <a:rPr lang="en-US" sz="1600" b="1" dirty="0">
                <a:solidFill>
                  <a:schemeClr val="tx1"/>
                </a:solidFill>
              </a:rPr>
              <a:t>184 reglas</a:t>
            </a:r>
            <a:endParaRPr lang="en-US" sz="1600" dirty="0"/>
          </a:p>
        </p:txBody>
      </p:sp>
      <p:sp>
        <p:nvSpPr>
          <p:cNvPr id="5" name="Captura reglas A marco"/>
          <p:cNvSpPr/>
          <p:nvPr/>
        </p:nvSpPr>
        <p:spPr>
          <a:xfrm>
            <a:off x="548640" y="2011680"/>
            <a:ext cx="7406640" cy="3398825"/>
          </a:xfrm>
          <a:prstGeom prst="roundRect">
            <a:avLst>
              <a:gd name="adj" fmla="val 215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B2433">
                <a:alpha val="12000"/>
              </a:srgbClr>
            </a:outerShdw>
          </a:effectLst>
        </p:spPr>
      </p:sp>
      <p:pic>
        <p:nvPicPr>
          <p:cNvPr id="6" name="Captura reglas 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6280" y="2103120"/>
            <a:ext cx="7073373" cy="3215945"/>
          </a:xfrm>
          <a:prstGeom prst="rect">
            <a:avLst/>
          </a:prstGeom>
        </p:spPr>
      </p:pic>
      <p:sp>
        <p:nvSpPr>
          <p:cNvPr id="7" name="Pie captura A"/>
          <p:cNvSpPr txBox="1"/>
          <p:nvPr/>
        </p:nvSpPr>
        <p:spPr>
          <a:xfrm>
            <a:off x="54864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Captura de RapidMiner: reglas con soporte, confianza y lift</a:t>
            </a:r>
            <a:endParaRPr lang="en-US" sz="1100" dirty="0"/>
          </a:p>
        </p:txBody>
      </p:sp>
      <p:sp>
        <p:nvSpPr>
          <p:cNvPr id="8" name="Tarjeta Igual que en Python"/>
          <p:cNvSpPr/>
          <p:nvPr/>
        </p:nvSpPr>
        <p:spPr>
          <a:xfrm>
            <a:off x="8229600" y="2011680"/>
            <a:ext cx="3410712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gual que en Python círculo"/>
          <p:cNvSpPr/>
          <p:nvPr/>
        </p:nvSpPr>
        <p:spPr>
          <a:xfrm>
            <a:off x="8458200" y="22402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gual que en Python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070" y="2343150"/>
            <a:ext cx="205740" cy="205740"/>
          </a:xfrm>
          <a:prstGeom prst="rect">
            <a:avLst/>
          </a:prstGeom>
        </p:spPr>
      </p:pic>
      <p:sp>
        <p:nvSpPr>
          <p:cNvPr id="11" name="Título Igual que en Python"/>
          <p:cNvSpPr txBox="1"/>
          <p:nvPr/>
        </p:nvSpPr>
        <p:spPr>
          <a:xfrm>
            <a:off x="9006840" y="2267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Igual que en Python</a:t>
            </a:r>
            <a:endParaRPr lang="en-US" sz="1800" dirty="0"/>
          </a:p>
        </p:txBody>
      </p:sp>
      <p:sp>
        <p:nvSpPr>
          <p:cNvPr id="12" name="Texto Igual que en Python"/>
          <p:cNvSpPr txBox="1"/>
          <p:nvPr/>
        </p:nvSpPr>
        <p:spPr>
          <a:xfrm>
            <a:off x="845820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Chorizo + queso madurado → queso fresco + salchicha: lift 2.191 en RapidMiner y 2.19 en Python.</a:t>
            </a:r>
            <a:endParaRPr lang="en-US" sz="1400" dirty="0"/>
          </a:p>
        </p:txBody>
      </p:sp>
      <p:sp>
        <p:nvSpPr>
          <p:cNvPr id="13" name="Tarjeta Productos ancla"/>
          <p:cNvSpPr/>
          <p:nvPr/>
        </p:nvSpPr>
        <p:spPr>
          <a:xfrm>
            <a:off x="8229600" y="3794760"/>
            <a:ext cx="3410712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oductos ancla círculo"/>
          <p:cNvSpPr/>
          <p:nvPr/>
        </p:nvSpPr>
        <p:spPr>
          <a:xfrm>
            <a:off x="8458200" y="40233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Productos ancla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1070" y="4126230"/>
            <a:ext cx="205740" cy="205740"/>
          </a:xfrm>
          <a:prstGeom prst="rect">
            <a:avLst/>
          </a:prstGeom>
        </p:spPr>
      </p:pic>
      <p:sp>
        <p:nvSpPr>
          <p:cNvPr id="16" name="Título Productos ancla"/>
          <p:cNvSpPr txBox="1"/>
          <p:nvPr/>
        </p:nvSpPr>
        <p:spPr>
          <a:xfrm>
            <a:off x="9006840" y="40507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Productos ancla</a:t>
            </a:r>
            <a:endParaRPr lang="en-US" sz="1800" dirty="0"/>
          </a:p>
        </p:txBody>
      </p:sp>
      <p:sp>
        <p:nvSpPr>
          <p:cNvPr id="17" name="Texto Productos ancla"/>
          <p:cNvSpPr txBox="1"/>
          <p:nvPr/>
        </p:nvSpPr>
        <p:spPr>
          <a:xfrm>
            <a:off x="8458200" y="4572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Solo jamón, queso fresco, queso madurado y salchicha aparecen como conclusión: son los más vendidos.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3"/>
                </a:solidFill>
              </a:rPr>
              <a:t>REQUERIMIENTO B · COMIDAS PREPARADAS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Reglas en RapidMiner (FP-Growth)</a:t>
            </a:r>
            <a:endParaRPr lang="en-US" sz="3400" dirty="0"/>
          </a:p>
        </p:txBody>
      </p:sp>
      <p:sp>
        <p:nvSpPr>
          <p:cNvPr id="4" name="Parámetros B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Soporte mínimo 1%</a:t>
            </a:r>
            <a:r>
              <a:rPr lang="en-US" sz="1600" dirty="0">
                <a:solidFill>
                  <a:schemeClr val="tx1"/>
                </a:solidFill>
              </a:rPr>
              <a:t> · máx. 3 productos · confianza ≥ 20% · filtrando lift ≥ 1.5 y comida preparada → </a:t>
            </a:r>
            <a:r>
              <a:rPr lang="en-US" sz="1600" b="1" dirty="0">
                <a:solidFill>
                  <a:schemeClr val="tx1"/>
                </a:solidFill>
              </a:rPr>
              <a:t>148 reglas</a:t>
            </a:r>
            <a:endParaRPr lang="en-US" sz="1600" dirty="0"/>
          </a:p>
        </p:txBody>
      </p:sp>
      <p:sp>
        <p:nvSpPr>
          <p:cNvPr id="5" name="Etiqueta flautas"/>
          <p:cNvSpPr txBox="1"/>
          <p:nvPr/>
        </p:nvSpPr>
        <p:spPr>
          <a:xfrm>
            <a:off x="548640" y="1920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Conclusión: CP: Flautas</a:t>
            </a:r>
            <a:endParaRPr lang="en-US" sz="1300" dirty="0"/>
          </a:p>
        </p:txBody>
      </p:sp>
      <p:sp>
        <p:nvSpPr>
          <p:cNvPr id="6" name="Captura reglas flautas marco"/>
          <p:cNvSpPr/>
          <p:nvPr/>
        </p:nvSpPr>
        <p:spPr>
          <a:xfrm>
            <a:off x="548640" y="2194560"/>
            <a:ext cx="6766560" cy="2546604"/>
          </a:xfrm>
          <a:prstGeom prst="roundRect">
            <a:avLst>
              <a:gd name="adj" fmla="val 287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B2433">
                <a:alpha val="12000"/>
              </a:srgbClr>
            </a:outerShdw>
          </a:effectLst>
        </p:spPr>
      </p:sp>
      <p:pic>
        <p:nvPicPr>
          <p:cNvPr id="7" name="Captura reglas flautas" descr="Reglas de RapidMiner cuya conclusión es CP: FLAUTAS, ordenadas por li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6583680" cy="2363724"/>
          </a:xfrm>
          <a:prstGeom prst="rect">
            <a:avLst/>
          </a:prstGeom>
        </p:spPr>
      </p:pic>
      <p:sp>
        <p:nvSpPr>
          <p:cNvPr id="8" name="Etiqueta burritos"/>
          <p:cNvSpPr txBox="1"/>
          <p:nvPr/>
        </p:nvSpPr>
        <p:spPr>
          <a:xfrm>
            <a:off x="548640" y="4846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Conclusión: CP: Burritos</a:t>
            </a:r>
            <a:endParaRPr lang="en-US" sz="1300" dirty="0"/>
          </a:p>
        </p:txBody>
      </p:sp>
      <p:sp>
        <p:nvSpPr>
          <p:cNvPr id="9" name="Captura reglas burritos marco"/>
          <p:cNvSpPr/>
          <p:nvPr/>
        </p:nvSpPr>
        <p:spPr>
          <a:xfrm>
            <a:off x="548640" y="5120640"/>
            <a:ext cx="6766560" cy="1093622"/>
          </a:xfrm>
          <a:prstGeom prst="roundRect">
            <a:avLst>
              <a:gd name="adj" fmla="val 668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1B2433">
                <a:alpha val="12000"/>
              </a:srgbClr>
            </a:outerShdw>
          </a:effectLst>
        </p:spPr>
      </p:sp>
      <p:pic>
        <p:nvPicPr>
          <p:cNvPr id="10" name="Captura reglas burritos" descr="Reglas de RapidMiner cuya conclusión es CP: BURRIT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12080"/>
            <a:ext cx="6583680" cy="910742"/>
          </a:xfrm>
          <a:prstGeom prst="rect">
            <a:avLst/>
          </a:prstGeom>
        </p:spPr>
      </p:pic>
      <p:sp>
        <p:nvSpPr>
          <p:cNvPr id="11" name="Tarjeta A quién ofrecerla"/>
          <p:cNvSpPr/>
          <p:nvPr/>
        </p:nvSpPr>
        <p:spPr>
          <a:xfrm>
            <a:off x="7909560" y="1920240"/>
            <a:ext cx="373075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 quién ofrecerla círculo"/>
          <p:cNvSpPr/>
          <p:nvPr/>
        </p:nvSpPr>
        <p:spPr>
          <a:xfrm>
            <a:off x="8119872" y="21031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A quién ofrecerla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884" y="2199132"/>
            <a:ext cx="192024" cy="192024"/>
          </a:xfrm>
          <a:prstGeom prst="rect">
            <a:avLst/>
          </a:prstGeom>
        </p:spPr>
      </p:pic>
      <p:sp>
        <p:nvSpPr>
          <p:cNvPr id="14" name="Título A quién ofrecerla"/>
          <p:cNvSpPr txBox="1"/>
          <p:nvPr/>
        </p:nvSpPr>
        <p:spPr>
          <a:xfrm>
            <a:off x="8641080" y="212140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 quién ofrecerla</a:t>
            </a:r>
            <a:endParaRPr lang="en-US" sz="1700" dirty="0"/>
          </a:p>
        </p:txBody>
      </p:sp>
      <p:sp>
        <p:nvSpPr>
          <p:cNvPr id="15" name="Texto A quién ofrecerla"/>
          <p:cNvSpPr txBox="1"/>
          <p:nvPr/>
        </p:nvSpPr>
        <p:spPr>
          <a:xfrm>
            <a:off x="8119872" y="257860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Pechugas rellenas → flautas (lift 3.18); pizzas → burritos (lift 3.07).</a:t>
            </a:r>
            <a:endParaRPr lang="en-US" sz="1400" dirty="0"/>
          </a:p>
        </p:txBody>
      </p:sp>
      <p:sp>
        <p:nvSpPr>
          <p:cNvPr id="16" name="Tarjeta Entre comidas preparadas"/>
          <p:cNvSpPr/>
          <p:nvPr/>
        </p:nvSpPr>
        <p:spPr>
          <a:xfrm>
            <a:off x="7909560" y="3383280"/>
            <a:ext cx="373075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Entre comidas preparadas círculo"/>
          <p:cNvSpPr/>
          <p:nvPr/>
        </p:nvSpPr>
        <p:spPr>
          <a:xfrm>
            <a:off x="8119872" y="3566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Entre comidas preparadas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884" y="3662172"/>
            <a:ext cx="192024" cy="192024"/>
          </a:xfrm>
          <a:prstGeom prst="rect">
            <a:avLst/>
          </a:prstGeom>
        </p:spPr>
      </p:pic>
      <p:sp>
        <p:nvSpPr>
          <p:cNvPr id="19" name="Título Entre comidas preparadas"/>
          <p:cNvSpPr txBox="1"/>
          <p:nvPr/>
        </p:nvSpPr>
        <p:spPr>
          <a:xfrm>
            <a:off x="8641080" y="358444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Entre comidas preparadas</a:t>
            </a:r>
            <a:endParaRPr lang="en-US" sz="1700" dirty="0"/>
          </a:p>
        </p:txBody>
      </p:sp>
      <p:sp>
        <p:nvSpPr>
          <p:cNvPr id="20" name="Texto Entre comidas preparadas"/>
          <p:cNvSpPr txBox="1"/>
          <p:nvPr/>
        </p:nvSpPr>
        <p:spPr>
          <a:xfrm>
            <a:off x="8119872" y="404164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Burritos → flautas: confianza 30%, lift 2.56.</a:t>
            </a:r>
            <a:endParaRPr lang="en-US" sz="1400" dirty="0"/>
          </a:p>
        </p:txBody>
      </p:sp>
      <p:sp>
        <p:nvSpPr>
          <p:cNvPr id="21" name="Tarjeta Impacto"/>
          <p:cNvSpPr/>
          <p:nvPr/>
        </p:nvSpPr>
        <p:spPr>
          <a:xfrm>
            <a:off x="7909560" y="4846320"/>
            <a:ext cx="373075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mpacto círculo"/>
          <p:cNvSpPr/>
          <p:nvPr/>
        </p:nvSpPr>
        <p:spPr>
          <a:xfrm>
            <a:off x="8119872" y="50292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pacto icon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5884" y="5125212"/>
            <a:ext cx="192024" cy="192024"/>
          </a:xfrm>
          <a:prstGeom prst="rect">
            <a:avLst/>
          </a:prstGeom>
        </p:spPr>
      </p:pic>
      <p:sp>
        <p:nvSpPr>
          <p:cNvPr id="24" name="Título Impacto"/>
          <p:cNvSpPr txBox="1"/>
          <p:nvPr/>
        </p:nvSpPr>
        <p:spPr>
          <a:xfrm>
            <a:off x="8641080" y="504748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Impacto</a:t>
            </a:r>
            <a:endParaRPr lang="en-US" sz="1700" dirty="0"/>
          </a:p>
        </p:txBody>
      </p:sp>
      <p:sp>
        <p:nvSpPr>
          <p:cNvPr id="25" name="Texto Impacto"/>
          <p:cNvSpPr txBox="1"/>
          <p:nvPr/>
        </p:nvSpPr>
        <p:spPr>
          <a:xfrm>
            <a:off x="8119872" y="550468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Flautas y burritos concentran las reglas: son las únicas con ventas suficientes.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3"/>
                </a:solidFill>
              </a:rPr>
              <a:t>ALGORITMOS Y CONCLUSIONES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Conclusiones y promociones propuestas</a:t>
            </a:r>
            <a:endParaRPr lang="en-US" sz="3400" dirty="0"/>
          </a:p>
        </p:txBody>
      </p:sp>
      <p:sp>
        <p:nvSpPr>
          <p:cNvPr id="4" name="Tarjeta Mismos resultados"/>
          <p:cNvSpPr/>
          <p:nvPr/>
        </p:nvSpPr>
        <p:spPr>
          <a:xfrm>
            <a:off x="548640" y="1664208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Mismos resultados círculo"/>
          <p:cNvSpPr/>
          <p:nvPr/>
        </p:nvSpPr>
        <p:spPr>
          <a:xfrm>
            <a:off x="777240" y="19385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6" name="Mismos resultados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2064258"/>
            <a:ext cx="251460" cy="251460"/>
          </a:xfrm>
          <a:prstGeom prst="rect">
            <a:avLst/>
          </a:prstGeom>
        </p:spPr>
      </p:pic>
      <p:sp>
        <p:nvSpPr>
          <p:cNvPr id="7" name="Título Mismos resultados"/>
          <p:cNvSpPr txBox="1"/>
          <p:nvPr/>
        </p:nvSpPr>
        <p:spPr>
          <a:xfrm>
            <a:off x="1463040" y="18196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Mismos resultados</a:t>
            </a:r>
            <a:endParaRPr lang="en-US" sz="1800" dirty="0"/>
          </a:p>
        </p:txBody>
      </p:sp>
      <p:sp>
        <p:nvSpPr>
          <p:cNvPr id="8" name="Texto Mismos resultados"/>
          <p:cNvSpPr txBox="1"/>
          <p:nvPr/>
        </p:nvSpPr>
        <p:spPr>
          <a:xfrm>
            <a:off x="1463040" y="218541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Apriori y FP-Growth dieron los mismos itemsets y reglas: 184 en A y 148 en B.</a:t>
            </a:r>
            <a:endParaRPr lang="en-US" sz="1400" dirty="0"/>
          </a:p>
        </p:txBody>
      </p:sp>
      <p:sp>
        <p:nvSpPr>
          <p:cNvPr id="9" name="Tarjeta Diferente velocidad"/>
          <p:cNvSpPr/>
          <p:nvPr/>
        </p:nvSpPr>
        <p:spPr>
          <a:xfrm>
            <a:off x="6172200" y="1664208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Diferente velocidad círculo"/>
          <p:cNvSpPr/>
          <p:nvPr/>
        </p:nvSpPr>
        <p:spPr>
          <a:xfrm>
            <a:off x="6400800" y="19385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11" name="Diferente velocidad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530" y="2064258"/>
            <a:ext cx="251460" cy="251460"/>
          </a:xfrm>
          <a:prstGeom prst="rect">
            <a:avLst/>
          </a:prstGeom>
        </p:spPr>
      </p:pic>
      <p:sp>
        <p:nvSpPr>
          <p:cNvPr id="12" name="Título Diferente velocidad"/>
          <p:cNvSpPr txBox="1"/>
          <p:nvPr/>
        </p:nvSpPr>
        <p:spPr>
          <a:xfrm>
            <a:off x="7086600" y="18196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Diferente velocidad</a:t>
            </a:r>
            <a:endParaRPr lang="en-US" sz="1800" dirty="0"/>
          </a:p>
        </p:txBody>
      </p:sp>
      <p:sp>
        <p:nvSpPr>
          <p:cNvPr id="13" name="Texto Diferente velocidad"/>
          <p:cNvSpPr txBox="1"/>
          <p:nvPr/>
        </p:nvSpPr>
        <p:spPr>
          <a:xfrm>
            <a:off x="7086600" y="218541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Apriori fue más rápido, pero usó hasta 10× más memoria y lee los datos 4–7 veces; FP-Growth sólo 2.</a:t>
            </a:r>
            <a:endParaRPr lang="en-US" sz="1400" dirty="0"/>
          </a:p>
        </p:txBody>
      </p:sp>
      <p:sp>
        <p:nvSpPr>
          <p:cNvPr id="14" name="A · Promociones generales círculo"/>
          <p:cNvSpPr/>
          <p:nvPr/>
        </p:nvSpPr>
        <p:spPr>
          <a:xfrm>
            <a:off x="548640" y="3319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15" name="A · Promociones generales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3433572"/>
            <a:ext cx="228600" cy="228600"/>
          </a:xfrm>
          <a:prstGeom prst="rect">
            <a:avLst/>
          </a:prstGeom>
        </p:spPr>
      </p:pic>
      <p:sp>
        <p:nvSpPr>
          <p:cNvPr id="16" name="Encabezado A · Promociones generales"/>
          <p:cNvSpPr txBox="1"/>
          <p:nvPr/>
        </p:nvSpPr>
        <p:spPr>
          <a:xfrm>
            <a:off x="118872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 · Promociones generales</a:t>
            </a:r>
            <a:endParaRPr lang="en-US" sz="1900" dirty="0"/>
          </a:p>
        </p:txBody>
      </p:sp>
      <p:sp>
        <p:nvSpPr>
          <p:cNvPr id="17" name="Lista A · Promociones generales"/>
          <p:cNvSpPr txBox="1"/>
          <p:nvPr/>
        </p:nvSpPr>
        <p:spPr>
          <a:xfrm>
            <a:off x="640080" y="3959352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Paquete desayuno: </a:t>
            </a:r>
            <a:r>
              <a:rPr lang="en-US" sz="1500" dirty="0">
                <a:solidFill>
                  <a:schemeClr val="tx1"/>
                </a:solidFill>
              </a:rPr>
              <a:t>chorizo + salchicha + queso (lift 2.19)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Combo sándwich: </a:t>
            </a:r>
            <a:r>
              <a:rPr lang="en-US" sz="1500" dirty="0">
                <a:solidFill>
                  <a:schemeClr val="tx1"/>
                </a:solidFill>
              </a:rPr>
              <a:t>queso americano al comprar jamón (83%)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Combo antojitos: </a:t>
            </a:r>
            <a:r>
              <a:rPr lang="en-US" sz="1500" dirty="0">
                <a:solidFill>
                  <a:schemeClr val="tx1"/>
                </a:solidFill>
              </a:rPr>
              <a:t>crema + queso fresco (72%)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Yoghurt griego multisabor: </a:t>
            </a:r>
            <a:r>
              <a:rPr lang="en-US" sz="1500" dirty="0">
                <a:solidFill>
                  <a:schemeClr val="tx1"/>
                </a:solidFill>
              </a:rPr>
              <a:t>fresa + moras (lift 30)</a:t>
            </a:r>
            <a:endParaRPr lang="en-US" sz="1500" dirty="0"/>
          </a:p>
        </p:txBody>
      </p:sp>
      <p:sp>
        <p:nvSpPr>
          <p:cNvPr id="18" name="B · Comidas preparadas círculo"/>
          <p:cNvSpPr/>
          <p:nvPr/>
        </p:nvSpPr>
        <p:spPr>
          <a:xfrm>
            <a:off x="6172200" y="3319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19" name="B · Comidas preparadas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433572"/>
            <a:ext cx="228600" cy="228600"/>
          </a:xfrm>
          <a:prstGeom prst="rect">
            <a:avLst/>
          </a:prstGeom>
        </p:spPr>
      </p:pic>
      <p:sp>
        <p:nvSpPr>
          <p:cNvPr id="20" name="Encabezado B · Comidas preparadas"/>
          <p:cNvSpPr txBox="1"/>
          <p:nvPr/>
        </p:nvSpPr>
        <p:spPr>
          <a:xfrm>
            <a:off x="681228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 · Comidas preparadas</a:t>
            </a:r>
            <a:endParaRPr lang="en-US" sz="1900" dirty="0"/>
          </a:p>
        </p:txBody>
      </p:sp>
      <p:sp>
        <p:nvSpPr>
          <p:cNvPr id="21" name="Lista B · Comidas preparadas"/>
          <p:cNvSpPr txBox="1"/>
          <p:nvPr/>
        </p:nvSpPr>
        <p:spPr>
          <a:xfrm>
            <a:off x="6263640" y="3959352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Comida rápida en casa: </a:t>
            </a:r>
            <a:r>
              <a:rPr lang="en-US" sz="1500" dirty="0">
                <a:solidFill>
                  <a:schemeClr val="tx1"/>
                </a:solidFill>
              </a:rPr>
              <a:t>pizza + burritos, pechugas + flautas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 err="1">
                <a:solidFill>
                  <a:schemeClr val="tx1"/>
                </a:solidFill>
              </a:rPr>
              <a:t>Paquetes</a:t>
            </a:r>
            <a:r>
              <a:rPr lang="en-US" sz="1500" b="1" dirty="0">
                <a:solidFill>
                  <a:schemeClr val="tx1"/>
                </a:solidFill>
              </a:rPr>
              <a:t>: </a:t>
            </a:r>
            <a:r>
              <a:rPr lang="en-US" sz="1500" dirty="0">
                <a:solidFill>
                  <a:schemeClr val="tx1"/>
                </a:solidFill>
              </a:rPr>
              <a:t>flautas + burritos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 err="1">
                <a:solidFill>
                  <a:schemeClr val="tx1"/>
                </a:solidFill>
              </a:rPr>
              <a:t>Ubicación</a:t>
            </a:r>
            <a:r>
              <a:rPr lang="en-US" sz="1500" b="1" dirty="0">
                <a:solidFill>
                  <a:schemeClr val="tx1"/>
                </a:solidFill>
              </a:rPr>
              <a:t>: </a:t>
            </a:r>
            <a:r>
              <a:rPr lang="en-US" sz="1500" dirty="0">
                <a:solidFill>
                  <a:schemeClr val="tx1"/>
                </a:solidFill>
              </a:rPr>
              <a:t>junto a las carnes frías (75% lleva jamón)</a:t>
            </a:r>
            <a:endParaRPr lang="en-US" sz="1500" dirty="0"/>
          </a:p>
        </p:txBody>
      </p:sp>
      <p:sp>
        <p:nvSpPr>
          <p:cNvPr id="22" name="Limitación"/>
          <p:cNvSpPr txBox="1"/>
          <p:nvPr/>
        </p:nvSpPr>
        <p:spPr>
          <a:xfrm>
            <a:off x="563880" y="5518145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Limitación: fuera de flautas y burritos, las comidas preparadas se venden en menos del 2% de los tickets y generan pocas reglas. Datos de 2014–2016.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l y Oro">
  <a:themeElements>
    <a:clrScheme name="Azul y Oro">
      <a:dk1>
        <a:srgbClr val="1B2433"/>
      </a:dk1>
      <a:lt1>
        <a:srgbClr val="FFFFFF"/>
      </a:lt1>
      <a:dk2>
        <a:srgbClr val="1F3A68"/>
      </a:dk2>
      <a:lt2>
        <a:srgbClr val="F2F5FA"/>
      </a:lt2>
      <a:accent1>
        <a:srgbClr val="1F3A68"/>
      </a:accent1>
      <a:accent2>
        <a:srgbClr val="C9A227"/>
      </a:accent2>
      <a:accent3>
        <a:srgbClr val="7A5C0E"/>
      </a:accent3>
      <a:accent4>
        <a:srgbClr val="4F6D9A"/>
      </a:accent4>
      <a:accent5>
        <a:srgbClr val="DCE4F0"/>
      </a:accent5>
      <a:accent6>
        <a:srgbClr val="F7EDCC"/>
      </a:accent6>
      <a:hlink>
        <a:srgbClr val="1F3A68"/>
      </a:hlink>
      <a:folHlink>
        <a:srgbClr val="4F6D9A"/>
      </a:folHlink>
    </a:clrScheme>
    <a:fontScheme name="Azul y Or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1116</Words>
  <Application>Microsoft Office PowerPoint</Application>
  <PresentationFormat>Widescreen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Azul y Oro</vt:lpstr>
      <vt:lpstr>Práctica 3.2 Asociación de productos</vt:lpstr>
      <vt:lpstr>Caso de Negocio</vt:lpstr>
      <vt:lpstr>Reglas en RapidMiner (FP-Growth)</vt:lpstr>
      <vt:lpstr>Reglas en RapidMiner (FP-Growth)</vt:lpstr>
      <vt:lpstr>Conclusiones y promociones propuestas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Equipo 7 Práctica 3.2 Asociación</dc:title>
  <dc:subject>PptxGenJS Presentation</dc:subject>
  <dc:creator>Equipo 7</dc:creator>
  <cp:lastModifiedBy>Claudinho</cp:lastModifiedBy>
  <cp:revision>3</cp:revision>
  <dcterms:created xsi:type="dcterms:W3CDTF">2026-10-13T11:55:57Z</dcterms:created>
  <dcterms:modified xsi:type="dcterms:W3CDTF">2026-10-13T12:20:46Z</dcterms:modified>
</cp:coreProperties>
</file>